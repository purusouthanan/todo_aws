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312"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2799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frame the goal: a fully automated, end-to-end DevOps pipeline that takes the Sudoku Flask app from a Git push to a running Kubernetes service with zero manual steps. Mention the repository and the six-tool stack we will walk through.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left to right: a git push triggers Jenkins, which runs six automated stages — Terraform provisioning, Docker build, loading the image into Kind, Kubernetes deployment, Ansible configuration, and final verification — ending in a live Sudoku app. Emphasize there is no manual intervention anywhere in this chain.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Sudoku app itself is a small, self-contained Flask 3.11 service. It reads three environment variables at startup to control difficulty, grid size, and allowed attempts — these are exactly what the Ansible-managed ConfigMap will inject later, without ever rebuilding the Docker image.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packages the Flask app into a Docker image. We start from a slim Python 3.11 base, copy dependencies first for layer caching, then the source, and expose port 5000. The terminal commands show building, verifying, and optionally smoke-testing the image locally before it ever touches Kubernetes.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provisions the actual Kubernetes cluster using Terraform and the Kind provider. This gives us a declarative, version-controlled definition of a two-node local cluster — one control-plane, one worker — that can be spun up or torn down identically every time with a single apply command.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Kind nodes are themselves Docker containers with their own isolated image cache, we can’t just docker push to localhost. Instead we load the image directly into the cluster nodes with kind load docker-image, then confirm node readiness with kubectl get nodes.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image loaded into the cluster, Phase 4 applies the Kubernetes Deployment and Service manifests. The Deployment runs a single replica bound to a ConfigMap for its environment variables, and the Service exposes it internally on port 5000 via ClusterIP. We confirm success with a rollout status check.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5 decouples configuration from the container image. Ansible, itself running inside a Docker container, applies a ConfigMap to the cluster using the kubernetes.core.k8s module. Because Ansible runs containerized too, we rewrite the kubeconfig to point at host.docker.internal so it can reach the Kind API server.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Jenkins ties every prior phase together into one declarative pipeline of seven stages: checkout, Terraform apply, Docker build, loading the image into Kind, Kubernetes deploy, the Ansible ConfigMap step, and a final verification stage. Every stage we’ve shown so far in this deck maps to exactly one stage here — this is the single click that runs the whole chain.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automated phase is verification. We confirm node and pod readiness, inspect the ConfigMap directly, exec into the running pod to prove the SUDOKU_* environment variables were actually injected, and finally port-forward the service so we can reach it from a browser at localhost:5000.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pipeline complete, here is the actual running application, reachable at localhost:5000 through the port-forward we set up in the previous phase. The grid is generated dynamically, the difficulty comes straight from the ConfigMap Ansible applied, and the app tracks attempts in real time with an interactive solver.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entire cluster was provisioned declaratively with Terraform, cleanup is symmetric with setup: one terraform destroy command tears down the Kind cluster and every resource inside it, leaving no orphaned containers behind. The environment is fully reproducible in both directions.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pipeline demonstrates four things that matter in modern DevOps — infrastructure as code for reproducibility, decoupled configuration so we never rebuild images just to change a setting, fully automated one-click CI/CD, and strict adherence to cloud-native Kubernetes standards throughout. Thank you, and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b.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8961120" y="-2011680"/>
            <a:ext cx="5486400" cy="5486400"/>
          </a:xfrm>
          <a:prstGeom prst="ellipse">
            <a:avLst/>
          </a:prstGeom>
          <a:solidFill>
            <a:srgbClr val="E3EAEE">
              <a:alpha val="45000"/>
            </a:srgbClr>
          </a:solidFill>
          <a:ln/>
        </p:spPr>
        <p:txBody>
          <a:bodyPr/>
          <a:p/>
        </p:txBody>
      </p:sp>
      <p:sp>
        <p:nvSpPr>
          <p:cNvPr id="3" name="Shape 1"/>
          <p:cNvSpPr/>
          <p:nvPr/>
        </p:nvSpPr>
        <p:spPr>
          <a:xfrm>
            <a:off x="10607040" y="3291840"/>
            <a:ext cx="3291840" cy="3291840"/>
          </a:xfrm>
          <a:prstGeom prst="ellipse">
            <a:avLst/>
          </a:prstGeom>
          <a:solidFill>
            <a:srgbClr val="3E5A72">
              <a:alpha val="35000"/>
            </a:srgbClr>
          </a:solidFill>
          <a:ln/>
        </p:spPr>
        <p:txBody>
          <a:bodyPr/>
          <a:p/>
        </p:txBody>
      </p:sp>
      <p:sp>
        <p:nvSpPr>
          <p:cNvPr id="4" name="Shape 2"/>
          <p:cNvSpPr/>
          <p:nvPr/>
        </p:nvSpPr>
        <p:spPr>
          <a:xfrm>
            <a:off x="640080" y="548640"/>
            <a:ext cx="2377440" cy="329184"/>
          </a:xfrm>
          <a:prstGeom prst="roundRect">
            <a:avLst>
              <a:gd name="adj" fmla="val 50000"/>
            </a:avLst>
          </a:prstGeom>
          <a:solidFill>
            <a:srgbClr val="3E5A72">
              <a:alpha val="40000"/>
            </a:srgbClr>
          </a:solidFill>
          <a:ln/>
        </p:spPr>
        <p:txBody>
          <a:bodyPr/>
          <a:p/>
        </p:txBody>
      </p:sp>
      <p:sp>
        <p:nvSpPr>
          <p:cNvPr id="5" name="Text 3"/>
          <p:cNvSpPr txBox="1"/>
          <p:nvPr/>
        </p:nvSpPr>
        <p:spPr>
          <a:xfrm>
            <a:off x="640080" y="548640"/>
            <a:ext cx="2377440" cy="329184"/>
          </a:xfrm>
          <a:prstGeom prst="rect">
            <a:avLst/>
          </a:prstGeom>
          <a:noFill/>
          <a:ln/>
        </p:spPr>
        <p:txBody>
          <a:bodyPr wrap="square" lIns="0" tIns="0" rIns="0" bIns="0" rtlCol="0" anchor="ctr"/>
          <a:lstStyle/>
          <a:p>
            <a:pPr marL="0" indent="0" algn="ctr">
              <a:buNone/>
            </a:pPr>
            <a:r>
              <a:rPr lang="en-US" sz="1100" b="1" kern="0" spc="120" dirty="0">
                <a:solidFill>
                  <a:srgbClr val="5B7C99"/>
                </a:solidFill>
                <a:latin typeface="Calibri" pitchFamily="34" charset="0"/>
                <a:ea typeface="Calibri" pitchFamily="34" charset="-122"/>
                <a:cs typeface="Calibri" pitchFamily="34" charset="-120"/>
              </a:rPr>
              <a:t>DEVOPS · CI/CD DECK</a:t>
            </a:r>
            <a:endParaRPr lang="en-US" sz="1100" dirty="0"/>
          </a:p>
        </p:txBody>
      </p:sp>
      <p:sp>
        <p:nvSpPr>
          <p:cNvPr id="6" name="Text 4"/>
          <p:cNvSpPr txBox="1"/>
          <p:nvPr/>
        </p:nvSpPr>
        <p:spPr>
          <a:xfrm>
            <a:off x="640080" y="1371600"/>
            <a:ext cx="9601200" cy="1188720"/>
          </a:xfrm>
          <a:prstGeom prst="rect">
            <a:avLst/>
          </a:prstGeom>
          <a:noFill/>
          <a:ln/>
        </p:spPr>
        <p:txBody>
          <a:bodyPr wrap="square" lIns="0" tIns="0" rIns="0" bIns="0" rtlCol="0" anchor="ctr"/>
          <a:lstStyle/>
          <a:p>
            <a:pPr marL="0" indent="0" algn="l">
              <a:buNone/>
            </a:pPr>
            <a:r>
              <a:rPr lang="en-US" sz="4000" b="1" dirty="0">
                <a:solidFill>
                  <a:srgbClr val="3D2B1F"/>
                </a:solidFill>
                <a:latin typeface="Calibri" pitchFamily="34" charset="0"/>
                <a:ea typeface="Calibri" pitchFamily="34" charset="-122"/>
                <a:cs typeface="Calibri" pitchFamily="34" charset="-120"/>
              </a:rPr>
              <a:t>Automated DevOps &amp; CI/CD Pipeline</a:t>
            </a:r>
            <a:endParaRPr lang="en-US" sz="4000" dirty="0"/>
          </a:p>
        </p:txBody>
      </p:sp>
      <p:sp>
        <p:nvSpPr>
          <p:cNvPr id="7" name="Text 5"/>
          <p:cNvSpPr txBox="1"/>
          <p:nvPr/>
        </p:nvSpPr>
        <p:spPr>
          <a:xfrm>
            <a:off x="640080" y="2148840"/>
            <a:ext cx="9601200" cy="640080"/>
          </a:xfrm>
          <a:prstGeom prst="rect">
            <a:avLst/>
          </a:prstGeom>
          <a:noFill/>
          <a:ln/>
        </p:spPr>
        <p:txBody>
          <a:bodyPr wrap="square" lIns="0" tIns="0" rIns="0" bIns="0" rtlCol="0" anchor="ctr"/>
          <a:lstStyle/>
          <a:p>
            <a:pPr marL="0" indent="0" algn="l">
              <a:buNone/>
            </a:pPr>
            <a:r>
              <a:t>for the Static To-Do Web Application</a:t>
            </a:r>
            <a:endParaRPr lang="en-US" sz="2600" dirty="0"/>
          </a:p>
        </p:txBody>
      </p:sp>
      <p:sp>
        <p:nvSpPr>
          <p:cNvPr id="8" name="Text 6"/>
          <p:cNvSpPr txBox="1"/>
          <p:nvPr/>
        </p:nvSpPr>
        <p:spPr>
          <a:xfrm>
            <a:off x="640080" y="2788920"/>
            <a:ext cx="7863840" cy="548640"/>
          </a:xfrm>
          <a:prstGeom prst="rect">
            <a:avLst/>
          </a:prstGeom>
          <a:noFill/>
          <a:ln/>
        </p:spPr>
        <p:txBody>
          <a:bodyPr wrap="square" lIns="0" tIns="0" rIns="0" bIns="0" rtlCol="0" anchor="ctr"/>
          <a:lstStyle/>
          <a:p>
            <a:pPr marL="0" indent="0" algn="l">
              <a:buNone/>
            </a:pPr>
            <a:r>
              <a:rPr lang="en-US" sz="1500" i="1" dirty="0">
                <a:solidFill>
                  <a:srgbClr val="6B5643"/>
                </a:solidFill>
                <a:latin typeface="Calibri" pitchFamily="34" charset="0"/>
                <a:ea typeface="Calibri" pitchFamily="34" charset="-122"/>
                <a:cs typeface="Calibri" pitchFamily="34" charset="-120"/>
              </a:rPr>
              <a:t>Infrastructure as Code, Containerization, Kubernetes Orchestration &amp; Ansible Configuration</a:t>
            </a:r>
            <a:endParaRPr lang="en-US" sz="1500" dirty="0"/>
          </a:p>
        </p:txBody>
      </p:sp>
      <p:sp>
        <p:nvSpPr>
          <p:cNvPr id="9" name="Shape 7"/>
          <p:cNvSpPr/>
          <p:nvPr/>
        </p:nvSpPr>
        <p:spPr>
          <a:xfrm>
            <a:off x="640080" y="3611880"/>
            <a:ext cx="6035040" cy="1691640"/>
          </a:xfrm>
          <a:prstGeom prst="roundRect">
            <a:avLst>
              <a:gd name="adj" fmla="val 5405"/>
            </a:avLst>
          </a:prstGeom>
          <a:solidFill>
            <a:srgbClr val="EDE2CC"/>
          </a:solidFill>
          <a:ln w="12700">
            <a:solidFill>
              <a:srgbClr val="EDE2CC"/>
            </a:solidFill>
            <a:prstDash val="solid"/>
          </a:ln>
        </p:spPr>
        <p:txBody>
          <a:bodyPr/>
          <a:p/>
        </p:txBody>
      </p:sp>
      <p:sp>
        <p:nvSpPr>
          <p:cNvPr id="10" name="Text 8"/>
          <p:cNvSpPr txBox="1"/>
          <p:nvPr/>
        </p:nvSpPr>
        <p:spPr>
          <a:xfrm>
            <a:off x="868680" y="3794760"/>
            <a:ext cx="1463040" cy="320040"/>
          </a:xfrm>
          <a:prstGeom prst="rect">
            <a:avLst/>
          </a:prstGeom>
          <a:noFill/>
          <a:ln/>
        </p:spPr>
        <p:txBody>
          <a:bodyPr wrap="square" lIns="0" tIns="0" rIns="0" bIns="0" rtlCol="0" anchor="ctr"/>
          <a:lstStyle/>
          <a:p>
            <a:pPr marL="0" indent="0">
              <a:buNone/>
            </a:pPr>
            <a:r>
              <a:rPr lang="en-US" sz="1050" b="1" kern="0" spc="80" dirty="0">
                <a:solidFill>
                  <a:srgbClr val="5B7C99"/>
                </a:solidFill>
                <a:latin typeface="Calibri" pitchFamily="34" charset="0"/>
                <a:ea typeface="Calibri" pitchFamily="34" charset="-122"/>
                <a:cs typeface="Calibri" pitchFamily="34" charset="-120"/>
              </a:rPr>
              <a:t>PRESENTER</a:t>
            </a:r>
            <a:endParaRPr lang="en-US" sz="1050" dirty="0"/>
          </a:p>
        </p:txBody>
      </p:sp>
      <p:sp>
        <p:nvSpPr>
          <p:cNvPr id="11" name="Text 9"/>
          <p:cNvSpPr txBox="1"/>
          <p:nvPr/>
        </p:nvSpPr>
        <p:spPr>
          <a:xfrm>
            <a:off x="2377440" y="3794760"/>
            <a:ext cx="4114800" cy="320040"/>
          </a:xfrm>
          <a:prstGeom prst="rect">
            <a:avLst/>
          </a:prstGeom>
          <a:noFill/>
          <a:ln/>
        </p:spPr>
        <p:txBody>
          <a:bodyPr wrap="square" lIns="0" tIns="0" rIns="0" bIns="0" rtlCol="0" anchor="ctr"/>
          <a:lstStyle/>
          <a:p>
            <a:pPr marL="0" indent="0">
              <a:buNone/>
            </a:pPr>
            <a:r>
              <a:t>PURUSOUTHANAN</a:t>
            </a:r>
            <a:endParaRPr lang="en-US" sz="1250" b="1" dirty="0"/>
          </a:p>
        </p:txBody>
      </p:sp>
      <p:sp>
        <p:nvSpPr>
          <p:cNvPr id="12" name="Text 10"/>
          <p:cNvSpPr txBox="1"/>
          <p:nvPr/>
        </p:nvSpPr>
        <p:spPr>
          <a:xfrm>
            <a:off x="868680" y="4251960"/>
            <a:ext cx="1463040" cy="320040"/>
          </a:xfrm>
          <a:prstGeom prst="rect">
            <a:avLst/>
          </a:prstGeom>
          <a:noFill/>
          <a:ln/>
        </p:spPr>
        <p:txBody>
          <a:bodyPr wrap="square" lIns="0" tIns="0" rIns="0" bIns="0" rtlCol="0" anchor="ctr"/>
          <a:lstStyle/>
          <a:p>
            <a:pPr marL="0" indent="0">
              <a:buNone/>
            </a:pPr>
            <a:r>
              <a:rPr lang="en-US" sz="1050" b="1" kern="0" spc="80" dirty="0">
                <a:solidFill>
                  <a:srgbClr val="5B7C99"/>
                </a:solidFill>
                <a:latin typeface="Calibri" pitchFamily="34" charset="0"/>
                <a:ea typeface="Calibri" pitchFamily="34" charset="-122"/>
                <a:cs typeface="Calibri" pitchFamily="34" charset="-120"/>
              </a:rPr>
              <a:t>PROJECT</a:t>
            </a:r>
            <a:endParaRPr lang="en-US" sz="1050" dirty="0"/>
          </a:p>
        </p:txBody>
      </p:sp>
      <p:sp>
        <p:nvSpPr>
          <p:cNvPr id="13" name="Text 11"/>
          <p:cNvSpPr txBox="1"/>
          <p:nvPr/>
        </p:nvSpPr>
        <p:spPr>
          <a:xfrm>
            <a:off x="2377440" y="4251960"/>
            <a:ext cx="4114800" cy="320040"/>
          </a:xfrm>
          <a:prstGeom prst="rect">
            <a:avLst/>
          </a:prstGeom>
          <a:noFill/>
          <a:ln/>
        </p:spPr>
        <p:txBody>
          <a:bodyPr wrap="square" lIns="0" tIns="0" rIns="0" bIns="0" rtlCol="0" anchor="ctr"/>
          <a:lstStyle/>
          <a:p>
            <a:pPr marL="0" indent="0">
              <a:buNone/>
            </a:pPr>
            <a:r>
              <a:t>To-Do Web App</a:t>
            </a:r>
            <a:endParaRPr lang="en-US" sz="1250" b="1" dirty="0"/>
          </a:p>
        </p:txBody>
      </p:sp>
      <p:sp>
        <p:nvSpPr>
          <p:cNvPr id="14" name="Text 12"/>
          <p:cNvSpPr txBox="1"/>
          <p:nvPr/>
        </p:nvSpPr>
        <p:spPr>
          <a:xfrm>
            <a:off x="868680" y="4709160"/>
            <a:ext cx="1463040" cy="320040"/>
          </a:xfrm>
          <a:prstGeom prst="rect">
            <a:avLst/>
          </a:prstGeom>
          <a:noFill/>
          <a:ln/>
        </p:spPr>
        <p:txBody>
          <a:bodyPr wrap="square" lIns="0" tIns="0" rIns="0" bIns="0" rtlCol="0" anchor="ctr"/>
          <a:lstStyle/>
          <a:p>
            <a:pPr marL="0" indent="0">
              <a:buNone/>
            </a:pPr>
            <a:r>
              <a:rPr lang="en-US" sz="1050" b="1" kern="0" spc="80" dirty="0">
                <a:solidFill>
                  <a:srgbClr val="5B7C99"/>
                </a:solidFill>
                <a:latin typeface="Calibri" pitchFamily="34" charset="0"/>
                <a:ea typeface="Calibri" pitchFamily="34" charset="-122"/>
                <a:cs typeface="Calibri" pitchFamily="34" charset="-120"/>
              </a:rPr>
              <a:t>REPOSITORY</a:t>
            </a:r>
            <a:endParaRPr lang="en-US" sz="1050" dirty="0"/>
          </a:p>
        </p:txBody>
      </p:sp>
      <p:sp>
        <p:nvSpPr>
          <p:cNvPr id="15" name="Text 13"/>
          <p:cNvSpPr txBox="1"/>
          <p:nvPr/>
        </p:nvSpPr>
        <p:spPr>
          <a:xfrm>
            <a:off x="2377440" y="4709160"/>
            <a:ext cx="4114800" cy="320040"/>
          </a:xfrm>
          <a:prstGeom prst="rect">
            <a:avLst/>
          </a:prstGeom>
          <a:noFill/>
          <a:ln/>
        </p:spPr>
        <p:txBody>
          <a:bodyPr wrap="square" lIns="0" tIns="0" rIns="0" bIns="0" rtlCol="0" anchor="ctr"/>
          <a:lstStyle/>
          <a:p>
            <a:pPr marL="0" indent="0">
              <a:buNone/>
            </a:pPr>
            <a:r>
              <a:t>github.com/Purusouthanan/todo_aws</a:t>
            </a:r>
            <a:endParaRPr lang="en-US" sz="1250" dirty="0"/>
          </a:p>
        </p:txBody>
      </p:sp>
      <p:sp>
        <p:nvSpPr>
          <p:cNvPr id="16" name="Text 14"/>
          <p:cNvSpPr txBox="1"/>
          <p:nvPr/>
        </p:nvSpPr>
        <p:spPr>
          <a:xfrm>
            <a:off x="640080" y="5486400"/>
            <a:ext cx="2743200" cy="274320"/>
          </a:xfrm>
          <a:prstGeom prst="rect">
            <a:avLst/>
          </a:prstGeom>
          <a:noFill/>
          <a:ln/>
        </p:spPr>
        <p:txBody>
          <a:bodyPr wrap="square" lIns="0" tIns="0" rIns="0" bIns="0" rtlCol="0" anchor="ctr"/>
          <a:lstStyle/>
          <a:p>
            <a:pPr marL="0" indent="0">
              <a:buNone/>
            </a:pPr>
            <a:r>
              <a:rPr lang="en-US" sz="1050" b="1" kern="0" spc="100" dirty="0">
                <a:solidFill>
                  <a:srgbClr val="6B5643"/>
                </a:solidFill>
                <a:latin typeface="Calibri" pitchFamily="34" charset="0"/>
                <a:ea typeface="Calibri" pitchFamily="34" charset="-122"/>
                <a:cs typeface="Calibri" pitchFamily="34" charset="-120"/>
              </a:rPr>
              <a:t>TECH STACK</a:t>
            </a:r>
            <a:endParaRPr lang="en-US" sz="1050" dirty="0"/>
          </a:p>
        </p:txBody>
      </p:sp>
      <p:pic>
        <p:nvPicPr>
          <p:cNvPr id="17" name="Image 0" descr="ic_python_w.png"/>
          <p:cNvPicPr>
            <a:picLocks noChangeAspect="1"/>
          </p:cNvPicPr>
          <p:nvPr/>
        </p:nvPicPr>
        <p:blipFill>
          <a:blip r:embed="rId3"/>
          <a:stretch>
            <a:fillRect/>
          </a:stretch>
        </p:blipFill>
        <p:spPr>
          <a:xfrm>
            <a:off x="713232" y="5779008"/>
            <a:ext cx="310896" cy="310896"/>
          </a:xfrm>
          <a:prstGeom prst="rect">
            <a:avLst/>
          </a:prstGeom>
        </p:spPr>
      </p:pic>
      <p:sp>
        <p:nvSpPr>
          <p:cNvPr id="18" name="Text 15"/>
          <p:cNvSpPr txBox="1"/>
          <p:nvPr/>
        </p:nvSpPr>
        <p:spPr>
          <a:xfrm>
            <a:off x="1097280" y="5742432"/>
            <a:ext cx="713232" cy="384048"/>
          </a:xfrm>
          <a:prstGeom prst="rect">
            <a:avLst/>
          </a:prstGeom>
          <a:noFill/>
          <a:ln/>
        </p:spPr>
        <p:txBody>
          <a:bodyPr wrap="square" lIns="0" tIns="0" rIns="0" bIns="0" rtlCol="0" anchor="ctr"/>
          <a:lstStyle/>
          <a:p>
            <a:pPr marL="0" indent="0" algn="l">
              <a:buNone/>
            </a:pPr>
            <a:r>
              <a:t>HTML / JS</a:t>
            </a:r>
            <a:endParaRPr lang="en-US" sz="1250" dirty="0"/>
          </a:p>
        </p:txBody>
      </p:sp>
      <p:pic>
        <p:nvPicPr>
          <p:cNvPr id="19" name="Image 1" descr="ic_docker_w.png"/>
          <p:cNvPicPr>
            <a:picLocks noChangeAspect="1"/>
          </p:cNvPicPr>
          <p:nvPr/>
        </p:nvPicPr>
        <p:blipFill>
          <a:blip r:embed="rId4"/>
          <a:stretch>
            <a:fillRect/>
          </a:stretch>
        </p:blipFill>
        <p:spPr>
          <a:xfrm>
            <a:off x="2112264" y="5779008"/>
            <a:ext cx="310896" cy="310896"/>
          </a:xfrm>
          <a:prstGeom prst="rect">
            <a:avLst/>
          </a:prstGeom>
        </p:spPr>
      </p:pic>
      <p:sp>
        <p:nvSpPr>
          <p:cNvPr id="20" name="Text 16"/>
          <p:cNvSpPr txBox="1"/>
          <p:nvPr/>
        </p:nvSpPr>
        <p:spPr>
          <a:xfrm>
            <a:off x="2496312" y="5742432"/>
            <a:ext cx="713232" cy="384048"/>
          </a:xfrm>
          <a:prstGeom prst="rect">
            <a:avLst/>
          </a:prstGeom>
          <a:noFill/>
          <a:ln/>
        </p:spPr>
        <p:txBody>
          <a:bodyPr wrap="square" lIns="0" tIns="0" rIns="0" bIns="0" rtlCol="0" anchor="ctr"/>
          <a:lstStyle/>
          <a:p>
            <a:pPr marL="0" indent="0" algn="l">
              <a:buNone/>
            </a:pPr>
            <a:r>
              <a:rPr lang="en-US" sz="1250" b="1" dirty="0">
                <a:solidFill>
                  <a:srgbClr val="3D2B1F"/>
                </a:solidFill>
                <a:latin typeface="Calibri" pitchFamily="34" charset="0"/>
                <a:ea typeface="Calibri" pitchFamily="34" charset="-122"/>
                <a:cs typeface="Calibri" pitchFamily="34" charset="-120"/>
              </a:rPr>
              <a:t>Docker</a:t>
            </a:r>
            <a:endParaRPr lang="en-US" sz="1250" dirty="0"/>
          </a:p>
        </p:txBody>
      </p:sp>
      <p:pic>
        <p:nvPicPr>
          <p:cNvPr id="21" name="Image 2" descr="ic_terraform_w.png"/>
          <p:cNvPicPr>
            <a:picLocks noChangeAspect="1"/>
          </p:cNvPicPr>
          <p:nvPr/>
        </p:nvPicPr>
        <p:blipFill>
          <a:blip r:embed="rId5"/>
          <a:stretch>
            <a:fillRect/>
          </a:stretch>
        </p:blipFill>
        <p:spPr>
          <a:xfrm>
            <a:off x="3511296" y="5779008"/>
            <a:ext cx="310896" cy="310896"/>
          </a:xfrm>
          <a:prstGeom prst="rect">
            <a:avLst/>
          </a:prstGeom>
        </p:spPr>
      </p:pic>
      <p:sp>
        <p:nvSpPr>
          <p:cNvPr id="22" name="Text 17"/>
          <p:cNvSpPr txBox="1"/>
          <p:nvPr/>
        </p:nvSpPr>
        <p:spPr>
          <a:xfrm>
            <a:off x="3895344" y="5742432"/>
            <a:ext cx="1001268" cy="384048"/>
          </a:xfrm>
          <a:prstGeom prst="rect">
            <a:avLst/>
          </a:prstGeom>
          <a:noFill/>
          <a:ln/>
        </p:spPr>
        <p:txBody>
          <a:bodyPr wrap="square" lIns="0" tIns="0" rIns="0" bIns="0" rtlCol="0" anchor="ctr"/>
          <a:lstStyle/>
          <a:p>
            <a:pPr marL="0" indent="0" algn="l">
              <a:buNone/>
            </a:pPr>
            <a:r>
              <a:rPr lang="en-US" sz="1250" b="1" dirty="0">
                <a:solidFill>
                  <a:srgbClr val="3D2B1F"/>
                </a:solidFill>
                <a:latin typeface="Calibri" pitchFamily="34" charset="0"/>
                <a:ea typeface="Calibri" pitchFamily="34" charset="-122"/>
                <a:cs typeface="Calibri" pitchFamily="34" charset="-120"/>
              </a:rPr>
              <a:t>Terraform</a:t>
            </a:r>
            <a:endParaRPr lang="en-US" sz="1250" dirty="0"/>
          </a:p>
        </p:txBody>
      </p:sp>
      <p:pic>
        <p:nvPicPr>
          <p:cNvPr id="23" name="Image 3" descr="ic_k8s_w.png"/>
          <p:cNvPicPr>
            <a:picLocks noChangeAspect="1"/>
          </p:cNvPicPr>
          <p:nvPr/>
        </p:nvPicPr>
        <p:blipFill>
          <a:blip r:embed="rId6"/>
          <a:stretch>
            <a:fillRect/>
          </a:stretch>
        </p:blipFill>
        <p:spPr>
          <a:xfrm>
            <a:off x="5198364" y="5779008"/>
            <a:ext cx="310896" cy="310896"/>
          </a:xfrm>
          <a:prstGeom prst="rect">
            <a:avLst/>
          </a:prstGeom>
        </p:spPr>
      </p:pic>
      <p:sp>
        <p:nvSpPr>
          <p:cNvPr id="24" name="Text 18"/>
          <p:cNvSpPr txBox="1"/>
          <p:nvPr/>
        </p:nvSpPr>
        <p:spPr>
          <a:xfrm>
            <a:off x="5582412" y="5742432"/>
            <a:ext cx="1097280" cy="384048"/>
          </a:xfrm>
          <a:prstGeom prst="rect">
            <a:avLst/>
          </a:prstGeom>
          <a:noFill/>
          <a:ln/>
        </p:spPr>
        <p:txBody>
          <a:bodyPr wrap="square" lIns="0" tIns="0" rIns="0" bIns="0" rtlCol="0" anchor="ctr"/>
          <a:lstStyle/>
          <a:p>
            <a:pPr marL="0" indent="0" algn="l">
              <a:buNone/>
            </a:pPr>
            <a:r>
              <a:t>Minikube / K8s</a:t>
            </a:r>
            <a:endParaRPr lang="en-US" sz="1250" dirty="0"/>
          </a:p>
        </p:txBody>
      </p:sp>
      <p:pic>
        <p:nvPicPr>
          <p:cNvPr id="25" name="Image 4" descr="ic_ansible_w.png"/>
          <p:cNvPicPr>
            <a:picLocks noChangeAspect="1"/>
          </p:cNvPicPr>
          <p:nvPr/>
        </p:nvPicPr>
        <p:blipFill>
          <a:blip r:embed="rId7"/>
          <a:stretch>
            <a:fillRect/>
          </a:stretch>
        </p:blipFill>
        <p:spPr>
          <a:xfrm>
            <a:off x="6981444" y="5779008"/>
            <a:ext cx="310896" cy="310896"/>
          </a:xfrm>
          <a:prstGeom prst="rect">
            <a:avLst/>
          </a:prstGeom>
        </p:spPr>
      </p:pic>
      <p:sp>
        <p:nvSpPr>
          <p:cNvPr id="26" name="Text 19"/>
          <p:cNvSpPr txBox="1"/>
          <p:nvPr/>
        </p:nvSpPr>
        <p:spPr>
          <a:xfrm>
            <a:off x="7365492" y="5742432"/>
            <a:ext cx="809244" cy="384048"/>
          </a:xfrm>
          <a:prstGeom prst="rect">
            <a:avLst/>
          </a:prstGeom>
          <a:noFill/>
          <a:ln/>
        </p:spPr>
        <p:txBody>
          <a:bodyPr wrap="square" lIns="0" tIns="0" rIns="0" bIns="0" rtlCol="0" anchor="ctr"/>
          <a:lstStyle/>
          <a:p>
            <a:pPr marL="0" indent="0" algn="l">
              <a:buNone/>
            </a:pPr>
            <a:r>
              <a:rPr lang="en-US" sz="1250" b="1" dirty="0">
                <a:solidFill>
                  <a:srgbClr val="3D2B1F"/>
                </a:solidFill>
                <a:latin typeface="Calibri" pitchFamily="34" charset="0"/>
                <a:ea typeface="Calibri" pitchFamily="34" charset="-122"/>
                <a:cs typeface="Calibri" pitchFamily="34" charset="-120"/>
              </a:rPr>
              <a:t>Ansible</a:t>
            </a:r>
            <a:endParaRPr lang="en-US" sz="1250" dirty="0"/>
          </a:p>
        </p:txBody>
      </p:sp>
      <p:pic>
        <p:nvPicPr>
          <p:cNvPr id="27" name="Image 5" descr="ic_jenkins_w.png"/>
          <p:cNvPicPr>
            <a:picLocks noChangeAspect="1"/>
          </p:cNvPicPr>
          <p:nvPr/>
        </p:nvPicPr>
        <p:blipFill>
          <a:blip r:embed="rId8"/>
          <a:stretch>
            <a:fillRect/>
          </a:stretch>
        </p:blipFill>
        <p:spPr>
          <a:xfrm>
            <a:off x="8476488" y="5779008"/>
            <a:ext cx="310896" cy="310896"/>
          </a:xfrm>
          <a:prstGeom prst="rect">
            <a:avLst/>
          </a:prstGeom>
        </p:spPr>
      </p:pic>
      <p:sp>
        <p:nvSpPr>
          <p:cNvPr id="28" name="Text 20"/>
          <p:cNvSpPr txBox="1"/>
          <p:nvPr/>
        </p:nvSpPr>
        <p:spPr>
          <a:xfrm>
            <a:off x="8860536" y="5742432"/>
            <a:ext cx="809244" cy="384048"/>
          </a:xfrm>
          <a:prstGeom prst="rect">
            <a:avLst/>
          </a:prstGeom>
          <a:noFill/>
          <a:ln/>
        </p:spPr>
        <p:txBody>
          <a:bodyPr wrap="square" lIns="0" tIns="0" rIns="0" bIns="0" rtlCol="0" anchor="ctr"/>
          <a:lstStyle/>
          <a:p>
            <a:pPr marL="0" indent="0" algn="l">
              <a:buNone/>
            </a:pPr>
            <a:r>
              <a:rPr lang="en-US" sz="1250" b="1" dirty="0">
                <a:solidFill>
                  <a:srgbClr val="3D2B1F"/>
                </a:solidFill>
                <a:latin typeface="Calibri" pitchFamily="34" charset="0"/>
                <a:ea typeface="Calibri" pitchFamily="34" charset="-122"/>
                <a:cs typeface="Calibri" pitchFamily="34" charset="-120"/>
              </a:rPr>
              <a:t>Jenkins</a:t>
            </a:r>
            <a:endParaRPr lang="en-US" sz="1250" dirty="0"/>
          </a:p>
        </p:txBody>
      </p:sp>
      <p:sp>
        <p:nvSpPr>
          <p:cNvPr id="29" name="Text 21"/>
          <p:cNvSpPr txBox="1"/>
          <p:nvPr/>
        </p:nvSpPr>
        <p:spPr>
          <a:xfrm>
            <a:off x="11002975" y="6400800"/>
            <a:ext cx="914400" cy="274320"/>
          </a:xfrm>
          <a:prstGeom prst="rect">
            <a:avLst/>
          </a:prstGeom>
          <a:noFill/>
          <a:ln/>
        </p:spPr>
        <p:txBody>
          <a:bodyPr wrap="square" lIns="0" tIns="0" rIns="0" bIns="0" rtlCol="0" anchor="ctr"/>
          <a:lstStyle/>
          <a:p>
            <a:pPr marL="0" indent="0" algn="r">
              <a:buNone/>
            </a:pPr>
            <a:r>
              <a:rPr lang="en-US" sz="1000" dirty="0">
                <a:solidFill>
                  <a:srgbClr val="6B5643"/>
                </a:solidFill>
                <a:latin typeface="Calibri" pitchFamily="34" charset="0"/>
                <a:ea typeface="Calibri" pitchFamily="34" charset="-122"/>
                <a:cs typeface="Calibri" pitchFamily="34" charset="-120"/>
              </a:rPr>
              <a:t>01 / 13</a:t>
            </a:r>
            <a:endParaRPr lang="en-US" sz="1000" dirty="0"/>
          </a:p>
        </p:txBody>
      </p:sp>
      <p:sp>
        <p:nvSpPr>
          <p:cNvPr id="30" name="Text 22"/>
          <p:cNvSpPr txBox="1"/>
          <p:nvPr/>
        </p:nvSpPr>
        <p:spPr>
          <a:xfrm>
            <a:off x="457200" y="6400800"/>
            <a:ext cx="5486400" cy="274320"/>
          </a:xfrm>
          <a:prstGeom prst="rect">
            <a:avLst/>
          </a:prstGeom>
          <a:noFill/>
          <a:ln/>
        </p:spPr>
        <p:txBody>
          <a:bodyPr wrap="square" lIns="0" tIns="0" rIns="0" bIns="0" rtlCol="0" anchor="ctr"/>
          <a:lstStyle/>
          <a:p>
            <a:pPr marL="0" indent="0" algn="l">
              <a:buNone/>
            </a:pPr>
            <a:r>
              <a:rPr lang="en-US" sz="1000" kern="0" spc="100" dirty="0">
                <a:solidFill>
                  <a:srgbClr val="6B5643"/>
                </a:solidFill>
                <a:latin typeface="Calibri" pitchFamily="34" charset="0"/>
                <a:ea typeface="Calibri" pitchFamily="34" charset="-122"/>
                <a:cs typeface="Calibri" pitchFamily="34" charset="-120"/>
              </a:rPr>
              <a:t>SUDOKU WEB APP · CI/CD PIPELINE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548640" y="411480"/>
            <a:ext cx="2377440" cy="329184"/>
          </a:xfrm>
          <a:prstGeom prst="roundRect">
            <a:avLst>
              <a:gd name="adj" fmla="val 50000"/>
            </a:avLst>
          </a:prstGeom>
          <a:solidFill>
            <a:srgbClr val="5B7C99">
              <a:alpha val="15000"/>
            </a:srgbClr>
          </a:solidFill>
          <a:ln/>
        </p:spPr>
        <p:txBody>
          <a:bodyPr/>
          <a:p/>
        </p:txBody>
      </p:sp>
      <p:sp>
        <p:nvSpPr>
          <p:cNvPr id="3" name="Text 1"/>
          <p:cNvSpPr txBox="1"/>
          <p:nvPr/>
        </p:nvSpPr>
        <p:spPr>
          <a:xfrm>
            <a:off x="548640" y="411480"/>
            <a:ext cx="2377440" cy="329184"/>
          </a:xfrm>
          <a:prstGeom prst="rect">
            <a:avLst/>
          </a:prstGeom>
          <a:noFill/>
          <a:ln/>
        </p:spPr>
        <p:txBody>
          <a:bodyPr wrap="square" lIns="0" tIns="0" rIns="0" bIns="0" rtlCol="0" anchor="ctr"/>
          <a:lstStyle/>
          <a:p>
            <a:pPr marL="0" indent="0" algn="ctr">
              <a:buNone/>
            </a:pPr>
            <a:r>
              <a:rPr lang="en-US" sz="1100" b="1" kern="0" spc="120" dirty="0">
                <a:solidFill>
                  <a:srgbClr val="3E5A72"/>
                </a:solidFill>
                <a:latin typeface="Calibri" pitchFamily="34" charset="0"/>
                <a:ea typeface="Calibri" pitchFamily="34" charset="-122"/>
                <a:cs typeface="Calibri" pitchFamily="34" charset="-120"/>
              </a:rPr>
              <a:t>ARCHITECTURE</a:t>
            </a:r>
            <a:endParaRPr lang="en-US" sz="1100" dirty="0"/>
          </a:p>
        </p:txBody>
      </p:sp>
      <p:sp>
        <p:nvSpPr>
          <p:cNvPr id="4" name="Text 2"/>
          <p:cNvSpPr txBox="1"/>
          <p:nvPr/>
        </p:nvSpPr>
        <p:spPr>
          <a:xfrm>
            <a:off x="548640" y="777240"/>
            <a:ext cx="10058400" cy="548640"/>
          </a:xfrm>
          <a:prstGeom prst="rect">
            <a:avLst/>
          </a:prstGeom>
          <a:noFill/>
          <a:ln/>
        </p:spPr>
        <p:txBody>
          <a:bodyPr wrap="square" lIns="0" tIns="0" rIns="0" bIns="0" rtlCol="0" anchor="ctr"/>
          <a:lstStyle/>
          <a:p>
            <a:pPr marL="0" indent="0">
              <a:buNone/>
            </a:pPr>
            <a:r>
              <a:rPr lang="en-US" sz="3000" b="1" dirty="0">
                <a:solidFill>
                  <a:srgbClr val="3D2B1F"/>
                </a:solidFill>
                <a:latin typeface="Calibri" pitchFamily="34" charset="0"/>
                <a:ea typeface="Calibri" pitchFamily="34" charset="-122"/>
                <a:cs typeface="Calibri" pitchFamily="34" charset="-120"/>
              </a:rPr>
              <a:t>End-to-End Automation Pipeline</a:t>
            </a:r>
            <a:endParaRPr lang="en-US" sz="3000" dirty="0"/>
          </a:p>
        </p:txBody>
      </p:sp>
      <p:sp>
        <p:nvSpPr>
          <p:cNvPr id="5" name="Shape 3"/>
          <p:cNvSpPr/>
          <p:nvPr/>
        </p:nvSpPr>
        <p:spPr>
          <a:xfrm>
            <a:off x="548640" y="1508760"/>
            <a:ext cx="1965960" cy="594360"/>
          </a:xfrm>
          <a:prstGeom prst="roundRect">
            <a:avLst>
              <a:gd name="adj" fmla="val 12308"/>
            </a:avLst>
          </a:prstGeom>
          <a:solidFill>
            <a:srgbClr val="3D2B1F"/>
          </a:solidFill>
          <a:ln/>
        </p:spPr>
        <p:txBody>
          <a:bodyPr/>
          <a:p/>
        </p:txBody>
      </p:sp>
      <p:pic>
        <p:nvPicPr>
          <p:cNvPr id="6" name="Image 0" descr="ic_branch.png"/>
          <p:cNvPicPr>
            <a:picLocks noChangeAspect="1"/>
          </p:cNvPicPr>
          <p:nvPr/>
        </p:nvPicPr>
        <p:blipFill>
          <a:blip r:embed="rId3"/>
          <a:stretch>
            <a:fillRect/>
          </a:stretch>
        </p:blipFill>
        <p:spPr>
          <a:xfrm>
            <a:off x="694944" y="1627632"/>
            <a:ext cx="347472" cy="347472"/>
          </a:xfrm>
          <a:prstGeom prst="rect">
            <a:avLst/>
          </a:prstGeom>
        </p:spPr>
      </p:pic>
      <p:sp>
        <p:nvSpPr>
          <p:cNvPr id="7" name="Text 4"/>
          <p:cNvSpPr txBox="1"/>
          <p:nvPr/>
        </p:nvSpPr>
        <p:spPr>
          <a:xfrm>
            <a:off x="1133856" y="1508760"/>
            <a:ext cx="1325880" cy="5943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Developer Git Push</a:t>
            </a:r>
            <a:endParaRPr lang="en-US" sz="1100" dirty="0"/>
          </a:p>
        </p:txBody>
      </p:sp>
      <p:sp>
        <p:nvSpPr>
          <p:cNvPr id="8" name="Shape 5"/>
          <p:cNvSpPr/>
          <p:nvPr/>
        </p:nvSpPr>
        <p:spPr>
          <a:xfrm>
            <a:off x="2606040" y="1682496"/>
            <a:ext cx="320040" cy="246888"/>
          </a:xfrm>
          <a:prstGeom prst="rightArrow">
            <a:avLst/>
          </a:prstGeom>
          <a:solidFill>
            <a:srgbClr val="5B7C99"/>
          </a:solidFill>
          <a:ln/>
        </p:spPr>
        <p:txBody>
          <a:bodyPr/>
          <a:p/>
        </p:txBody>
      </p:sp>
      <p:sp>
        <p:nvSpPr>
          <p:cNvPr id="9" name="Shape 6"/>
          <p:cNvSpPr/>
          <p:nvPr/>
        </p:nvSpPr>
        <p:spPr>
          <a:xfrm>
            <a:off x="3017520" y="1508760"/>
            <a:ext cx="2103120" cy="594360"/>
          </a:xfrm>
          <a:prstGeom prst="roundRect">
            <a:avLst>
              <a:gd name="adj" fmla="val 12308"/>
            </a:avLst>
          </a:prstGeom>
          <a:solidFill>
            <a:srgbClr val="5B7C99"/>
          </a:solidFill>
          <a:ln/>
        </p:spPr>
        <p:txBody>
          <a:bodyPr/>
          <a:p/>
        </p:txBody>
      </p:sp>
      <p:pic>
        <p:nvPicPr>
          <p:cNvPr id="10" name="Image 1" descr="ic_jenkins_w.png"/>
          <p:cNvPicPr>
            <a:picLocks noChangeAspect="1"/>
          </p:cNvPicPr>
          <p:nvPr/>
        </p:nvPicPr>
        <p:blipFill>
          <a:blip r:embed="rId4"/>
          <a:stretch>
            <a:fillRect/>
          </a:stretch>
        </p:blipFill>
        <p:spPr>
          <a:xfrm>
            <a:off x="3163824" y="1627632"/>
            <a:ext cx="347472" cy="347472"/>
          </a:xfrm>
          <a:prstGeom prst="rect">
            <a:avLst/>
          </a:prstGeom>
        </p:spPr>
      </p:pic>
      <p:sp>
        <p:nvSpPr>
          <p:cNvPr id="11" name="Text 7"/>
          <p:cNvSpPr txBox="1"/>
          <p:nvPr/>
        </p:nvSpPr>
        <p:spPr>
          <a:xfrm>
            <a:off x="3602736" y="1508760"/>
            <a:ext cx="1417320" cy="594360"/>
          </a:xfrm>
          <a:prstGeom prst="rect">
            <a:avLst/>
          </a:prstGeom>
          <a:noFill/>
          <a:ln/>
        </p:spPr>
        <p:txBody>
          <a:bodyPr wrap="square" lIns="0" tIns="0" rIns="0" bIns="0" rtlCol="0" anchor="ctr"/>
          <a:lstStyle/>
          <a:p>
            <a:pPr marL="0" indent="0">
              <a:buNone/>
            </a:pPr>
            <a:r>
              <a:rPr lang="en-US" sz="1100" b="1" dirty="0">
                <a:solidFill>
                  <a:srgbClr val="3D2B1F"/>
                </a:solidFill>
                <a:latin typeface="Calibri" pitchFamily="34" charset="0"/>
                <a:ea typeface="Calibri" pitchFamily="34" charset="-122"/>
                <a:cs typeface="Calibri" pitchFamily="34" charset="-120"/>
              </a:rPr>
              <a:t>Jenkins CI/CD Pipeline</a:t>
            </a:r>
            <a:endParaRPr lang="en-US" sz="1100" dirty="0"/>
          </a:p>
        </p:txBody>
      </p:sp>
      <p:sp>
        <p:nvSpPr>
          <p:cNvPr id="12" name="Text 8"/>
          <p:cNvSpPr txBox="1"/>
          <p:nvPr/>
        </p:nvSpPr>
        <p:spPr>
          <a:xfrm>
            <a:off x="5349240" y="1508760"/>
            <a:ext cx="5943600" cy="594360"/>
          </a:xfrm>
          <a:prstGeom prst="rect">
            <a:avLst/>
          </a:prstGeom>
          <a:noFill/>
          <a:ln/>
        </p:spPr>
        <p:txBody>
          <a:bodyPr wrap="square" lIns="0" tIns="0" rIns="0" bIns="0" rtlCol="0" anchor="ctr"/>
          <a:lstStyle/>
          <a:p>
            <a:pPr marL="0" indent="0">
              <a:buNone/>
            </a:pPr>
            <a:r>
              <a:rPr lang="en-US" sz="1200" i="1" dirty="0">
                <a:solidFill>
                  <a:srgbClr val="6B5643"/>
                </a:solidFill>
                <a:latin typeface="Calibri" pitchFamily="34" charset="0"/>
                <a:ea typeface="Calibri" pitchFamily="34" charset="-122"/>
                <a:cs typeface="Calibri" pitchFamily="34" charset="-120"/>
              </a:rPr>
              <a:t>triggers all 6 automated stages below</a:t>
            </a:r>
            <a:endParaRPr lang="en-US" sz="1200" dirty="0"/>
          </a:p>
        </p:txBody>
      </p:sp>
      <p:sp>
        <p:nvSpPr>
          <p:cNvPr id="13" name="Shape 9"/>
          <p:cNvSpPr/>
          <p:nvPr/>
        </p:nvSpPr>
        <p:spPr>
          <a:xfrm>
            <a:off x="548640" y="2331720"/>
            <a:ext cx="3575304" cy="621792"/>
          </a:xfrm>
          <a:prstGeom prst="roundRect">
            <a:avLst>
              <a:gd name="adj" fmla="val 10294"/>
            </a:avLst>
          </a:prstGeom>
          <a:solidFill>
            <a:srgbClr val="FFFFFF"/>
          </a:solidFill>
          <a:ln w="12700">
            <a:solidFill>
              <a:srgbClr val="D8CFC0"/>
            </a:solidFill>
            <a:prstDash val="solid"/>
          </a:ln>
        </p:spPr>
        <p:txBody>
          <a:bodyPr/>
          <a:p/>
        </p:txBody>
      </p:sp>
      <p:sp>
        <p:nvSpPr>
          <p:cNvPr id="14" name="Shape 10"/>
          <p:cNvSpPr/>
          <p:nvPr/>
        </p:nvSpPr>
        <p:spPr>
          <a:xfrm>
            <a:off x="548640" y="2331720"/>
            <a:ext cx="64008" cy="621792"/>
          </a:xfrm>
          <a:prstGeom prst="roundRect">
            <a:avLst/>
          </a:prstGeom>
          <a:solidFill>
            <a:srgbClr val="5B7C99"/>
          </a:solidFill>
          <a:ln/>
        </p:spPr>
        <p:txBody>
          <a:bodyPr/>
          <a:p/>
        </p:txBody>
      </p:sp>
      <p:sp>
        <p:nvSpPr>
          <p:cNvPr id="15" name="Text 11"/>
          <p:cNvSpPr txBox="1"/>
          <p:nvPr/>
        </p:nvSpPr>
        <p:spPr>
          <a:xfrm>
            <a:off x="731520" y="2331720"/>
            <a:ext cx="3255264" cy="621792"/>
          </a:xfrm>
          <a:prstGeom prst="rect">
            <a:avLst/>
          </a:prstGeom>
          <a:noFill/>
          <a:ln/>
        </p:spPr>
        <p:txBody>
          <a:bodyPr wrap="square" lIns="0" tIns="0" rIns="0" bIns="0" rtlCol="0" anchor="ctr"/>
          <a:lstStyle/>
          <a:p>
            <a:pPr marL="0" indent="0">
              <a:lnSpc>
                <a:spcPct val="100000"/>
              </a:lnSpc>
              <a:buNone/>
            </a:pPr>
            <a:r>
              <a:t>1. Terraform — Provision Minikube Cluster</a:t>
            </a:r>
            <a:endParaRPr lang="en-US" sz="1050" dirty="0"/>
          </a:p>
        </p:txBody>
      </p:sp>
      <p:sp>
        <p:nvSpPr>
          <p:cNvPr id="16" name="Shape 12"/>
          <p:cNvSpPr/>
          <p:nvPr/>
        </p:nvSpPr>
        <p:spPr>
          <a:xfrm>
            <a:off x="4306824" y="2331720"/>
            <a:ext cx="3575304" cy="621792"/>
          </a:xfrm>
          <a:prstGeom prst="roundRect">
            <a:avLst>
              <a:gd name="adj" fmla="val 10294"/>
            </a:avLst>
          </a:prstGeom>
          <a:solidFill>
            <a:srgbClr val="FFFFFF"/>
          </a:solidFill>
          <a:ln w="12700">
            <a:solidFill>
              <a:srgbClr val="D8CFC0"/>
            </a:solidFill>
            <a:prstDash val="solid"/>
          </a:ln>
        </p:spPr>
        <p:txBody>
          <a:bodyPr/>
          <a:p/>
        </p:txBody>
      </p:sp>
      <p:sp>
        <p:nvSpPr>
          <p:cNvPr id="17" name="Shape 13"/>
          <p:cNvSpPr/>
          <p:nvPr/>
        </p:nvSpPr>
        <p:spPr>
          <a:xfrm>
            <a:off x="4306824" y="2331720"/>
            <a:ext cx="64008" cy="621792"/>
          </a:xfrm>
          <a:prstGeom prst="roundRect">
            <a:avLst/>
          </a:prstGeom>
          <a:solidFill>
            <a:srgbClr val="5B7C99"/>
          </a:solidFill>
          <a:ln/>
        </p:spPr>
        <p:txBody>
          <a:bodyPr/>
          <a:p/>
        </p:txBody>
      </p:sp>
      <p:sp>
        <p:nvSpPr>
          <p:cNvPr id="18" name="Text 14"/>
          <p:cNvSpPr txBox="1"/>
          <p:nvPr/>
        </p:nvSpPr>
        <p:spPr>
          <a:xfrm>
            <a:off x="4489704" y="2331720"/>
            <a:ext cx="3255264" cy="621792"/>
          </a:xfrm>
          <a:prstGeom prst="rect">
            <a:avLst/>
          </a:prstGeom>
          <a:noFill/>
          <a:ln/>
        </p:spPr>
        <p:txBody>
          <a:bodyPr wrap="square" lIns="0" tIns="0" rIns="0" bIns="0" rtlCol="0" anchor="ctr"/>
          <a:lstStyle/>
          <a:p>
            <a:pPr marL="0" indent="0">
              <a:lnSpc>
                <a:spcPct val="100000"/>
              </a:lnSpc>
              <a:buNone/>
            </a:pPr>
            <a:r>
              <a:rPr lang="en-US" sz="1050" b="1" dirty="0">
                <a:solidFill>
                  <a:srgbClr val="3D2B1F"/>
                </a:solidFill>
                <a:latin typeface="Calibri" pitchFamily="34" charset="0"/>
                <a:ea typeface="Calibri" pitchFamily="34" charset="-122"/>
                <a:cs typeface="Calibri" pitchFamily="34" charset="-120"/>
              </a:rPr>
              <a:t>2. Docker — Build App Image</a:t>
            </a:r>
            <a:endParaRPr lang="en-US" sz="1050" dirty="0"/>
          </a:p>
        </p:txBody>
      </p:sp>
      <p:sp>
        <p:nvSpPr>
          <p:cNvPr id="19" name="Shape 15"/>
          <p:cNvSpPr/>
          <p:nvPr/>
        </p:nvSpPr>
        <p:spPr>
          <a:xfrm>
            <a:off x="8065008" y="2331720"/>
            <a:ext cx="3575304" cy="621792"/>
          </a:xfrm>
          <a:prstGeom prst="roundRect">
            <a:avLst>
              <a:gd name="adj" fmla="val 10294"/>
            </a:avLst>
          </a:prstGeom>
          <a:solidFill>
            <a:srgbClr val="FFFFFF"/>
          </a:solidFill>
          <a:ln w="12700">
            <a:solidFill>
              <a:srgbClr val="D8CFC0"/>
            </a:solidFill>
            <a:prstDash val="solid"/>
          </a:ln>
        </p:spPr>
        <p:txBody>
          <a:bodyPr/>
          <a:p/>
        </p:txBody>
      </p:sp>
      <p:sp>
        <p:nvSpPr>
          <p:cNvPr id="20" name="Shape 16"/>
          <p:cNvSpPr/>
          <p:nvPr/>
        </p:nvSpPr>
        <p:spPr>
          <a:xfrm>
            <a:off x="8065008" y="2331720"/>
            <a:ext cx="64008" cy="621792"/>
          </a:xfrm>
          <a:prstGeom prst="roundRect">
            <a:avLst/>
          </a:prstGeom>
          <a:solidFill>
            <a:srgbClr val="5B7C99"/>
          </a:solidFill>
          <a:ln/>
        </p:spPr>
        <p:txBody>
          <a:bodyPr/>
          <a:p/>
        </p:txBody>
      </p:sp>
      <p:sp>
        <p:nvSpPr>
          <p:cNvPr id="21" name="Text 17"/>
          <p:cNvSpPr txBox="1"/>
          <p:nvPr/>
        </p:nvSpPr>
        <p:spPr>
          <a:xfrm>
            <a:off x="8247888" y="2331720"/>
            <a:ext cx="3255264" cy="621792"/>
          </a:xfrm>
          <a:prstGeom prst="rect">
            <a:avLst/>
          </a:prstGeom>
          <a:noFill/>
          <a:ln/>
        </p:spPr>
        <p:txBody>
          <a:bodyPr wrap="square" lIns="0" tIns="0" rIns="0" bIns="0" rtlCol="0" anchor="ctr"/>
          <a:lstStyle/>
          <a:p>
            <a:pPr marL="0" indent="0">
              <a:lnSpc>
                <a:spcPct val="100000"/>
              </a:lnSpc>
              <a:buNone/>
            </a:pPr>
            <a:r>
              <a:t>3. Minikube — Load Image into Cluster</a:t>
            </a:r>
            <a:endParaRPr lang="en-US" sz="1050" dirty="0"/>
          </a:p>
        </p:txBody>
      </p:sp>
      <p:sp>
        <p:nvSpPr>
          <p:cNvPr id="22" name="Shape 18"/>
          <p:cNvSpPr/>
          <p:nvPr/>
        </p:nvSpPr>
        <p:spPr>
          <a:xfrm>
            <a:off x="548640" y="3118104"/>
            <a:ext cx="3575304" cy="621792"/>
          </a:xfrm>
          <a:prstGeom prst="roundRect">
            <a:avLst>
              <a:gd name="adj" fmla="val 10294"/>
            </a:avLst>
          </a:prstGeom>
          <a:solidFill>
            <a:srgbClr val="FFFFFF"/>
          </a:solidFill>
          <a:ln w="12700">
            <a:solidFill>
              <a:srgbClr val="D8CFC0"/>
            </a:solidFill>
            <a:prstDash val="solid"/>
          </a:ln>
        </p:spPr>
        <p:txBody>
          <a:bodyPr/>
          <a:p/>
        </p:txBody>
      </p:sp>
      <p:sp>
        <p:nvSpPr>
          <p:cNvPr id="23" name="Shape 19"/>
          <p:cNvSpPr/>
          <p:nvPr/>
        </p:nvSpPr>
        <p:spPr>
          <a:xfrm>
            <a:off x="548640" y="3118104"/>
            <a:ext cx="64008" cy="621792"/>
          </a:xfrm>
          <a:prstGeom prst="roundRect">
            <a:avLst/>
          </a:prstGeom>
          <a:solidFill>
            <a:srgbClr val="5B7C99"/>
          </a:solidFill>
          <a:ln/>
        </p:spPr>
        <p:txBody>
          <a:bodyPr/>
          <a:p/>
        </p:txBody>
      </p:sp>
      <p:sp>
        <p:nvSpPr>
          <p:cNvPr id="24" name="Text 20"/>
          <p:cNvSpPr txBox="1"/>
          <p:nvPr/>
        </p:nvSpPr>
        <p:spPr>
          <a:xfrm>
            <a:off x="731520" y="3118104"/>
            <a:ext cx="3255264" cy="621792"/>
          </a:xfrm>
          <a:prstGeom prst="rect">
            <a:avLst/>
          </a:prstGeom>
          <a:noFill/>
          <a:ln/>
        </p:spPr>
        <p:txBody>
          <a:bodyPr wrap="square" lIns="0" tIns="0" rIns="0" bIns="0" rtlCol="0" anchor="ctr"/>
          <a:lstStyle/>
          <a:p>
            <a:pPr marL="0" indent="0">
              <a:lnSpc>
                <a:spcPct val="100000"/>
              </a:lnSpc>
              <a:buNone/>
            </a:pPr>
            <a:r>
              <a:rPr lang="en-US" sz="1050" b="1" dirty="0">
                <a:solidFill>
                  <a:srgbClr val="3D2B1F"/>
                </a:solidFill>
                <a:latin typeface="Calibri" pitchFamily="34" charset="0"/>
                <a:ea typeface="Calibri" pitchFamily="34" charset="-122"/>
                <a:cs typeface="Calibri" pitchFamily="34" charset="-120"/>
              </a:rPr>
              <a:t>4. Kubernetes — Deploy Pods &amp; Service</a:t>
            </a:r>
            <a:endParaRPr lang="en-US" sz="1050" dirty="0"/>
          </a:p>
        </p:txBody>
      </p:sp>
      <p:sp>
        <p:nvSpPr>
          <p:cNvPr id="25" name="Shape 21"/>
          <p:cNvSpPr/>
          <p:nvPr/>
        </p:nvSpPr>
        <p:spPr>
          <a:xfrm>
            <a:off x="4306824" y="3118104"/>
            <a:ext cx="3575304" cy="621792"/>
          </a:xfrm>
          <a:prstGeom prst="roundRect">
            <a:avLst>
              <a:gd name="adj" fmla="val 10294"/>
            </a:avLst>
          </a:prstGeom>
          <a:solidFill>
            <a:srgbClr val="FFFFFF"/>
          </a:solidFill>
          <a:ln w="12700">
            <a:solidFill>
              <a:srgbClr val="D8CFC0"/>
            </a:solidFill>
            <a:prstDash val="solid"/>
          </a:ln>
        </p:spPr>
        <p:txBody>
          <a:bodyPr/>
          <a:p/>
        </p:txBody>
      </p:sp>
      <p:sp>
        <p:nvSpPr>
          <p:cNvPr id="26" name="Shape 22"/>
          <p:cNvSpPr/>
          <p:nvPr/>
        </p:nvSpPr>
        <p:spPr>
          <a:xfrm>
            <a:off x="4306824" y="3118104"/>
            <a:ext cx="64008" cy="621792"/>
          </a:xfrm>
          <a:prstGeom prst="roundRect">
            <a:avLst/>
          </a:prstGeom>
          <a:solidFill>
            <a:srgbClr val="5B7C99"/>
          </a:solidFill>
          <a:ln/>
        </p:spPr>
        <p:txBody>
          <a:bodyPr/>
          <a:p/>
        </p:txBody>
      </p:sp>
      <p:sp>
        <p:nvSpPr>
          <p:cNvPr id="27" name="Text 23"/>
          <p:cNvSpPr txBox="1"/>
          <p:nvPr/>
        </p:nvSpPr>
        <p:spPr>
          <a:xfrm>
            <a:off x="4489704" y="3118104"/>
            <a:ext cx="3255264" cy="621792"/>
          </a:xfrm>
          <a:prstGeom prst="rect">
            <a:avLst/>
          </a:prstGeom>
          <a:noFill/>
          <a:ln/>
        </p:spPr>
        <p:txBody>
          <a:bodyPr wrap="square" lIns="0" tIns="0" rIns="0" bIns="0" rtlCol="0" anchor="ctr"/>
          <a:lstStyle/>
          <a:p>
            <a:pPr marL="0" indent="0">
              <a:lnSpc>
                <a:spcPct val="100000"/>
              </a:lnSpc>
              <a:buNone/>
            </a:pPr>
            <a:r>
              <a:rPr lang="en-US" sz="1050" b="1" dirty="0">
                <a:solidFill>
                  <a:srgbClr val="3D2B1F"/>
                </a:solidFill>
                <a:latin typeface="Calibri" pitchFamily="34" charset="0"/>
                <a:ea typeface="Calibri" pitchFamily="34" charset="-122"/>
                <a:cs typeface="Calibri" pitchFamily="34" charset="-120"/>
              </a:rPr>
              <a:t>5. Ansible — Inject ConfigMap</a:t>
            </a:r>
            <a:endParaRPr lang="en-US" sz="1050" dirty="0"/>
          </a:p>
        </p:txBody>
      </p:sp>
      <p:sp>
        <p:nvSpPr>
          <p:cNvPr id="28" name="Shape 24"/>
          <p:cNvSpPr/>
          <p:nvPr/>
        </p:nvSpPr>
        <p:spPr>
          <a:xfrm>
            <a:off x="8065008" y="3118104"/>
            <a:ext cx="3575304" cy="621792"/>
          </a:xfrm>
          <a:prstGeom prst="roundRect">
            <a:avLst>
              <a:gd name="adj" fmla="val 10294"/>
            </a:avLst>
          </a:prstGeom>
          <a:solidFill>
            <a:srgbClr val="FFFFFF"/>
          </a:solidFill>
          <a:ln w="12700">
            <a:solidFill>
              <a:srgbClr val="D8CFC0"/>
            </a:solidFill>
            <a:prstDash val="solid"/>
          </a:ln>
        </p:spPr>
        <p:txBody>
          <a:bodyPr/>
          <a:p/>
        </p:txBody>
      </p:sp>
      <p:sp>
        <p:nvSpPr>
          <p:cNvPr id="29" name="Shape 25"/>
          <p:cNvSpPr/>
          <p:nvPr/>
        </p:nvSpPr>
        <p:spPr>
          <a:xfrm>
            <a:off x="8065008" y="3118104"/>
            <a:ext cx="64008" cy="621792"/>
          </a:xfrm>
          <a:prstGeom prst="roundRect">
            <a:avLst/>
          </a:prstGeom>
          <a:solidFill>
            <a:srgbClr val="5B7C99"/>
          </a:solidFill>
          <a:ln/>
        </p:spPr>
        <p:txBody>
          <a:bodyPr/>
          <a:p/>
        </p:txBody>
      </p:sp>
      <p:sp>
        <p:nvSpPr>
          <p:cNvPr id="30" name="Text 26"/>
          <p:cNvSpPr txBox="1"/>
          <p:nvPr/>
        </p:nvSpPr>
        <p:spPr>
          <a:xfrm>
            <a:off x="8247888" y="3118104"/>
            <a:ext cx="3255264" cy="621792"/>
          </a:xfrm>
          <a:prstGeom prst="rect">
            <a:avLst/>
          </a:prstGeom>
          <a:noFill/>
          <a:ln/>
        </p:spPr>
        <p:txBody>
          <a:bodyPr wrap="square" lIns="0" tIns="0" rIns="0" bIns="0" rtlCol="0" anchor="ctr"/>
          <a:lstStyle/>
          <a:p>
            <a:pPr marL="0" indent="0">
              <a:lnSpc>
                <a:spcPct val="100000"/>
              </a:lnSpc>
              <a:buNone/>
            </a:pPr>
            <a:r>
              <a:rPr lang="en-US" sz="1050" b="1" dirty="0">
                <a:solidFill>
                  <a:srgbClr val="3D2B1F"/>
                </a:solidFill>
                <a:latin typeface="Calibri" pitchFamily="34" charset="0"/>
                <a:ea typeface="Calibri" pitchFamily="34" charset="-122"/>
                <a:cs typeface="Calibri" pitchFamily="34" charset="-120"/>
              </a:rPr>
              <a:t>6. Verify — Port Forwarding</a:t>
            </a:r>
            <a:endParaRPr lang="en-US" sz="1050" dirty="0"/>
          </a:p>
        </p:txBody>
      </p:sp>
      <p:sp>
        <p:nvSpPr>
          <p:cNvPr id="31" name="Shape 27"/>
          <p:cNvSpPr/>
          <p:nvPr/>
        </p:nvSpPr>
        <p:spPr>
          <a:xfrm>
            <a:off x="5958688" y="3785616"/>
            <a:ext cx="274320" cy="256032"/>
          </a:xfrm>
          <a:prstGeom prst="downArrow">
            <a:avLst/>
          </a:prstGeom>
          <a:solidFill>
            <a:srgbClr val="5B7C99"/>
          </a:solidFill>
          <a:ln/>
        </p:spPr>
        <p:txBody>
          <a:bodyPr/>
          <a:p/>
        </p:txBody>
      </p:sp>
      <p:sp>
        <p:nvSpPr>
          <p:cNvPr id="32" name="Shape 28"/>
          <p:cNvSpPr/>
          <p:nvPr/>
        </p:nvSpPr>
        <p:spPr>
          <a:xfrm>
            <a:off x="4632808" y="4105656"/>
            <a:ext cx="2926080" cy="566928"/>
          </a:xfrm>
          <a:prstGeom prst="roundRect">
            <a:avLst>
              <a:gd name="adj" fmla="val 50000"/>
            </a:avLst>
          </a:prstGeom>
          <a:solidFill>
            <a:srgbClr val="3D2B1F"/>
          </a:solidFill>
          <a:ln/>
        </p:spPr>
        <p:txBody>
          <a:bodyPr/>
          <a:p/>
        </p:txBody>
      </p:sp>
      <p:pic>
        <p:nvPicPr>
          <p:cNvPr id="33" name="Image 2" descr="ic_globe.png"/>
          <p:cNvPicPr>
            <a:picLocks noChangeAspect="1"/>
          </p:cNvPicPr>
          <p:nvPr/>
        </p:nvPicPr>
        <p:blipFill>
          <a:blip r:embed="rId5"/>
          <a:stretch>
            <a:fillRect/>
          </a:stretch>
        </p:blipFill>
        <p:spPr>
          <a:xfrm>
            <a:off x="4815688" y="4224528"/>
            <a:ext cx="329184" cy="329184"/>
          </a:xfrm>
          <a:prstGeom prst="rect">
            <a:avLst/>
          </a:prstGeom>
        </p:spPr>
      </p:pic>
      <p:sp>
        <p:nvSpPr>
          <p:cNvPr id="34" name="Text 29"/>
          <p:cNvSpPr txBox="1"/>
          <p:nvPr/>
        </p:nvSpPr>
        <p:spPr>
          <a:xfrm>
            <a:off x="5272888" y="4105656"/>
            <a:ext cx="2194560" cy="566928"/>
          </a:xfrm>
          <a:prstGeom prst="rect">
            <a:avLst/>
          </a:prstGeom>
          <a:noFill/>
          <a:ln/>
        </p:spPr>
        <p:txBody>
          <a:bodyPr wrap="square" lIns="0" tIns="0" rIns="0" bIns="0" rtlCol="0" anchor="ctr"/>
          <a:lstStyle/>
          <a:p>
            <a:pPr marL="0" indent="0">
              <a:buNone/>
            </a:pPr>
            <a:r>
              <a:t>Live To-Do Web App</a:t>
            </a:r>
            <a:endParaRPr lang="en-US" sz="1250" dirty="0"/>
          </a:p>
        </p:txBody>
      </p:sp>
      <p:sp>
        <p:nvSpPr>
          <p:cNvPr id="35" name="Shape 30"/>
          <p:cNvSpPr/>
          <p:nvPr/>
        </p:nvSpPr>
        <p:spPr>
          <a:xfrm>
            <a:off x="548640" y="4928616"/>
            <a:ext cx="11091672" cy="1380744"/>
          </a:xfrm>
          <a:prstGeom prst="roundRect">
            <a:avLst>
              <a:gd name="adj" fmla="val 6623"/>
            </a:avLst>
          </a:prstGeom>
          <a:solidFill>
            <a:srgbClr val="E7EEF3"/>
          </a:solidFill>
          <a:ln w="12700">
            <a:solidFill>
              <a:srgbClr val="EDE6D9"/>
            </a:solidFill>
            <a:prstDash val="solid"/>
          </a:ln>
        </p:spPr>
        <p:txBody>
          <a:bodyPr/>
          <a:p/>
        </p:txBody>
      </p:sp>
      <p:sp>
        <p:nvSpPr>
          <p:cNvPr id="36" name="Text 31"/>
          <p:cNvSpPr txBox="1"/>
          <p:nvPr/>
        </p:nvSpPr>
        <p:spPr>
          <a:xfrm>
            <a:off x="868680" y="5065776"/>
            <a:ext cx="3657600" cy="274320"/>
          </a:xfrm>
          <a:prstGeom prst="rect">
            <a:avLst/>
          </a:prstGeom>
          <a:noFill/>
          <a:ln/>
        </p:spPr>
        <p:txBody>
          <a:bodyPr wrap="square" lIns="0" tIns="0" rIns="0" bIns="0" rtlCol="0" anchor="ctr"/>
          <a:lstStyle/>
          <a:p>
            <a:pPr marL="0" indent="0">
              <a:buNone/>
            </a:pPr>
            <a:r>
              <a:rPr lang="en-US" sz="1100" b="1" kern="0" spc="100" dirty="0">
                <a:solidFill>
                  <a:srgbClr val="3E5A72"/>
                </a:solidFill>
                <a:latin typeface="Calibri" pitchFamily="34" charset="0"/>
                <a:ea typeface="Calibri" pitchFamily="34" charset="-122"/>
                <a:cs typeface="Calibri" pitchFamily="34" charset="-120"/>
              </a:rPr>
              <a:t>KEY HIGHLIGHTS</a:t>
            </a:r>
            <a:endParaRPr lang="en-US" sz="1100" dirty="0"/>
          </a:p>
        </p:txBody>
      </p:sp>
      <p:sp>
        <p:nvSpPr>
          <p:cNvPr id="37" name="Text 32"/>
          <p:cNvSpPr txBox="1"/>
          <p:nvPr/>
        </p:nvSpPr>
        <p:spPr>
          <a:xfrm>
            <a:off x="868680" y="5385816"/>
            <a:ext cx="10424160" cy="832104"/>
          </a:xfrm>
          <a:prstGeom prst="rect">
            <a:avLst/>
          </a:prstGeom>
          <a:noFill/>
          <a:ln/>
        </p:spPr>
        <p:txBody>
          <a:bodyPr wrap="square" lIns="0" tIns="0" rIns="0" bIns="0" rtlCol="0" anchor="t"/>
          <a:lstStyle/>
          <a:p>
            <a:pPr marL="228600" indent="-228600">
              <a:lnSpc>
                <a:spcPct val="115000"/>
              </a:lnSpc>
              <a:spcAft>
                <a:spcPts val="700"/>
              </a:spcAft>
              <a:buSzPct val="100000"/>
              <a:buChar char="•"/>
            </a:pPr>
            <a:r>
              <a:rPr lang="en-US" sz="1250" dirty="0">
                <a:solidFill>
                  <a:srgbClr val="6B5643"/>
                </a:solidFill>
                <a:latin typeface="Calibri" pitchFamily="34" charset="0"/>
                <a:ea typeface="Calibri" pitchFamily="34" charset="-122"/>
                <a:cs typeface="Calibri" pitchFamily="34" charset="-120"/>
              </a:rPr>
              <a:t>Zero Manual Setup — fully automated from infrastructure provisioning to application deployment.</a:t>
            </a:r>
            <a:endParaRPr lang="en-US" sz="1250" dirty="0"/>
          </a:p>
          <a:p>
            <a:pPr marL="228600" indent="-228600">
              <a:lnSpc>
                <a:spcPct val="115000"/>
              </a:lnSpc>
              <a:spcAft>
                <a:spcPts val="700"/>
              </a:spcAft>
              <a:buSzPct val="100000"/>
              <a:buChar char="•"/>
            </a:pPr>
            <a:r>
              <a:rPr lang="en-US" sz="1250" dirty="0">
                <a:solidFill>
                  <a:srgbClr val="6B5643"/>
                </a:solidFill>
                <a:latin typeface="Calibri" pitchFamily="34" charset="0"/>
                <a:ea typeface="Calibri" pitchFamily="34" charset="-122"/>
                <a:cs typeface="Calibri" pitchFamily="34" charset="-120"/>
              </a:rPr>
              <a:t>Declarative Infrastructure — the entire cluster is defined and versioned using Terraform IaC.</a:t>
            </a:r>
            <a:endParaRPr lang="en-US" sz="1250" dirty="0"/>
          </a:p>
          <a:p>
            <a:pPr marL="228600" indent="-228600">
              <a:lnSpc>
                <a:spcPct val="115000"/>
              </a:lnSpc>
              <a:spcAft>
                <a:spcPts val="700"/>
              </a:spcAft>
              <a:buSzPct val="100000"/>
              <a:buChar char="•"/>
            </a:pPr>
            <a:r>
              <a:rPr lang="en-US" sz="1250" dirty="0">
                <a:solidFill>
                  <a:srgbClr val="6B5643"/>
                </a:solidFill>
                <a:latin typeface="Calibri" pitchFamily="34" charset="0"/>
                <a:ea typeface="Calibri" pitchFamily="34" charset="-122"/>
                <a:cs typeface="Calibri" pitchFamily="34" charset="-120"/>
              </a:rPr>
              <a:t>Dynamic Configuration — Ansible injects runtime settings via Kubernetes ConfigMaps without rebuilding images.</a:t>
            </a:r>
            <a:endParaRPr lang="en-US" sz="1250" dirty="0"/>
          </a:p>
        </p:txBody>
      </p:sp>
      <p:sp>
        <p:nvSpPr>
          <p:cNvPr id="38" name="Text 33"/>
          <p:cNvSpPr txBox="1"/>
          <p:nvPr/>
        </p:nvSpPr>
        <p:spPr>
          <a:xfrm>
            <a:off x="11002975" y="6400800"/>
            <a:ext cx="914400" cy="274320"/>
          </a:xfrm>
          <a:prstGeom prst="rect">
            <a:avLst/>
          </a:prstGeom>
          <a:noFill/>
          <a:ln/>
        </p:spPr>
        <p:txBody>
          <a:bodyPr wrap="square" lIns="0" tIns="0" rIns="0" bIns="0" rtlCol="0" anchor="ctr"/>
          <a:lstStyle/>
          <a:p>
            <a:pPr marL="0" indent="0" algn="r">
              <a:buNone/>
            </a:pPr>
            <a:r>
              <a:rPr lang="en-US" sz="1000" dirty="0">
                <a:solidFill>
                  <a:srgbClr val="6B5643"/>
                </a:solidFill>
                <a:latin typeface="Calibri" pitchFamily="34" charset="0"/>
                <a:ea typeface="Calibri" pitchFamily="34" charset="-122"/>
                <a:cs typeface="Calibri" pitchFamily="34" charset="-120"/>
              </a:rPr>
              <a:t>02 / 13</a:t>
            </a:r>
            <a:endParaRPr lang="en-US" sz="1000" dirty="0"/>
          </a:p>
        </p:txBody>
      </p:sp>
      <p:sp>
        <p:nvSpPr>
          <p:cNvPr id="39" name="Text 34"/>
          <p:cNvSpPr txBox="1"/>
          <p:nvPr/>
        </p:nvSpPr>
        <p:spPr>
          <a:xfrm>
            <a:off x="457200" y="6400800"/>
            <a:ext cx="5486400" cy="274320"/>
          </a:xfrm>
          <a:prstGeom prst="rect">
            <a:avLst/>
          </a:prstGeom>
          <a:noFill/>
          <a:ln/>
        </p:spPr>
        <p:txBody>
          <a:bodyPr wrap="square" lIns="0" tIns="0" rIns="0" bIns="0" rtlCol="0" anchor="ctr"/>
          <a:lstStyle/>
          <a:p>
            <a:pPr marL="0" indent="0" algn="l">
              <a:buNone/>
            </a:pPr>
            <a:r>
              <a:rPr lang="en-US" sz="1000" kern="0" spc="100" dirty="0">
                <a:solidFill>
                  <a:srgbClr val="6B5643"/>
                </a:solidFill>
                <a:latin typeface="Calibri" pitchFamily="34" charset="0"/>
                <a:ea typeface="Calibri" pitchFamily="34" charset="-122"/>
                <a:cs typeface="Calibri" pitchFamily="34" charset="-120"/>
              </a:rPr>
              <a:t>SUDOKU WEB APP · CI/CD PIPELINE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548640" y="411480"/>
            <a:ext cx="2377440" cy="329184"/>
          </a:xfrm>
          <a:prstGeom prst="roundRect">
            <a:avLst>
              <a:gd name="adj" fmla="val 50000"/>
            </a:avLst>
          </a:prstGeom>
          <a:solidFill>
            <a:srgbClr val="5B7C99">
              <a:alpha val="15000"/>
            </a:srgbClr>
          </a:solidFill>
          <a:ln/>
        </p:spPr>
        <p:txBody>
          <a:bodyPr/>
          <a:p/>
        </p:txBody>
      </p:sp>
      <p:sp>
        <p:nvSpPr>
          <p:cNvPr id="3" name="Text 1"/>
          <p:cNvSpPr txBox="1"/>
          <p:nvPr/>
        </p:nvSpPr>
        <p:spPr>
          <a:xfrm>
            <a:off x="548640" y="411480"/>
            <a:ext cx="2377440" cy="329184"/>
          </a:xfrm>
          <a:prstGeom prst="rect">
            <a:avLst/>
          </a:prstGeom>
          <a:noFill/>
          <a:ln/>
        </p:spPr>
        <p:txBody>
          <a:bodyPr wrap="square" lIns="0" tIns="0" rIns="0" bIns="0" rtlCol="0" anchor="ctr"/>
          <a:lstStyle/>
          <a:p>
            <a:pPr marL="0" indent="0" algn="ctr">
              <a:buNone/>
            </a:pPr>
            <a:r>
              <a:rPr lang="en-US" sz="1100" b="1" kern="0" spc="120" dirty="0">
                <a:solidFill>
                  <a:srgbClr val="3E5A72"/>
                </a:solidFill>
                <a:latin typeface="Calibri" pitchFamily="34" charset="0"/>
                <a:ea typeface="Calibri" pitchFamily="34" charset="-122"/>
                <a:cs typeface="Calibri" pitchFamily="34" charset="-120"/>
              </a:rPr>
              <a:t>APPLICATION</a:t>
            </a:r>
            <a:endParaRPr lang="en-US" sz="1100" dirty="0"/>
          </a:p>
        </p:txBody>
      </p:sp>
      <p:sp>
        <p:nvSpPr>
          <p:cNvPr id="4" name="Text 2"/>
          <p:cNvSpPr txBox="1"/>
          <p:nvPr/>
        </p:nvSpPr>
        <p:spPr>
          <a:xfrm>
            <a:off x="548640" y="777240"/>
            <a:ext cx="8229600" cy="548640"/>
          </a:xfrm>
          <a:prstGeom prst="rect">
            <a:avLst/>
          </a:prstGeom>
          <a:noFill/>
          <a:ln/>
        </p:spPr>
        <p:txBody>
          <a:bodyPr wrap="square" lIns="0" tIns="0" rIns="0" bIns="0" rtlCol="0" anchor="ctr"/>
          <a:lstStyle/>
          <a:p>
            <a:pPr marL="0" indent="0">
              <a:buNone/>
            </a:pPr>
            <a:r>
              <a:t>Flask To-Do Web Application</a:t>
            </a:r>
            <a:endParaRPr lang="en-US" sz="2800" dirty="0"/>
          </a:p>
        </p:txBody>
      </p:sp>
      <p:sp>
        <p:nvSpPr>
          <p:cNvPr id="5" name="Text 3"/>
          <p:cNvSpPr txBox="1"/>
          <p:nvPr/>
        </p:nvSpPr>
        <p:spPr>
          <a:xfrm>
            <a:off x="548640" y="1298448"/>
            <a:ext cx="2743200" cy="320040"/>
          </a:xfrm>
          <a:prstGeom prst="rect">
            <a:avLst/>
          </a:prstGeom>
          <a:noFill/>
          <a:ln/>
        </p:spPr>
        <p:txBody>
          <a:bodyPr wrap="square" lIns="0" tIns="0" rIns="0" bIns="0" rtlCol="0" anchor="ctr"/>
          <a:lstStyle/>
          <a:p>
            <a:pPr marL="0" indent="0">
              <a:buNone/>
            </a:pPr>
            <a:r>
              <a:rPr lang="en-US" sz="1400" dirty="0">
                <a:solidFill>
                  <a:srgbClr val="3E5A72"/>
                </a:solidFill>
                <a:latin typeface="Consolas" pitchFamily="34" charset="0"/>
                <a:ea typeface="Consolas" pitchFamily="34" charset="-122"/>
                <a:cs typeface="Consolas" pitchFamily="34" charset="-120"/>
              </a:rPr>
              <a:t>app/</a:t>
            </a:r>
            <a:endParaRPr lang="en-US" sz="1400" dirty="0"/>
          </a:p>
        </p:txBody>
      </p:sp>
      <p:pic>
        <p:nvPicPr>
          <p:cNvPr id="6" name="Image 0" descr="ic_python.png"/>
          <p:cNvPicPr>
            <a:picLocks noChangeAspect="1"/>
          </p:cNvPicPr>
          <p:nvPr/>
        </p:nvPicPr>
        <p:blipFill>
          <a:blip r:embed="rId3"/>
          <a:stretch>
            <a:fillRect/>
          </a:stretch>
        </p:blipFill>
        <p:spPr>
          <a:xfrm>
            <a:off x="10241280" y="731520"/>
            <a:ext cx="822960" cy="822960"/>
          </a:xfrm>
          <a:prstGeom prst="rect">
            <a:avLst/>
          </a:prstGeom>
        </p:spPr>
      </p:pic>
      <p:sp>
        <p:nvSpPr>
          <p:cNvPr id="7" name="Text 4"/>
          <p:cNvSpPr txBox="1"/>
          <p:nvPr/>
        </p:nvSpPr>
        <p:spPr>
          <a:xfrm>
            <a:off x="548640" y="1874520"/>
            <a:ext cx="5120640" cy="274320"/>
          </a:xfrm>
          <a:prstGeom prst="rect">
            <a:avLst/>
          </a:prstGeom>
          <a:noFill/>
          <a:ln/>
        </p:spPr>
        <p:txBody>
          <a:bodyPr wrap="square" lIns="0" tIns="0" rIns="0" bIns="0" rtlCol="0" anchor="ctr"/>
          <a:lstStyle/>
          <a:p>
            <a:pPr marL="0" indent="0">
              <a:buNone/>
            </a:pPr>
            <a:r>
              <a:rPr lang="en-US" sz="1100" b="1" kern="0" spc="100" dirty="0">
                <a:solidFill>
                  <a:srgbClr val="3E5A72"/>
                </a:solidFill>
                <a:latin typeface="Calibri" pitchFamily="34" charset="0"/>
                <a:ea typeface="Calibri" pitchFamily="34" charset="-122"/>
                <a:cs typeface="Calibri" pitchFamily="34" charset="-120"/>
              </a:rPr>
              <a:t>WEB FRAMEWORK</a:t>
            </a:r>
            <a:endParaRPr lang="en-US" sz="1100" dirty="0"/>
          </a:p>
        </p:txBody>
      </p:sp>
      <p:sp>
        <p:nvSpPr>
          <p:cNvPr id="8" name="Text 5"/>
          <p:cNvSpPr txBox="1"/>
          <p:nvPr/>
        </p:nvSpPr>
        <p:spPr>
          <a:xfrm>
            <a:off x="548640" y="2194560"/>
            <a:ext cx="5120640" cy="457200"/>
          </a:xfrm>
          <a:prstGeom prst="rect">
            <a:avLst/>
          </a:prstGeom>
          <a:noFill/>
          <a:ln/>
        </p:spPr>
        <p:txBody>
          <a:bodyPr wrap="square" lIns="0" tIns="0" rIns="0" bIns="0" rtlCol="0" anchor="t"/>
          <a:lstStyle/>
          <a:p>
            <a:pPr marL="228600" indent="-228600">
              <a:lnSpc>
                <a:spcPct val="115000"/>
              </a:lnSpc>
              <a:spcAft>
                <a:spcPts val="1000"/>
              </a:spcAft>
              <a:buSzPct val="100000"/>
              <a:buChar char="•"/>
            </a:pPr>
            <a:r>
              <a:t>HTML5, Modern CSS3 &amp; Vanilla JavaScript (ES6) served via Nginx.</a:t>
            </a:r>
            <a:endParaRPr lang="en-US" sz="1400" dirty="0"/>
          </a:p>
        </p:txBody>
      </p:sp>
      <p:sp>
        <p:nvSpPr>
          <p:cNvPr id="9" name="Text 6"/>
          <p:cNvSpPr txBox="1"/>
          <p:nvPr/>
        </p:nvSpPr>
        <p:spPr>
          <a:xfrm>
            <a:off x="548640" y="2697480"/>
            <a:ext cx="5120640" cy="274320"/>
          </a:xfrm>
          <a:prstGeom prst="rect">
            <a:avLst/>
          </a:prstGeom>
          <a:noFill/>
          <a:ln/>
        </p:spPr>
        <p:txBody>
          <a:bodyPr wrap="square" lIns="0" tIns="0" rIns="0" bIns="0" rtlCol="0" anchor="ctr"/>
          <a:lstStyle/>
          <a:p>
            <a:pPr marL="0" indent="0">
              <a:buNone/>
            </a:pPr>
            <a:r>
              <a:t>CORE APPLICATION CAPABILITIES</a:t>
            </a:r>
            <a:endParaRPr lang="en-US" sz="1100" dirty="0"/>
          </a:p>
        </p:txBody>
      </p:sp>
      <p:sp>
        <p:nvSpPr>
          <p:cNvPr id="10" name="Shape 7"/>
          <p:cNvSpPr/>
          <p:nvPr/>
        </p:nvSpPr>
        <p:spPr>
          <a:xfrm>
            <a:off x="548640" y="3063240"/>
            <a:ext cx="5120640" cy="457200"/>
          </a:xfrm>
          <a:prstGeom prst="roundRect">
            <a:avLst>
              <a:gd name="adj" fmla="val 16000"/>
            </a:avLst>
          </a:prstGeom>
          <a:solidFill>
            <a:srgbClr val="FFFFFF"/>
          </a:solidFill>
          <a:ln w="12700">
            <a:solidFill>
              <a:srgbClr val="EDE6D9"/>
            </a:solidFill>
            <a:prstDash val="solid"/>
          </a:ln>
        </p:spPr>
        <p:txBody>
          <a:bodyPr/>
          <a:p/>
        </p:txBody>
      </p:sp>
      <p:sp>
        <p:nvSpPr>
          <p:cNvPr id="11" name="Text 8"/>
          <p:cNvSpPr txBox="1"/>
          <p:nvPr/>
        </p:nvSpPr>
        <p:spPr>
          <a:xfrm>
            <a:off x="731520" y="3063240"/>
            <a:ext cx="3017520" cy="457200"/>
          </a:xfrm>
          <a:prstGeom prst="rect">
            <a:avLst/>
          </a:prstGeom>
          <a:noFill/>
          <a:ln/>
        </p:spPr>
        <p:txBody>
          <a:bodyPr wrap="square" lIns="0" tIns="0" rIns="0" bIns="0" rtlCol="0" anchor="ctr"/>
          <a:lstStyle/>
          <a:p>
            <a:pPr marL="0" indent="0">
              <a:buNone/>
            </a:pPr>
            <a:r>
              <a:t>TASK_MANAGEMENT</a:t>
            </a:r>
            <a:endParaRPr lang="en-US" sz="1300" dirty="0"/>
          </a:p>
        </p:txBody>
      </p:sp>
      <p:sp>
        <p:nvSpPr>
          <p:cNvPr id="12" name="Shape 9"/>
          <p:cNvSpPr/>
          <p:nvPr/>
        </p:nvSpPr>
        <p:spPr>
          <a:xfrm>
            <a:off x="3977640" y="3154680"/>
            <a:ext cx="1508760" cy="274320"/>
          </a:xfrm>
          <a:prstGeom prst="roundRect">
            <a:avLst>
              <a:gd name="adj" fmla="val 50000"/>
            </a:avLst>
          </a:prstGeom>
          <a:solidFill>
            <a:srgbClr val="E7EEF3"/>
          </a:solidFill>
          <a:ln/>
        </p:spPr>
        <p:txBody>
          <a:bodyPr/>
          <a:p/>
        </p:txBody>
      </p:sp>
      <p:sp>
        <p:nvSpPr>
          <p:cNvPr id="13" name="Text 10"/>
          <p:cNvSpPr txBox="1"/>
          <p:nvPr/>
        </p:nvSpPr>
        <p:spPr>
          <a:xfrm>
            <a:off x="3977640" y="3154680"/>
            <a:ext cx="1508760" cy="274320"/>
          </a:xfrm>
          <a:prstGeom prst="rect">
            <a:avLst/>
          </a:prstGeom>
          <a:noFill/>
          <a:ln/>
        </p:spPr>
        <p:txBody>
          <a:bodyPr wrap="square" lIns="0" tIns="0" rIns="0" bIns="0" rtlCol="0" anchor="ctr"/>
          <a:lstStyle/>
          <a:p>
            <a:pPr marL="0" indent="0" algn="ctr">
              <a:buNone/>
            </a:pPr>
            <a:r>
              <a:t>Dynamic CRUD</a:t>
            </a:r>
            <a:endParaRPr lang="en-US" sz="1150" dirty="0"/>
          </a:p>
        </p:txBody>
      </p:sp>
      <p:sp>
        <p:nvSpPr>
          <p:cNvPr id="14" name="Shape 11"/>
          <p:cNvSpPr/>
          <p:nvPr/>
        </p:nvSpPr>
        <p:spPr>
          <a:xfrm>
            <a:off x="548640" y="3630168"/>
            <a:ext cx="5120640" cy="457200"/>
          </a:xfrm>
          <a:prstGeom prst="roundRect">
            <a:avLst>
              <a:gd name="adj" fmla="val 16000"/>
            </a:avLst>
          </a:prstGeom>
          <a:solidFill>
            <a:srgbClr val="FFFFFF"/>
          </a:solidFill>
          <a:ln w="12700">
            <a:solidFill>
              <a:srgbClr val="EDE6D9"/>
            </a:solidFill>
            <a:prstDash val="solid"/>
          </a:ln>
        </p:spPr>
        <p:txBody>
          <a:bodyPr/>
          <a:p/>
        </p:txBody>
      </p:sp>
      <p:sp>
        <p:nvSpPr>
          <p:cNvPr id="15" name="Text 12"/>
          <p:cNvSpPr txBox="1"/>
          <p:nvPr/>
        </p:nvSpPr>
        <p:spPr>
          <a:xfrm>
            <a:off x="731520" y="3630168"/>
            <a:ext cx="3017520" cy="457200"/>
          </a:xfrm>
          <a:prstGeom prst="rect">
            <a:avLst/>
          </a:prstGeom>
          <a:noFill/>
          <a:ln/>
        </p:spPr>
        <p:txBody>
          <a:bodyPr wrap="square" lIns="0" tIns="0" rIns="0" bIns="0" rtlCol="0" anchor="ctr"/>
          <a:lstStyle/>
          <a:p>
            <a:pPr marL="0" indent="0">
              <a:buNone/>
            </a:pPr>
            <a:r>
              <a:t>STATE_PERSISTENCE</a:t>
            </a:r>
            <a:endParaRPr lang="en-US" sz="1300" dirty="0"/>
          </a:p>
        </p:txBody>
      </p:sp>
      <p:sp>
        <p:nvSpPr>
          <p:cNvPr id="16" name="Shape 13"/>
          <p:cNvSpPr/>
          <p:nvPr/>
        </p:nvSpPr>
        <p:spPr>
          <a:xfrm>
            <a:off x="3977640" y="3721608"/>
            <a:ext cx="1508760" cy="274320"/>
          </a:xfrm>
          <a:prstGeom prst="roundRect">
            <a:avLst>
              <a:gd name="adj" fmla="val 50000"/>
            </a:avLst>
          </a:prstGeom>
          <a:solidFill>
            <a:srgbClr val="E7EEF3"/>
          </a:solidFill>
          <a:ln/>
        </p:spPr>
        <p:txBody>
          <a:bodyPr/>
          <a:p/>
        </p:txBody>
      </p:sp>
      <p:sp>
        <p:nvSpPr>
          <p:cNvPr id="17" name="Text 14"/>
          <p:cNvSpPr txBox="1"/>
          <p:nvPr/>
        </p:nvSpPr>
        <p:spPr>
          <a:xfrm>
            <a:off x="3977640" y="3721608"/>
            <a:ext cx="1508760" cy="274320"/>
          </a:xfrm>
          <a:prstGeom prst="rect">
            <a:avLst/>
          </a:prstGeom>
          <a:noFill/>
          <a:ln/>
        </p:spPr>
        <p:txBody>
          <a:bodyPr wrap="square" lIns="0" tIns="0" rIns="0" bIns="0" rtlCol="0" anchor="ctr"/>
          <a:lstStyle/>
          <a:p>
            <a:pPr marL="0" indent="0" algn="ctr">
              <a:buNone/>
            </a:pPr>
            <a:r>
              <a:rPr lang="en-US" sz="1150" dirty="0">
                <a:solidFill>
                  <a:srgbClr val="3E5A72"/>
                </a:solidFill>
                <a:latin typeface="Consolas" pitchFamily="34" charset="0"/>
                <a:ea typeface="Consolas" pitchFamily="34" charset="-122"/>
                <a:cs typeface="Consolas" pitchFamily="34" charset="-120"/>
              </a:rPr>
              <a:t>9</a:t>
            </a:r>
            <a:endParaRPr lang="en-US" sz="1150" dirty="0"/>
          </a:p>
        </p:txBody>
      </p:sp>
      <p:sp>
        <p:nvSpPr>
          <p:cNvPr id="18" name="Shape 15"/>
          <p:cNvSpPr/>
          <p:nvPr/>
        </p:nvSpPr>
        <p:spPr>
          <a:xfrm>
            <a:off x="548640" y="4197096"/>
            <a:ext cx="5120640" cy="457200"/>
          </a:xfrm>
          <a:prstGeom prst="roundRect">
            <a:avLst>
              <a:gd name="adj" fmla="val 16000"/>
            </a:avLst>
          </a:prstGeom>
          <a:solidFill>
            <a:srgbClr val="FFFFFF"/>
          </a:solidFill>
          <a:ln w="12700">
            <a:solidFill>
              <a:srgbClr val="EDE6D9"/>
            </a:solidFill>
            <a:prstDash val="solid"/>
          </a:ln>
        </p:spPr>
        <p:txBody>
          <a:bodyPr/>
          <a:p/>
        </p:txBody>
      </p:sp>
      <p:sp>
        <p:nvSpPr>
          <p:cNvPr id="19" name="Text 16"/>
          <p:cNvSpPr txBox="1"/>
          <p:nvPr/>
        </p:nvSpPr>
        <p:spPr>
          <a:xfrm>
            <a:off x="731520" y="4197096"/>
            <a:ext cx="3017520" cy="457200"/>
          </a:xfrm>
          <a:prstGeom prst="rect">
            <a:avLst/>
          </a:prstGeom>
          <a:noFill/>
          <a:ln/>
        </p:spPr>
        <p:txBody>
          <a:bodyPr wrap="square" lIns="0" tIns="0" rIns="0" bIns="0" rtlCol="0" anchor="ctr"/>
          <a:lstStyle/>
          <a:p>
            <a:pPr marL="0" indent="0">
              <a:buNone/>
            </a:pPr>
            <a:r>
              <a:t>WEB_RUNTIME</a:t>
            </a:r>
            <a:endParaRPr lang="en-US" sz="1300" dirty="0"/>
          </a:p>
        </p:txBody>
      </p:sp>
      <p:sp>
        <p:nvSpPr>
          <p:cNvPr id="20" name="Shape 17"/>
          <p:cNvSpPr/>
          <p:nvPr/>
        </p:nvSpPr>
        <p:spPr>
          <a:xfrm>
            <a:off x="3977640" y="4288536"/>
            <a:ext cx="1508760" cy="274320"/>
          </a:xfrm>
          <a:prstGeom prst="roundRect">
            <a:avLst>
              <a:gd name="adj" fmla="val 50000"/>
            </a:avLst>
          </a:prstGeom>
          <a:solidFill>
            <a:srgbClr val="E7EEF3"/>
          </a:solidFill>
          <a:ln/>
        </p:spPr>
        <p:txBody>
          <a:bodyPr/>
          <a:p/>
        </p:txBody>
      </p:sp>
      <p:sp>
        <p:nvSpPr>
          <p:cNvPr id="21" name="Text 18"/>
          <p:cNvSpPr txBox="1"/>
          <p:nvPr/>
        </p:nvSpPr>
        <p:spPr>
          <a:xfrm>
            <a:off x="3977640" y="4288536"/>
            <a:ext cx="1508760" cy="274320"/>
          </a:xfrm>
          <a:prstGeom prst="rect">
            <a:avLst/>
          </a:prstGeom>
          <a:noFill/>
          <a:ln/>
        </p:spPr>
        <p:txBody>
          <a:bodyPr wrap="square" lIns="0" tIns="0" rIns="0" bIns="0" rtlCol="0" anchor="ctr"/>
          <a:lstStyle/>
          <a:p>
            <a:pPr marL="0" indent="0" algn="ctr">
              <a:buNone/>
            </a:pPr>
            <a:r>
              <a:rPr lang="en-US" sz="1150" dirty="0">
                <a:solidFill>
                  <a:srgbClr val="3E5A72"/>
                </a:solidFill>
                <a:latin typeface="Consolas" pitchFamily="34" charset="0"/>
                <a:ea typeface="Consolas" pitchFamily="34" charset="-122"/>
                <a:cs typeface="Consolas" pitchFamily="34" charset="-120"/>
              </a:rPr>
              <a:t>3</a:t>
            </a:r>
            <a:endParaRPr lang="en-US" sz="1150" dirty="0"/>
          </a:p>
        </p:txBody>
      </p:sp>
      <p:sp>
        <p:nvSpPr>
          <p:cNvPr id="22" name="Text 19"/>
          <p:cNvSpPr txBox="1"/>
          <p:nvPr/>
        </p:nvSpPr>
        <p:spPr>
          <a:xfrm>
            <a:off x="6126480" y="1874520"/>
            <a:ext cx="5120640" cy="274320"/>
          </a:xfrm>
          <a:prstGeom prst="rect">
            <a:avLst/>
          </a:prstGeom>
          <a:noFill/>
          <a:ln/>
        </p:spPr>
        <p:txBody>
          <a:bodyPr wrap="square" lIns="0" tIns="0" rIns="0" bIns="0" rtlCol="0" anchor="ctr"/>
          <a:lstStyle/>
          <a:p>
            <a:pPr marL="0" indent="0">
              <a:buNone/>
            </a:pPr>
            <a:r>
              <a:rPr lang="en-US" sz="1100" b="1" kern="0" spc="100" dirty="0">
                <a:solidFill>
                  <a:srgbClr val="3E5A72"/>
                </a:solidFill>
                <a:latin typeface="Calibri" pitchFamily="34" charset="0"/>
                <a:ea typeface="Calibri" pitchFamily="34" charset="-122"/>
                <a:cs typeface="Calibri" pitchFamily="34" charset="-120"/>
              </a:rPr>
              <a:t>DIRECTORY STRUCTURE</a:t>
            </a:r>
            <a:endParaRPr lang="en-US" sz="1100" dirty="0"/>
          </a:p>
        </p:txBody>
      </p:sp>
      <p:sp>
        <p:nvSpPr>
          <p:cNvPr id="23" name="Shape 20"/>
          <p:cNvSpPr/>
          <p:nvPr/>
        </p:nvSpPr>
        <p:spPr>
          <a:xfrm>
            <a:off x="6126480" y="2194560"/>
            <a:ext cx="5120640" cy="3246120"/>
          </a:xfrm>
          <a:prstGeom prst="roundRect">
            <a:avLst>
              <a:gd name="adj" fmla="val 2254"/>
            </a:avLst>
          </a:prstGeom>
          <a:solidFill>
            <a:srgbClr val="F5EEE1"/>
          </a:solidFill>
          <a:ln w="12700">
            <a:solidFill>
              <a:srgbClr val="6B5643"/>
            </a:solidFill>
            <a:prstDash val="solid"/>
          </a:ln>
        </p:spPr>
        <p:txBody>
          <a:bodyPr/>
          <a:p/>
        </p:txBody>
      </p:sp>
      <p:sp>
        <p:nvSpPr>
          <p:cNvPr id="24" name="Shape 21"/>
          <p:cNvSpPr/>
          <p:nvPr/>
        </p:nvSpPr>
        <p:spPr>
          <a:xfrm>
            <a:off x="6291072" y="2322576"/>
            <a:ext cx="109728" cy="109728"/>
          </a:xfrm>
          <a:prstGeom prst="ellipse">
            <a:avLst/>
          </a:prstGeom>
          <a:solidFill>
            <a:srgbClr val="EF4444"/>
          </a:solidFill>
          <a:ln/>
        </p:spPr>
        <p:txBody>
          <a:bodyPr/>
          <a:p/>
        </p:txBody>
      </p:sp>
      <p:sp>
        <p:nvSpPr>
          <p:cNvPr id="25" name="Shape 22"/>
          <p:cNvSpPr/>
          <p:nvPr/>
        </p:nvSpPr>
        <p:spPr>
          <a:xfrm>
            <a:off x="6492240" y="2322576"/>
            <a:ext cx="109728" cy="109728"/>
          </a:xfrm>
          <a:prstGeom prst="ellipse">
            <a:avLst/>
          </a:prstGeom>
          <a:solidFill>
            <a:srgbClr val="F59E0B"/>
          </a:solidFill>
          <a:ln/>
        </p:spPr>
        <p:txBody>
          <a:bodyPr/>
          <a:p/>
        </p:txBody>
      </p:sp>
      <p:sp>
        <p:nvSpPr>
          <p:cNvPr id="26" name="Shape 23"/>
          <p:cNvSpPr/>
          <p:nvPr/>
        </p:nvSpPr>
        <p:spPr>
          <a:xfrm>
            <a:off x="6693408" y="2322576"/>
            <a:ext cx="109728" cy="109728"/>
          </a:xfrm>
          <a:prstGeom prst="ellipse">
            <a:avLst/>
          </a:prstGeom>
          <a:solidFill>
            <a:srgbClr val="22C55E"/>
          </a:solidFill>
          <a:ln/>
        </p:spPr>
        <p:txBody>
          <a:bodyPr/>
          <a:p/>
        </p:txBody>
      </p:sp>
      <p:sp>
        <p:nvSpPr>
          <p:cNvPr id="27" name="Text 24"/>
          <p:cNvSpPr txBox="1"/>
          <p:nvPr/>
        </p:nvSpPr>
        <p:spPr>
          <a:xfrm>
            <a:off x="6327648" y="2523744"/>
            <a:ext cx="4718304" cy="2788920"/>
          </a:xfrm>
          <a:prstGeom prst="rect">
            <a:avLst/>
          </a:prstGeom>
          <a:noFill/>
          <a:ln/>
        </p:spPr>
        <p:txBody>
          <a:bodyPr wrap="square" lIns="0" tIns="0" rIns="0" bIns="0" rtlCol="0" anchor="t"/>
          <a:lstStyle/>
          <a:p>
            <a:pPr marL="0" indent="0" algn="l">
              <a:lnSpc>
                <a:spcPct val="110000"/>
              </a:lnSpc>
              <a:buNone/>
            </a:pPr>
            <a:r>
              <a:rPr lang="en-US" sz="1300" dirty="0">
                <a:solidFill>
                  <a:srgbClr val="3E5A72"/>
                </a:solidFill>
                <a:latin typeface="Consolas" pitchFamily="34" charset="0"/>
                <a:ea typeface="Consolas" pitchFamily="34" charset="-122"/>
                <a:cs typeface="Consolas" pitchFamily="34" charset="-120"/>
              </a:rPr>
              <a:t>app/</a:t>
            </a:r>
            <a:endParaRPr lang="en-US" sz="1300" dirty="0"/>
          </a:p>
          <a:p>
            <a:pPr marL="0" indent="0" algn="l">
              <a:lnSpc>
                <a:spcPct val="110000"/>
              </a:lnSpc>
              <a:buNone/>
            </a:pPr>
            <a:r>
              <a:t>app/</a:t>
            </a:r>
            <a:br/>
            <a:r>
              <a:t>├── index.html</a:t>
            </a:r>
            <a:br/>
            <a:r>
              <a:t>│   Semantic HTML5 task UI markup</a:t>
            </a:r>
            <a:br/>
            <a:r>
              <a:t>├── style.css</a:t>
            </a:r>
            <a:br/>
            <a:r>
              <a:t>│   Responsive styling &amp; modern design</a:t>
            </a:r>
            <a:br/>
            <a:r>
              <a:t>├── app.js</a:t>
            </a:r>
            <a:br/>
            <a:r>
              <a:t>│   Task CRUD logic, filters &amp; storage</a:t>
            </a:r>
            <a:br/>
            <a:r>
              <a:t>└── Dockerfile</a:t>
            </a:r>
            <a:br/>
            <a:r>
              <a:t>    Nginx alpine container build spec</a:t>
            </a:r>
            <a:endParaRPr lang="en-US" sz="1300" dirty="0"/>
          </a:p>
          <a:p>
            <a:pPr marL="0" indent="0" algn="l">
              <a:lnSpc>
                <a:spcPct val="110000"/>
              </a:lnSpc>
              <a:buNone/>
            </a:pPr>
            <a:r>
              <a:rPr lang="en-US" sz="1300" dirty="0">
                <a:solidFill>
                  <a:srgbClr val="3E5A72"/>
                </a:solidFill>
                <a:latin typeface="Consolas" pitchFamily="34" charset="0"/>
                <a:ea typeface="Consolas" pitchFamily="34" charset="-122"/>
                <a:cs typeface="Consolas" pitchFamily="34" charset="-120"/>
              </a:rPr>
              <a:t>│   Main Flask application logic</a:t>
            </a:r>
            <a:endParaRPr lang="en-US" sz="1300" dirty="0"/>
          </a:p>
          <a:p>
            <a:pPr marL="0" indent="0" algn="l">
              <a:lnSpc>
                <a:spcPct val="110000"/>
              </a:lnSpc>
              <a:buNone/>
            </a:pPr>
            <a:r>
              <a:rPr lang="en-US" sz="1300" dirty="0">
                <a:solidFill>
                  <a:srgbClr val="3E5A72"/>
                </a:solidFill>
                <a:latin typeface="Consolas" pitchFamily="34" charset="0"/>
                <a:ea typeface="Consolas" pitchFamily="34" charset="-122"/>
                <a:cs typeface="Consolas" pitchFamily="34" charset="-120"/>
              </a:rPr>
              <a:t>│   &amp; environment-variable parser</a:t>
            </a:r>
            <a:endParaRPr lang="en-US" sz="1300" dirty="0"/>
          </a:p>
          <a:p>
            <a:pPr marL="0" indent="0" algn="l">
              <a:lnSpc>
                <a:spcPct val="110000"/>
              </a:lnSpc>
              <a:buNone/>
            </a:pPr>
            <a:r>
              <a:rPr lang="en-US" sz="1300" dirty="0">
                <a:solidFill>
                  <a:srgbClr val="3E5A72"/>
                </a:solidFill>
                <a:latin typeface="Consolas" pitchFamily="34" charset="0"/>
                <a:ea typeface="Consolas" pitchFamily="34" charset="-122"/>
                <a:cs typeface="Consolas" pitchFamily="34" charset="-120"/>
              </a:rPr>
              <a:t>├── Dockerfile</a:t>
            </a:r>
            <a:endParaRPr lang="en-US" sz="1300" dirty="0"/>
          </a:p>
          <a:p>
            <a:pPr marL="0" indent="0" algn="l">
              <a:lnSpc>
                <a:spcPct val="110000"/>
              </a:lnSpc>
              <a:buNone/>
            </a:pPr>
            <a:r>
              <a:rPr lang="en-US" sz="1300" dirty="0">
                <a:solidFill>
                  <a:srgbClr val="3E5A72"/>
                </a:solidFill>
                <a:latin typeface="Consolas" pitchFamily="34" charset="0"/>
                <a:ea typeface="Consolas" pitchFamily="34" charset="-122"/>
                <a:cs typeface="Consolas" pitchFamily="34" charset="-120"/>
              </a:rPr>
              <a:t>│   Container build specification</a:t>
            </a:r>
            <a:endParaRPr lang="en-US" sz="1300" dirty="0"/>
          </a:p>
          <a:p>
            <a:pPr marL="0" indent="0" algn="l">
              <a:lnSpc>
                <a:spcPct val="110000"/>
              </a:lnSpc>
              <a:buNone/>
            </a:pPr>
            <a:r>
              <a:t>app/</a:t>
            </a:r>
            <a:br/>
            <a:r>
              <a:t>├── index.html</a:t>
            </a:r>
            <a:br/>
            <a:r>
              <a:t>│   Semantic HTML5 task UI markup</a:t>
            </a:r>
            <a:br/>
            <a:r>
              <a:t>├── style.css</a:t>
            </a:r>
            <a:br/>
            <a:r>
              <a:t>│   Responsive styling &amp; modern design</a:t>
            </a:r>
            <a:br/>
            <a:r>
              <a:t>├── app.js</a:t>
            </a:r>
            <a:br/>
            <a:r>
              <a:t>│   Task CRUD logic, filters &amp; storage</a:t>
            </a:r>
            <a:br/>
            <a:r>
              <a:t>└── Dockerfile</a:t>
            </a:r>
            <a:br/>
            <a:r>
              <a:t>    Nginx alpine container build spec</a:t>
            </a:r>
            <a:endParaRPr lang="en-US" sz="1300" dirty="0"/>
          </a:p>
          <a:p>
            <a:pPr marL="0" indent="0" algn="l">
              <a:lnSpc>
                <a:spcPct val="110000"/>
              </a:lnSpc>
              <a:buNone/>
            </a:pPr>
            <a:r>
              <a:rPr lang="en-US" sz="1300" dirty="0">
                <a:solidFill>
                  <a:srgbClr val="3E5A72"/>
                </a:solidFill>
                <a:latin typeface="Consolas" pitchFamily="34" charset="0"/>
                <a:ea typeface="Consolas" pitchFamily="34" charset="-122"/>
                <a:cs typeface="Consolas" pitchFamily="34" charset="-120"/>
              </a:rPr>
              <a:t>    Dependencies (Flask==3.0.0)</a:t>
            </a:r>
            <a:endParaRPr lang="en-US" sz="1300" dirty="0"/>
          </a:p>
        </p:txBody>
      </p:sp>
      <p:sp>
        <p:nvSpPr>
          <p:cNvPr id="28" name="Text 25"/>
          <p:cNvSpPr txBox="1"/>
          <p:nvPr/>
        </p:nvSpPr>
        <p:spPr>
          <a:xfrm>
            <a:off x="11002975" y="6400800"/>
            <a:ext cx="914400" cy="274320"/>
          </a:xfrm>
          <a:prstGeom prst="rect">
            <a:avLst/>
          </a:prstGeom>
          <a:noFill/>
          <a:ln/>
        </p:spPr>
        <p:txBody>
          <a:bodyPr wrap="square" lIns="0" tIns="0" rIns="0" bIns="0" rtlCol="0" anchor="ctr"/>
          <a:lstStyle/>
          <a:p>
            <a:pPr marL="0" indent="0" algn="r">
              <a:buNone/>
            </a:pPr>
            <a:r>
              <a:rPr lang="en-US" sz="1000" dirty="0">
                <a:solidFill>
                  <a:srgbClr val="6B5643"/>
                </a:solidFill>
                <a:latin typeface="Calibri" pitchFamily="34" charset="0"/>
                <a:ea typeface="Calibri" pitchFamily="34" charset="-122"/>
                <a:cs typeface="Calibri" pitchFamily="34" charset="-120"/>
              </a:rPr>
              <a:t>03 / 13</a:t>
            </a:r>
            <a:endParaRPr lang="en-US" sz="1000" dirty="0"/>
          </a:p>
        </p:txBody>
      </p:sp>
      <p:sp>
        <p:nvSpPr>
          <p:cNvPr id="29" name="Text 26"/>
          <p:cNvSpPr txBox="1"/>
          <p:nvPr/>
        </p:nvSpPr>
        <p:spPr>
          <a:xfrm>
            <a:off x="457200" y="6400800"/>
            <a:ext cx="5486400" cy="274320"/>
          </a:xfrm>
          <a:prstGeom prst="rect">
            <a:avLst/>
          </a:prstGeom>
          <a:noFill/>
          <a:ln/>
        </p:spPr>
        <p:txBody>
          <a:bodyPr wrap="square" lIns="0" tIns="0" rIns="0" bIns="0" rtlCol="0" anchor="ctr"/>
          <a:lstStyle/>
          <a:p>
            <a:pPr marL="0" indent="0" algn="l">
              <a:buNone/>
            </a:pPr>
            <a:r>
              <a:rPr lang="en-US" sz="1000" kern="0" spc="100" dirty="0">
                <a:solidFill>
                  <a:srgbClr val="6B5643"/>
                </a:solidFill>
                <a:latin typeface="Calibri" pitchFamily="34" charset="0"/>
                <a:ea typeface="Calibri" pitchFamily="34" charset="-122"/>
                <a:cs typeface="Calibri" pitchFamily="34" charset="-120"/>
              </a:rPr>
              <a:t>SUDOKU WEB APP · CI/CD PIPELINE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29184"/>
          </a:xfrm>
          <a:prstGeom prst="roundRect">
            <a:avLst>
              <a:gd name="adj" fmla="val 50000"/>
            </a:avLst>
          </a:prstGeom>
          <a:solidFill>
            <a:srgbClr val="3E5A72">
              <a:alpha val="40000"/>
            </a:srgbClr>
          </a:solidFill>
          <a:ln/>
        </p:spPr>
        <p:txBody>
          <a:bodyPr/>
          <a:p/>
        </p:txBody>
      </p:sp>
      <p:sp>
        <p:nvSpPr>
          <p:cNvPr id="3" name="Text 1"/>
          <p:cNvSpPr txBox="1"/>
          <p:nvPr/>
        </p:nvSpPr>
        <p:spPr>
          <a:xfrm>
            <a:off x="548640" y="457200"/>
            <a:ext cx="2377440" cy="329184"/>
          </a:xfrm>
          <a:prstGeom prst="rect">
            <a:avLst/>
          </a:prstGeom>
          <a:noFill/>
          <a:ln/>
        </p:spPr>
        <p:txBody>
          <a:bodyPr wrap="square" lIns="0" tIns="0" rIns="0" bIns="0" rtlCol="0" anchor="ctr"/>
          <a:lstStyle/>
          <a:p>
            <a:pPr marL="0" indent="0" algn="ctr">
              <a:buNone/>
            </a:pPr>
            <a:r>
              <a:rPr lang="en-US" sz="1100" b="1" kern="0" spc="120" dirty="0">
                <a:solidFill>
                  <a:srgbClr val="5B7C99"/>
                </a:solidFill>
                <a:latin typeface="Calibri" pitchFamily="34" charset="0"/>
                <a:ea typeface="Calibri" pitchFamily="34" charset="-122"/>
                <a:cs typeface="Calibri" pitchFamily="34" charset="-120"/>
              </a:rPr>
              <a:t>PHASE 1 · DOCKER</a:t>
            </a:r>
            <a:endParaRPr lang="en-US" sz="1100" dirty="0"/>
          </a:p>
        </p:txBody>
      </p:sp>
      <p:sp>
        <p:nvSpPr>
          <p:cNvPr id="4" name="Text 2"/>
          <p:cNvSpPr txBox="1"/>
          <p:nvPr/>
        </p:nvSpPr>
        <p:spPr>
          <a:xfrm>
            <a:off x="548640" y="841248"/>
            <a:ext cx="8686800" cy="502920"/>
          </a:xfrm>
          <a:prstGeom prst="rect">
            <a:avLst/>
          </a:prstGeom>
          <a:noFill/>
          <a:ln/>
        </p:spPr>
        <p:txBody>
          <a:bodyPr wrap="square" lIns="0" tIns="0" rIns="0" bIns="0" rtlCol="0" anchor="ctr"/>
          <a:lstStyle/>
          <a:p>
            <a:pPr marL="0" indent="0">
              <a:buNone/>
            </a:pPr>
            <a:r>
              <a:rPr lang="en-US" sz="2600" b="1" dirty="0">
                <a:solidFill>
                  <a:srgbClr val="3D2B1F"/>
                </a:solidFill>
                <a:latin typeface="Calibri" pitchFamily="34" charset="0"/>
                <a:ea typeface="Calibri" pitchFamily="34" charset="-122"/>
                <a:cs typeface="Calibri" pitchFamily="34" charset="-120"/>
              </a:rPr>
              <a:t>Containerization with Docker</a:t>
            </a:r>
            <a:endParaRPr lang="en-US" sz="2600" dirty="0"/>
          </a:p>
        </p:txBody>
      </p:sp>
      <p:sp>
        <p:nvSpPr>
          <p:cNvPr id="5" name="Text 3"/>
          <p:cNvSpPr txBox="1"/>
          <p:nvPr/>
        </p:nvSpPr>
        <p:spPr>
          <a:xfrm>
            <a:off x="548640" y="1353312"/>
            <a:ext cx="8686800" cy="365760"/>
          </a:xfrm>
          <a:prstGeom prst="rect">
            <a:avLst/>
          </a:prstGeom>
          <a:noFill/>
          <a:ln/>
        </p:spPr>
        <p:txBody>
          <a:bodyPr wrap="square" lIns="0" tIns="0" rIns="0" bIns="0" rtlCol="0" anchor="ctr"/>
          <a:lstStyle/>
          <a:p>
            <a:pPr marL="0" indent="0">
              <a:buNone/>
            </a:pPr>
            <a:r>
              <a:rPr lang="en-US" sz="1450" i="1" dirty="0">
                <a:solidFill>
                  <a:srgbClr val="6B5643"/>
                </a:solidFill>
                <a:latin typeface="Calibri" pitchFamily="34" charset="0"/>
                <a:ea typeface="Calibri" pitchFamily="34" charset="-122"/>
                <a:cs typeface="Calibri" pitchFamily="34" charset="-120"/>
              </a:rPr>
              <a:t>Packaging the application into a portable image</a:t>
            </a:r>
            <a:endParaRPr lang="en-US" sz="1450" dirty="0"/>
          </a:p>
        </p:txBody>
      </p:sp>
      <p:pic>
        <p:nvPicPr>
          <p:cNvPr id="6" name="Image 0" descr="ic_docker.png"/>
          <p:cNvPicPr>
            <a:picLocks noChangeAspect="1"/>
          </p:cNvPicPr>
          <p:nvPr/>
        </p:nvPicPr>
        <p:blipFill>
          <a:blip r:embed="rId3"/>
          <a:stretch>
            <a:fillRect/>
          </a:stretch>
        </p:blipFill>
        <p:spPr>
          <a:xfrm>
            <a:off x="11018520" y="502920"/>
            <a:ext cx="777240" cy="777240"/>
          </a:xfrm>
          <a:prstGeom prst="rect">
            <a:avLst/>
          </a:prstGeom>
        </p:spPr>
      </p:pic>
      <p:sp>
        <p:nvSpPr>
          <p:cNvPr id="7" name="Shape 4"/>
          <p:cNvSpPr/>
          <p:nvPr/>
        </p:nvSpPr>
        <p:spPr>
          <a:xfrm>
            <a:off x="548640" y="1874520"/>
            <a:ext cx="4160520" cy="4160520"/>
          </a:xfrm>
          <a:prstGeom prst="roundRect">
            <a:avLst>
              <a:gd name="adj" fmla="val 2198"/>
            </a:avLst>
          </a:prstGeom>
          <a:solidFill>
            <a:srgbClr val="EDE2CC"/>
          </a:solidFill>
          <a:ln w="12700">
            <a:solidFill>
              <a:srgbClr val="EDE2CC"/>
            </a:solidFill>
            <a:prstDash val="solid"/>
          </a:ln>
        </p:spPr>
        <p:txBody>
          <a:bodyPr/>
          <a:p/>
        </p:txBody>
      </p:sp>
      <p:sp>
        <p:nvSpPr>
          <p:cNvPr id="8" name="Text 5"/>
          <p:cNvSpPr txBox="1"/>
          <p:nvPr/>
        </p:nvSpPr>
        <p:spPr>
          <a:xfrm>
            <a:off x="777240" y="2057400"/>
            <a:ext cx="3703320" cy="274320"/>
          </a:xfrm>
          <a:prstGeom prst="rect">
            <a:avLst/>
          </a:prstGeom>
          <a:noFill/>
          <a:ln/>
        </p:spPr>
        <p:txBody>
          <a:bodyPr wrap="square" lIns="0" tIns="0" rIns="0" bIns="0" rtlCol="0" anchor="ctr"/>
          <a:lstStyle/>
          <a:p>
            <a:pPr marL="0" indent="0">
              <a:buNone/>
            </a:pPr>
            <a:r>
              <a:rPr lang="en-US" sz="1100" b="1" kern="0" spc="100" dirty="0">
                <a:solidFill>
                  <a:srgbClr val="5B7C99"/>
                </a:solidFill>
                <a:latin typeface="Calibri" pitchFamily="34" charset="0"/>
                <a:ea typeface="Calibri" pitchFamily="34" charset="-122"/>
                <a:cs typeface="Calibri" pitchFamily="34" charset="-120"/>
              </a:rPr>
              <a:t>DOCKERFILE SPECS (app/Dockerfile)</a:t>
            </a:r>
            <a:endParaRPr lang="en-US" sz="1100" dirty="0"/>
          </a:p>
        </p:txBody>
      </p:sp>
      <p:sp>
        <p:nvSpPr>
          <p:cNvPr id="9" name="Text 6"/>
          <p:cNvSpPr txBox="1"/>
          <p:nvPr/>
        </p:nvSpPr>
        <p:spPr>
          <a:xfrm>
            <a:off x="777240" y="2377440"/>
            <a:ext cx="3703320" cy="3520440"/>
          </a:xfrm>
          <a:prstGeom prst="rect">
            <a:avLst/>
          </a:prstGeom>
          <a:noFill/>
          <a:ln/>
        </p:spPr>
        <p:txBody>
          <a:bodyPr wrap="square" lIns="0" tIns="0" rIns="0" bIns="0" rtlCol="0" anchor="t"/>
          <a:lstStyle/>
          <a:p>
            <a:pPr marL="228600" indent="-228600">
              <a:lnSpc>
                <a:spcPct val="115000"/>
              </a:lnSpc>
              <a:spcAft>
                <a:spcPts val="1200"/>
              </a:spcAft>
              <a:buSzPct val="100000"/>
              <a:buChar char="•"/>
            </a:pPr>
            <a:r>
              <a:t>Base image: nginx:alpine keeps the container ultralight (&lt;25MB) and blazing fast.</a:t>
            </a:r>
            <a:br/>
            <a:r>
              <a:t>Static assets copied directly into /usr/share/nginx/html for zero-overhead serving.</a:t>
            </a:r>
            <a:br/>
            <a:r>
              <a:t>Exposes port 80 for standard HTTP traffic routing.</a:t>
            </a:r>
            <a:br/>
            <a:r>
              <a:t>Immutable container artifact: identical behavior in local testing and cluster rollout.</a:t>
            </a:r>
            <a:endParaRPr lang="en-US" sz="1300" dirty="0"/>
          </a:p>
          <a:p>
            <a:pPr marL="228600" indent="-228600">
              <a:lnSpc>
                <a:spcPct val="115000"/>
              </a:lnSpc>
              <a:spcAft>
                <a:spcPts val="1200"/>
              </a:spcAft>
              <a:buSzPct val="100000"/>
              <a:buChar char="•"/>
            </a:pPr>
            <a:r>
              <a:rPr lang="en-US" sz="1300" dirty="0">
                <a:solidFill>
                  <a:srgbClr val="6B5643"/>
                </a:solidFill>
                <a:latin typeface="Calibri" pitchFamily="34" charset="0"/>
                <a:ea typeface="Calibri" pitchFamily="34" charset="-122"/>
                <a:cs typeface="Calibri" pitchFamily="34" charset="-120"/>
              </a:rPr>
              <a:t>Working directory set to /app for a clean, isolated filesystem.</a:t>
            </a:r>
            <a:endParaRPr lang="en-US" sz="1300" dirty="0"/>
          </a:p>
          <a:p>
            <a:pPr marL="228600" indent="-228600">
              <a:lnSpc>
                <a:spcPct val="115000"/>
              </a:lnSpc>
              <a:spcAft>
                <a:spcPts val="1200"/>
              </a:spcAft>
              <a:buSzPct val="100000"/>
              <a:buChar char="•"/>
            </a:pPr>
            <a:r>
              <a:rPr lang="en-US" sz="1300" dirty="0">
                <a:solidFill>
                  <a:srgbClr val="6B5643"/>
                </a:solidFill>
                <a:latin typeface="Calibri" pitchFamily="34" charset="0"/>
                <a:ea typeface="Calibri" pitchFamily="34" charset="-122"/>
                <a:cs typeface="Calibri" pitchFamily="34" charset="-120"/>
              </a:rPr>
              <a:t>Dependencies installed first (requirements.txt) to maximize Docker layer caching.</a:t>
            </a:r>
            <a:endParaRPr lang="en-US" sz="1300" dirty="0"/>
          </a:p>
          <a:p>
            <a:pPr marL="228600" indent="-228600">
              <a:lnSpc>
                <a:spcPct val="115000"/>
              </a:lnSpc>
              <a:spcAft>
                <a:spcPts val="1200"/>
              </a:spcAft>
              <a:buSzPct val="100000"/>
              <a:buChar char="•"/>
            </a:pPr>
            <a:r>
              <a:rPr lang="en-US" sz="1300" dirty="0">
                <a:solidFill>
                  <a:srgbClr val="6B5643"/>
                </a:solidFill>
                <a:latin typeface="Calibri" pitchFamily="34" charset="0"/>
                <a:ea typeface="Calibri" pitchFamily="34" charset="-122"/>
                <a:cs typeface="Calibri" pitchFamily="34" charset="-120"/>
              </a:rPr>
              <a:t>Port 5000 exposed; container starts the Flask app via python app.py.</a:t>
            </a:r>
            <a:endParaRPr lang="en-US" sz="1300" dirty="0"/>
          </a:p>
        </p:txBody>
      </p:sp>
      <p:sp>
        <p:nvSpPr>
          <p:cNvPr id="10" name="Text 7"/>
          <p:cNvSpPr txBox="1"/>
          <p:nvPr/>
        </p:nvSpPr>
        <p:spPr>
          <a:xfrm>
            <a:off x="5029200" y="1874520"/>
            <a:ext cx="6613855" cy="274320"/>
          </a:xfrm>
          <a:prstGeom prst="rect">
            <a:avLst/>
          </a:prstGeom>
          <a:noFill/>
          <a:ln/>
        </p:spPr>
        <p:txBody>
          <a:bodyPr wrap="square" lIns="0" tIns="0" rIns="0" bIns="0" rtlCol="0" anchor="ctr"/>
          <a:lstStyle/>
          <a:p>
            <a:pPr marL="0" indent="0">
              <a:buNone/>
            </a:pPr>
            <a:r>
              <a:rPr lang="en-US" sz="1100" b="1" kern="0" spc="100" dirty="0">
                <a:solidFill>
                  <a:srgbClr val="5B7C99"/>
                </a:solidFill>
                <a:latin typeface="Calibri" pitchFamily="34" charset="0"/>
                <a:ea typeface="Calibri" pitchFamily="34" charset="-122"/>
                <a:cs typeface="Calibri" pitchFamily="34" charset="-120"/>
              </a:rPr>
              <a:t>DOCKERFILE</a:t>
            </a:r>
            <a:endParaRPr lang="en-US" sz="1100" dirty="0"/>
          </a:p>
        </p:txBody>
      </p:sp>
      <p:sp>
        <p:nvSpPr>
          <p:cNvPr id="11" name="Shape 8"/>
          <p:cNvSpPr/>
          <p:nvPr/>
        </p:nvSpPr>
        <p:spPr>
          <a:xfrm>
            <a:off x="5029200" y="2194560"/>
            <a:ext cx="6613855" cy="1600200"/>
          </a:xfrm>
          <a:prstGeom prst="roundRect">
            <a:avLst>
              <a:gd name="adj" fmla="val 4571"/>
            </a:avLst>
          </a:prstGeom>
          <a:solidFill>
            <a:srgbClr val="F5EEE1"/>
          </a:solidFill>
          <a:ln w="12700">
            <a:solidFill>
              <a:srgbClr val="6B5643"/>
            </a:solidFill>
            <a:prstDash val="solid"/>
          </a:ln>
        </p:spPr>
        <p:txBody>
          <a:bodyPr/>
          <a:p/>
        </p:txBody>
      </p:sp>
      <p:sp>
        <p:nvSpPr>
          <p:cNvPr id="12" name="Shape 9"/>
          <p:cNvSpPr/>
          <p:nvPr/>
        </p:nvSpPr>
        <p:spPr>
          <a:xfrm>
            <a:off x="5193792" y="2322576"/>
            <a:ext cx="109728" cy="109728"/>
          </a:xfrm>
          <a:prstGeom prst="ellipse">
            <a:avLst/>
          </a:prstGeom>
          <a:solidFill>
            <a:srgbClr val="EF4444"/>
          </a:solidFill>
          <a:ln/>
        </p:spPr>
        <p:txBody>
          <a:bodyPr/>
          <a:p/>
        </p:txBody>
      </p:sp>
      <p:sp>
        <p:nvSpPr>
          <p:cNvPr id="13" name="Shape 10"/>
          <p:cNvSpPr/>
          <p:nvPr/>
        </p:nvSpPr>
        <p:spPr>
          <a:xfrm>
            <a:off x="5394960" y="2322576"/>
            <a:ext cx="109728" cy="109728"/>
          </a:xfrm>
          <a:prstGeom prst="ellipse">
            <a:avLst/>
          </a:prstGeom>
          <a:solidFill>
            <a:srgbClr val="F59E0B"/>
          </a:solidFill>
          <a:ln/>
        </p:spPr>
        <p:txBody>
          <a:bodyPr/>
          <a:p/>
        </p:txBody>
      </p:sp>
      <p:sp>
        <p:nvSpPr>
          <p:cNvPr id="14" name="Shape 11"/>
          <p:cNvSpPr/>
          <p:nvPr/>
        </p:nvSpPr>
        <p:spPr>
          <a:xfrm>
            <a:off x="5596128" y="2322576"/>
            <a:ext cx="109728" cy="109728"/>
          </a:xfrm>
          <a:prstGeom prst="ellipse">
            <a:avLst/>
          </a:prstGeom>
          <a:solidFill>
            <a:srgbClr val="22C55E"/>
          </a:solidFill>
          <a:ln/>
        </p:spPr>
        <p:txBody>
          <a:bodyPr/>
          <a:p/>
        </p:txBody>
      </p:sp>
      <p:sp>
        <p:nvSpPr>
          <p:cNvPr id="15" name="Text 12"/>
          <p:cNvSpPr txBox="1"/>
          <p:nvPr/>
        </p:nvSpPr>
        <p:spPr>
          <a:xfrm>
            <a:off x="5230368" y="2523744"/>
            <a:ext cx="6211519" cy="1143000"/>
          </a:xfrm>
          <a:prstGeom prst="rect">
            <a:avLst/>
          </a:prstGeom>
          <a:noFill/>
          <a:ln/>
        </p:spPr>
        <p:txBody>
          <a:bodyPr wrap="square" lIns="0" tIns="0" rIns="0" bIns="0" rtlCol="0" anchor="t"/>
          <a:lstStyle/>
          <a:p>
            <a:pPr marL="0" indent="0" algn="l">
              <a:lnSpc>
                <a:spcPct val="110000"/>
              </a:lnSpc>
              <a:buNone/>
            </a:pPr>
            <a:r>
              <a:t>Base image: nginx:alpine keeps the container ultralight (&lt;25MB) and blazing fast.</a:t>
            </a:r>
            <a:br/>
            <a:r>
              <a:t>Static assets copied directly into /usr/share/nginx/html for zero-overhead serving.</a:t>
            </a:r>
            <a:br/>
            <a:r>
              <a:t>Exposes port 80 for standard HTTP traffic routing.</a:t>
            </a:r>
            <a:br/>
            <a:r>
              <a:t>Immutable container artifact: identical behavior in local testing and cluster rollout.</a:t>
            </a:r>
            <a:endParaRPr lang="en-US" sz="1100" dirty="0"/>
          </a:p>
          <a:p>
            <a:pPr marL="0" indent="0" algn="l">
              <a:lnSpc>
                <a:spcPct val="110000"/>
              </a:lnSpc>
              <a:buNone/>
            </a:pPr>
            <a:r>
              <a:t>FROM nginx:alpine</a:t>
            </a:r>
            <a:br/>
            <a:r>
              <a:t>WORKDIR /usr/share/nginx/html</a:t>
            </a:r>
            <a:br/>
            <a:r>
              <a:t>COPY . .</a:t>
            </a:r>
            <a:br/>
            <a:r>
              <a:t>EXPOSE 80</a:t>
            </a:r>
            <a:br/>
            <a:r>
              <a:t>CMD ["nginx", "-g", "daemon off;"]</a:t>
            </a:r>
            <a:endParaRPr lang="en-US" sz="1100" dirty="0"/>
          </a:p>
          <a:p>
            <a:pPr marL="0" indent="0" algn="l">
              <a:lnSpc>
                <a:spcPct val="110000"/>
              </a:lnSpc>
              <a:buNone/>
            </a:pPr>
            <a:r>
              <a:rPr lang="en-US" sz="1100" dirty="0">
                <a:solidFill>
                  <a:srgbClr val="3E5A72"/>
                </a:solidFill>
                <a:latin typeface="Consolas" pitchFamily="34" charset="0"/>
                <a:ea typeface="Consolas" pitchFamily="34" charset="-122"/>
                <a:cs typeface="Consolas" pitchFamily="34" charset="-120"/>
              </a:rPr>
              <a:t>COPY requirements.txt .</a:t>
            </a:r>
            <a:endParaRPr lang="en-US" sz="1100" dirty="0"/>
          </a:p>
          <a:p>
            <a:pPr marL="0" indent="0" algn="l">
              <a:lnSpc>
                <a:spcPct val="110000"/>
              </a:lnSpc>
              <a:buNone/>
            </a:pPr>
            <a:r>
              <a:rPr lang="en-US" sz="1100" dirty="0">
                <a:solidFill>
                  <a:srgbClr val="3E5A72"/>
                </a:solidFill>
                <a:latin typeface="Consolas" pitchFamily="34" charset="0"/>
                <a:ea typeface="Consolas" pitchFamily="34" charset="-122"/>
                <a:cs typeface="Consolas" pitchFamily="34" charset="-120"/>
              </a:rPr>
              <a:t>RUN pip install --no-cache-dir -r requirements.txt</a:t>
            </a:r>
            <a:endParaRPr lang="en-US" sz="1100" dirty="0"/>
          </a:p>
          <a:p>
            <a:pPr marL="0" indent="0" algn="l">
              <a:lnSpc>
                <a:spcPct val="110000"/>
              </a:lnSpc>
              <a:buNone/>
            </a:pPr>
            <a:r>
              <a:rPr lang="en-US" sz="1100" dirty="0">
                <a:solidFill>
                  <a:srgbClr val="3E5A72"/>
                </a:solidFill>
                <a:latin typeface="Consolas" pitchFamily="34" charset="0"/>
                <a:ea typeface="Consolas" pitchFamily="34" charset="-122"/>
                <a:cs typeface="Consolas" pitchFamily="34" charset="-120"/>
              </a:rPr>
              <a:t>COPY . .</a:t>
            </a:r>
            <a:endParaRPr lang="en-US" sz="1100" dirty="0"/>
          </a:p>
          <a:p>
            <a:pPr marL="0" indent="0" algn="l">
              <a:lnSpc>
                <a:spcPct val="110000"/>
              </a:lnSpc>
              <a:buNone/>
            </a:pPr>
            <a:r>
              <a:t>FROM nginx:alpine</a:t>
            </a:r>
            <a:br/>
            <a:r>
              <a:t>WORKDIR /usr/share/nginx/html</a:t>
            </a:r>
            <a:br/>
            <a:r>
              <a:t>COPY . .</a:t>
            </a:r>
            <a:br/>
            <a:r>
              <a:t>EXPOSE 80</a:t>
            </a:r>
            <a:br/>
            <a:r>
              <a:t>CMD ["nginx", "-g", "daemon off;"]</a:t>
            </a:r>
            <a:endParaRPr lang="en-US" sz="1100" dirty="0"/>
          </a:p>
          <a:p>
            <a:pPr marL="0" indent="0" algn="l">
              <a:lnSpc>
                <a:spcPct val="110000"/>
              </a:lnSpc>
              <a:buNone/>
            </a:pPr>
            <a:r>
              <a:rPr lang="en-US" sz="1100" dirty="0">
                <a:solidFill>
                  <a:srgbClr val="3E5A72"/>
                </a:solidFill>
                <a:latin typeface="Consolas" pitchFamily="34" charset="0"/>
                <a:ea typeface="Consolas" pitchFamily="34" charset="-122"/>
                <a:cs typeface="Consolas" pitchFamily="34" charset="-120"/>
              </a:rPr>
              <a:t>CMD ["python", "app.py"]</a:t>
            </a:r>
            <a:endParaRPr lang="en-US" sz="1100" dirty="0"/>
          </a:p>
        </p:txBody>
      </p:sp>
      <p:sp>
        <p:nvSpPr>
          <p:cNvPr id="16" name="Text 13"/>
          <p:cNvSpPr txBox="1"/>
          <p:nvPr/>
        </p:nvSpPr>
        <p:spPr>
          <a:xfrm>
            <a:off x="5029200" y="4050792"/>
            <a:ext cx="6613855" cy="256032"/>
          </a:xfrm>
          <a:prstGeom prst="rect">
            <a:avLst/>
          </a:prstGeom>
          <a:noFill/>
          <a:ln/>
        </p:spPr>
        <p:txBody>
          <a:bodyPr wrap="square" lIns="0" tIns="0" rIns="0" bIns="0" rtlCol="0" anchor="ctr"/>
          <a:lstStyle/>
          <a:p>
            <a:pPr marL="0" indent="0">
              <a:buNone/>
            </a:pPr>
            <a:r>
              <a:rPr lang="en-US" sz="1100" b="1" kern="0" spc="100" dirty="0">
                <a:solidFill>
                  <a:srgbClr val="5B7C99"/>
                </a:solidFill>
                <a:latin typeface="Calibri" pitchFamily="34" charset="0"/>
                <a:ea typeface="Calibri" pitchFamily="34" charset="-122"/>
                <a:cs typeface="Calibri" pitchFamily="34" charset="-120"/>
              </a:rPr>
              <a:t>TERMINAL — BUILD &amp; VERIFY</a:t>
            </a:r>
            <a:endParaRPr lang="en-US" sz="1100" dirty="0"/>
          </a:p>
        </p:txBody>
      </p:sp>
      <p:sp>
        <p:nvSpPr>
          <p:cNvPr id="17" name="Shape 14"/>
          <p:cNvSpPr/>
          <p:nvPr/>
        </p:nvSpPr>
        <p:spPr>
          <a:xfrm>
            <a:off x="5029200" y="4343400"/>
            <a:ext cx="6613855" cy="1965960"/>
          </a:xfrm>
          <a:prstGeom prst="roundRect">
            <a:avLst>
              <a:gd name="adj" fmla="val 3721"/>
            </a:avLst>
          </a:prstGeom>
          <a:solidFill>
            <a:srgbClr val="F5EEE1"/>
          </a:solidFill>
          <a:ln w="12700">
            <a:solidFill>
              <a:srgbClr val="6B5643"/>
            </a:solidFill>
            <a:prstDash val="solid"/>
          </a:ln>
        </p:spPr>
        <p:txBody>
          <a:bodyPr/>
          <a:p/>
        </p:txBody>
      </p:sp>
      <p:sp>
        <p:nvSpPr>
          <p:cNvPr id="18" name="Shape 15"/>
          <p:cNvSpPr/>
          <p:nvPr/>
        </p:nvSpPr>
        <p:spPr>
          <a:xfrm>
            <a:off x="5193792" y="4471416"/>
            <a:ext cx="109728" cy="109728"/>
          </a:xfrm>
          <a:prstGeom prst="ellipse">
            <a:avLst/>
          </a:prstGeom>
          <a:solidFill>
            <a:srgbClr val="EF4444"/>
          </a:solidFill>
          <a:ln/>
        </p:spPr>
        <p:txBody>
          <a:bodyPr/>
          <a:p/>
        </p:txBody>
      </p:sp>
      <p:sp>
        <p:nvSpPr>
          <p:cNvPr id="19" name="Shape 16"/>
          <p:cNvSpPr/>
          <p:nvPr/>
        </p:nvSpPr>
        <p:spPr>
          <a:xfrm>
            <a:off x="5394960" y="4471416"/>
            <a:ext cx="109728" cy="109728"/>
          </a:xfrm>
          <a:prstGeom prst="ellipse">
            <a:avLst/>
          </a:prstGeom>
          <a:solidFill>
            <a:srgbClr val="F59E0B"/>
          </a:solidFill>
          <a:ln/>
        </p:spPr>
        <p:txBody>
          <a:bodyPr/>
          <a:p/>
        </p:txBody>
      </p:sp>
      <p:sp>
        <p:nvSpPr>
          <p:cNvPr id="20" name="Shape 17"/>
          <p:cNvSpPr/>
          <p:nvPr/>
        </p:nvSpPr>
        <p:spPr>
          <a:xfrm>
            <a:off x="5596128" y="4471416"/>
            <a:ext cx="109728" cy="109728"/>
          </a:xfrm>
          <a:prstGeom prst="ellipse">
            <a:avLst/>
          </a:prstGeom>
          <a:solidFill>
            <a:srgbClr val="22C55E"/>
          </a:solidFill>
          <a:ln/>
        </p:spPr>
        <p:txBody>
          <a:bodyPr/>
          <a:p/>
        </p:txBody>
      </p:sp>
      <p:sp>
        <p:nvSpPr>
          <p:cNvPr id="21" name="Text 18"/>
          <p:cNvSpPr txBox="1"/>
          <p:nvPr/>
        </p:nvSpPr>
        <p:spPr>
          <a:xfrm>
            <a:off x="5230368" y="4672584"/>
            <a:ext cx="6211519" cy="1508760"/>
          </a:xfrm>
          <a:prstGeom prst="rect">
            <a:avLst/>
          </a:prstGeom>
          <a:noFill/>
          <a:ln/>
        </p:spPr>
        <p:txBody>
          <a:bodyPr wrap="square" lIns="0" tIns="0" rIns="0" bIns="0" rtlCol="0" anchor="t"/>
          <a:lstStyle/>
          <a:p>
            <a:pPr marL="0" indent="0" algn="l">
              <a:lnSpc>
                <a:spcPct val="100000"/>
              </a:lnSpc>
              <a:buNone/>
            </a:pPr>
            <a:r>
              <a:rPr lang="en-US" sz="1050" dirty="0">
                <a:solidFill>
                  <a:srgbClr val="3E5A72"/>
                </a:solidFill>
                <a:latin typeface="Consolas" pitchFamily="34" charset="0"/>
                <a:ea typeface="Consolas" pitchFamily="34" charset="-122"/>
                <a:cs typeface="Consolas" pitchFamily="34" charset="-120"/>
              </a:rPr>
              <a:t># Navigate &amp; build the image</a:t>
            </a:r>
            <a:endParaRPr lang="en-US" sz="1050" dirty="0"/>
          </a:p>
          <a:p>
            <a:pPr marL="0" indent="0" algn="l">
              <a:lnSpc>
                <a:spcPct val="100000"/>
              </a:lnSpc>
              <a:buNone/>
            </a:pPr>
            <a:r>
              <a:t># Navigate &amp; build the Docker image</a:t>
            </a:r>
            <a:br/>
            <a:r>
              <a:t>cd app</a:t>
            </a:r>
            <a:br/>
            <a:r>
              <a:t>docker build -t todo-app:latest .</a:t>
            </a:r>
            <a:br/>
            <a:br/>
            <a:r>
              <a:t># Verify the built image</a:t>
            </a:r>
            <a:br/>
            <a:r>
              <a:t>docker images | grep todo-app</a:t>
            </a:r>
            <a:br/>
            <a:br/>
            <a:r>
              <a:t># Test container locally</a:t>
            </a:r>
            <a:br/>
            <a:r>
              <a:t>docker run -d -p 8080:80 --name test-todo todo-app:latest</a:t>
            </a:r>
            <a:endParaRPr lang="en-US" sz="1050" dirty="0"/>
          </a:p>
          <a:p>
            <a:pPr marL="0" indent="0" algn="l">
              <a:lnSpc>
                <a:spcPct val="100000"/>
              </a:lnSpc>
              <a:buNone/>
            </a:pPr>
            <a:r>
              <a:t>docker build -t todo-app:latest .</a:t>
            </a:r>
            <a:endParaRPr lang="en-US" sz="1050" dirty="0"/>
          </a:p>
          <a:p>
            <a:pPr marL="0" indent="0" algn="l">
              <a:lnSpc>
                <a:spcPct val="100000"/>
              </a:lnSpc>
              <a:buNone/>
            </a:pPr>
            <a:endParaRPr lang="en-US" sz="1050" dirty="0"/>
          </a:p>
          <a:p>
            <a:pPr marL="0" indent="0" algn="l">
              <a:lnSpc>
                <a:spcPct val="100000"/>
              </a:lnSpc>
              <a:buNone/>
            </a:pPr>
            <a:r>
              <a:rPr lang="en-US" sz="1050" dirty="0">
                <a:solidFill>
                  <a:srgbClr val="3E5A72"/>
                </a:solidFill>
                <a:latin typeface="Consolas" pitchFamily="34" charset="0"/>
                <a:ea typeface="Consolas" pitchFamily="34" charset="-122"/>
                <a:cs typeface="Consolas" pitchFamily="34" charset="-120"/>
              </a:rPr>
              <a:t># Verify the built image</a:t>
            </a:r>
            <a:endParaRPr lang="en-US" sz="1050" dirty="0"/>
          </a:p>
          <a:p>
            <a:pPr marL="0" indent="0" algn="l">
              <a:lnSpc>
                <a:spcPct val="100000"/>
              </a:lnSpc>
              <a:buNone/>
            </a:pPr>
            <a:r>
              <a:t>docker images | grep todo-app</a:t>
            </a:r>
            <a:endParaRPr lang="en-US" sz="1050" dirty="0"/>
          </a:p>
          <a:p>
            <a:pPr marL="0" indent="0" algn="l">
              <a:lnSpc>
                <a:spcPct val="100000"/>
              </a:lnSpc>
              <a:buNone/>
            </a:pPr>
            <a:endParaRPr lang="en-US" sz="1050" dirty="0"/>
          </a:p>
          <a:p>
            <a:pPr marL="0" indent="0" algn="l">
              <a:lnSpc>
                <a:spcPct val="100000"/>
              </a:lnSpc>
              <a:buNone/>
            </a:pPr>
            <a:r>
              <a:rPr lang="en-US" sz="1050" dirty="0">
                <a:solidFill>
                  <a:srgbClr val="3E5A72"/>
                </a:solidFill>
                <a:latin typeface="Consolas" pitchFamily="34" charset="0"/>
                <a:ea typeface="Consolas" pitchFamily="34" charset="-122"/>
                <a:cs typeface="Consolas" pitchFamily="34" charset="-120"/>
              </a:rPr>
              <a:t># Test the container locally</a:t>
            </a:r>
            <a:endParaRPr lang="en-US" sz="1050" dirty="0"/>
          </a:p>
          <a:p>
            <a:pPr marL="0" indent="0" algn="l">
              <a:lnSpc>
                <a:spcPct val="100000"/>
              </a:lnSpc>
              <a:buNone/>
            </a:pPr>
            <a:r>
              <a:t># Navigate &amp; build the Docker image</a:t>
            </a:r>
            <a:br/>
            <a:r>
              <a:t>cd app</a:t>
            </a:r>
            <a:br/>
            <a:r>
              <a:t>docker build -t todo-app:latest .</a:t>
            </a:r>
            <a:br/>
            <a:br/>
            <a:r>
              <a:t># Verify the built image</a:t>
            </a:r>
            <a:br/>
            <a:r>
              <a:t>docker images | grep todo-app</a:t>
            </a:r>
            <a:br/>
            <a:br/>
            <a:r>
              <a:t># Test container locally</a:t>
            </a:r>
            <a:br/>
            <a:r>
              <a:t>docker run -d -p 8080:80 --name test-todo todo-app:latest</a:t>
            </a:r>
            <a:endParaRPr lang="en-US" sz="1050" dirty="0"/>
          </a:p>
          <a:p>
            <a:pPr marL="0" indent="0" algn="l">
              <a:lnSpc>
                <a:spcPct val="100000"/>
              </a:lnSpc>
              <a:buNone/>
            </a:pPr>
            <a:r>
              <a:t>test-todo todo-app:latest</a:t>
            </a:r>
            <a:endParaRPr lang="en-US" sz="1050" dirty="0"/>
          </a:p>
        </p:txBody>
      </p:sp>
      <p:sp>
        <p:nvSpPr>
          <p:cNvPr id="22" name="Text 19"/>
          <p:cNvSpPr txBox="1"/>
          <p:nvPr/>
        </p:nvSpPr>
        <p:spPr>
          <a:xfrm>
            <a:off x="11002975" y="6400800"/>
            <a:ext cx="914400" cy="274320"/>
          </a:xfrm>
          <a:prstGeom prst="rect">
            <a:avLst/>
          </a:prstGeom>
          <a:noFill/>
          <a:ln/>
        </p:spPr>
        <p:txBody>
          <a:bodyPr wrap="square" lIns="0" tIns="0" rIns="0" bIns="0" rtlCol="0" anchor="ctr"/>
          <a:lstStyle/>
          <a:p>
            <a:pPr marL="0" indent="0" algn="r">
              <a:buNone/>
            </a:pPr>
            <a:r>
              <a:rPr lang="en-US" sz="1000" dirty="0">
                <a:solidFill>
                  <a:srgbClr val="6B5643"/>
                </a:solidFill>
                <a:latin typeface="Calibri" pitchFamily="34" charset="0"/>
                <a:ea typeface="Calibri" pitchFamily="34" charset="-122"/>
                <a:cs typeface="Calibri" pitchFamily="34" charset="-120"/>
              </a:rPr>
              <a:t>04 / 13</a:t>
            </a:r>
            <a:endParaRPr lang="en-US" sz="1000" dirty="0"/>
          </a:p>
        </p:txBody>
      </p:sp>
      <p:sp>
        <p:nvSpPr>
          <p:cNvPr id="23" name="Text 20"/>
          <p:cNvSpPr txBox="1"/>
          <p:nvPr/>
        </p:nvSpPr>
        <p:spPr>
          <a:xfrm>
            <a:off x="457200" y="6400800"/>
            <a:ext cx="5486400" cy="274320"/>
          </a:xfrm>
          <a:prstGeom prst="rect">
            <a:avLst/>
          </a:prstGeom>
          <a:noFill/>
          <a:ln/>
        </p:spPr>
        <p:txBody>
          <a:bodyPr wrap="square" lIns="0" tIns="0" rIns="0" bIns="0" rtlCol="0" anchor="ctr"/>
          <a:lstStyle/>
          <a:p>
            <a:pPr marL="0" indent="0" algn="l">
              <a:buNone/>
            </a:pPr>
            <a:r>
              <a:rPr lang="en-US" sz="1000" kern="0" spc="100" dirty="0">
                <a:solidFill>
                  <a:srgbClr val="6B5643"/>
                </a:solidFill>
                <a:latin typeface="Calibri" pitchFamily="34" charset="0"/>
                <a:ea typeface="Calibri" pitchFamily="34" charset="-122"/>
                <a:cs typeface="Calibri" pitchFamily="34" charset="-120"/>
              </a:rPr>
              <a:t>SUDOKU WEB APP · CI/CD PIPELINE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29184"/>
          </a:xfrm>
          <a:prstGeom prst="roundRect">
            <a:avLst>
              <a:gd name="adj" fmla="val 50000"/>
            </a:avLst>
          </a:prstGeom>
          <a:solidFill>
            <a:srgbClr val="3E5A72">
              <a:alpha val="40000"/>
            </a:srgbClr>
          </a:solidFill>
          <a:ln/>
        </p:spPr>
        <p:txBody>
          <a:bodyPr/>
          <a:p/>
        </p:txBody>
      </p:sp>
      <p:sp>
        <p:nvSpPr>
          <p:cNvPr id="3" name="Text 1"/>
          <p:cNvSpPr txBox="1"/>
          <p:nvPr/>
        </p:nvSpPr>
        <p:spPr>
          <a:xfrm>
            <a:off x="548640" y="457200"/>
            <a:ext cx="2377440" cy="329184"/>
          </a:xfrm>
          <a:prstGeom prst="rect">
            <a:avLst/>
          </a:prstGeom>
          <a:noFill/>
          <a:ln/>
        </p:spPr>
        <p:txBody>
          <a:bodyPr wrap="square" lIns="0" tIns="0" rIns="0" bIns="0" rtlCol="0" anchor="ctr"/>
          <a:lstStyle/>
          <a:p>
            <a:pPr marL="0" indent="0" algn="ctr">
              <a:buNone/>
            </a:pPr>
            <a:r>
              <a:rPr lang="en-US" sz="1100" b="1" kern="0" spc="120" dirty="0">
                <a:solidFill>
                  <a:srgbClr val="5B7C99"/>
                </a:solidFill>
                <a:latin typeface="Calibri" pitchFamily="34" charset="0"/>
                <a:ea typeface="Calibri" pitchFamily="34" charset="-122"/>
                <a:cs typeface="Calibri" pitchFamily="34" charset="-120"/>
              </a:rPr>
              <a:t>PHASE 2 · TERRAFORM</a:t>
            </a:r>
            <a:endParaRPr lang="en-US" sz="1100" dirty="0"/>
          </a:p>
        </p:txBody>
      </p:sp>
      <p:sp>
        <p:nvSpPr>
          <p:cNvPr id="4" name="Text 2"/>
          <p:cNvSpPr txBox="1"/>
          <p:nvPr/>
        </p:nvSpPr>
        <p:spPr>
          <a:xfrm>
            <a:off x="548640" y="841248"/>
            <a:ext cx="8686800" cy="502920"/>
          </a:xfrm>
          <a:prstGeom prst="rect">
            <a:avLst/>
          </a:prstGeom>
          <a:noFill/>
          <a:ln/>
        </p:spPr>
        <p:txBody>
          <a:bodyPr wrap="square" lIns="0" tIns="0" rIns="0" bIns="0" rtlCol="0" anchor="ctr"/>
          <a:lstStyle/>
          <a:p>
            <a:pPr marL="0" indent="0">
              <a:buNone/>
            </a:pPr>
            <a:r>
              <a:rPr lang="en-US" sz="2600" b="1" dirty="0">
                <a:solidFill>
                  <a:srgbClr val="3D2B1F"/>
                </a:solidFill>
                <a:latin typeface="Calibri" pitchFamily="34" charset="0"/>
                <a:ea typeface="Calibri" pitchFamily="34" charset="-122"/>
                <a:cs typeface="Calibri" pitchFamily="34" charset="-120"/>
              </a:rPr>
              <a:t>Infrastructure as Code with Terraform</a:t>
            </a:r>
            <a:endParaRPr lang="en-US" sz="2600" dirty="0"/>
          </a:p>
        </p:txBody>
      </p:sp>
      <p:sp>
        <p:nvSpPr>
          <p:cNvPr id="5" name="Text 3"/>
          <p:cNvSpPr txBox="1"/>
          <p:nvPr/>
        </p:nvSpPr>
        <p:spPr>
          <a:xfrm>
            <a:off x="548640" y="1353312"/>
            <a:ext cx="8686800" cy="365760"/>
          </a:xfrm>
          <a:prstGeom prst="rect">
            <a:avLst/>
          </a:prstGeom>
          <a:noFill/>
          <a:ln/>
        </p:spPr>
        <p:txBody>
          <a:bodyPr wrap="square" lIns="0" tIns="0" rIns="0" bIns="0" rtlCol="0" anchor="ctr"/>
          <a:lstStyle/>
          <a:p>
            <a:pPr marL="0" indent="0">
              <a:buNone/>
            </a:pPr>
            <a:r>
              <a:rPr lang="en-US" sz="1450" i="1" dirty="0">
                <a:solidFill>
                  <a:srgbClr val="6B5643"/>
                </a:solidFill>
                <a:latin typeface="Calibri" pitchFamily="34" charset="0"/>
                <a:ea typeface="Calibri" pitchFamily="34" charset="-122"/>
                <a:cs typeface="Calibri" pitchFamily="34" charset="-120"/>
              </a:rPr>
              <a:t>Provisioning the Kubernetes cluster (terraform/)</a:t>
            </a:r>
            <a:endParaRPr lang="en-US" sz="1450" dirty="0"/>
          </a:p>
        </p:txBody>
      </p:sp>
      <p:pic>
        <p:nvPicPr>
          <p:cNvPr id="6" name="Image 0" descr="ic_terraform.png"/>
          <p:cNvPicPr>
            <a:picLocks noChangeAspect="1"/>
          </p:cNvPicPr>
          <p:nvPr/>
        </p:nvPicPr>
        <p:blipFill>
          <a:blip r:embed="rId3"/>
          <a:stretch>
            <a:fillRect/>
          </a:stretch>
        </p:blipFill>
        <p:spPr>
          <a:xfrm>
            <a:off x="11018520" y="502920"/>
            <a:ext cx="777240" cy="777240"/>
          </a:xfrm>
          <a:prstGeom prst="rect">
            <a:avLst/>
          </a:prstGeom>
        </p:spPr>
      </p:pic>
      <p:sp>
        <p:nvSpPr>
          <p:cNvPr id="7" name="Shape 4"/>
          <p:cNvSpPr/>
          <p:nvPr/>
        </p:nvSpPr>
        <p:spPr>
          <a:xfrm>
            <a:off x="548640" y="1874520"/>
            <a:ext cx="4160520" cy="4160520"/>
          </a:xfrm>
          <a:prstGeom prst="roundRect">
            <a:avLst>
              <a:gd name="adj" fmla="val 2198"/>
            </a:avLst>
          </a:prstGeom>
          <a:solidFill>
            <a:srgbClr val="EDE2CC"/>
          </a:solidFill>
          <a:ln w="12700">
            <a:solidFill>
              <a:srgbClr val="EDE2CC"/>
            </a:solidFill>
            <a:prstDash val="solid"/>
          </a:ln>
        </p:spPr>
        <p:txBody>
          <a:bodyPr/>
          <a:p/>
        </p:txBody>
      </p:sp>
      <p:sp>
        <p:nvSpPr>
          <p:cNvPr id="8" name="Text 5"/>
          <p:cNvSpPr txBox="1"/>
          <p:nvPr/>
        </p:nvSpPr>
        <p:spPr>
          <a:xfrm>
            <a:off x="777240" y="2057400"/>
            <a:ext cx="3703320" cy="274320"/>
          </a:xfrm>
          <a:prstGeom prst="rect">
            <a:avLst/>
          </a:prstGeom>
          <a:noFill/>
          <a:ln/>
        </p:spPr>
        <p:txBody>
          <a:bodyPr wrap="square" lIns="0" tIns="0" rIns="0" bIns="0" rtlCol="0" anchor="ctr"/>
          <a:lstStyle/>
          <a:p>
            <a:pPr marL="0" indent="0">
              <a:buNone/>
            </a:pPr>
            <a:r>
              <a:rPr lang="en-US" sz="1100" b="1" kern="0" spc="100" dirty="0">
                <a:solidFill>
                  <a:srgbClr val="5B7C99"/>
                </a:solidFill>
                <a:latin typeface="Calibri" pitchFamily="34" charset="0"/>
                <a:ea typeface="Calibri" pitchFamily="34" charset="-122"/>
                <a:cs typeface="Calibri" pitchFamily="34" charset="-120"/>
              </a:rPr>
              <a:t>IAC MANIFEST (terraform/main.tf)</a:t>
            </a:r>
            <a:endParaRPr lang="en-US" sz="1100" dirty="0"/>
          </a:p>
        </p:txBody>
      </p:sp>
      <p:sp>
        <p:nvSpPr>
          <p:cNvPr id="9" name="Text 6"/>
          <p:cNvSpPr txBox="1"/>
          <p:nvPr/>
        </p:nvSpPr>
        <p:spPr>
          <a:xfrm>
            <a:off x="777240" y="2377440"/>
            <a:ext cx="3703320" cy="3520440"/>
          </a:xfrm>
          <a:prstGeom prst="rect">
            <a:avLst/>
          </a:prstGeom>
          <a:noFill/>
          <a:ln/>
        </p:spPr>
        <p:txBody>
          <a:bodyPr wrap="square" lIns="0" tIns="0" rIns="0" bIns="0" rtlCol="0" anchor="t"/>
          <a:lstStyle/>
          <a:p>
            <a:pPr marL="228600" indent="-228600">
              <a:lnSpc>
                <a:spcPct val="115000"/>
              </a:lnSpc>
              <a:spcAft>
                <a:spcPts val="1200"/>
              </a:spcAft>
              <a:buSzPct val="100000"/>
              <a:buChar char="•"/>
            </a:pPr>
            <a:r>
              <a:t>Uses the scott-the-programmer/minikube provider to declare a local Kubernetes cluster entirely in code.</a:t>
            </a:r>
            <a:endParaRPr lang="en-US" sz="1300" dirty="0"/>
          </a:p>
          <a:p>
            <a:pPr marL="228600" indent="-228600">
              <a:lnSpc>
                <a:spcPct val="115000"/>
              </a:lnSpc>
              <a:spcAft>
                <a:spcPts val="1200"/>
              </a:spcAft>
              <a:buSzPct val="100000"/>
              <a:buChar char="•"/>
            </a:pPr>
            <a:r>
              <a:t>Cluster is named minikube-cluster and defined as a multi-node topology.</a:t>
            </a:r>
            <a:endParaRPr lang="en-US" sz="1300" dirty="0"/>
          </a:p>
          <a:p>
            <a:pPr marL="228600" indent="-228600">
              <a:lnSpc>
                <a:spcPct val="115000"/>
              </a:lnSpc>
              <a:spcAft>
                <a:spcPts val="1200"/>
              </a:spcAft>
              <a:buSzPct val="100000"/>
              <a:buChar char="•"/>
            </a:pPr>
            <a:r>
              <a:rPr lang="en-US" sz="1300" dirty="0">
                <a:solidFill>
                  <a:srgbClr val="6B5643"/>
                </a:solidFill>
                <a:latin typeface="Calibri" pitchFamily="34" charset="0"/>
                <a:ea typeface="Calibri" pitchFamily="34" charset="-122"/>
                <a:cs typeface="Calibri" pitchFamily="34" charset="-120"/>
              </a:rPr>
              <a:t>1 control-plane node + 1 worker node are configured declaratively.</a:t>
            </a:r>
            <a:endParaRPr lang="en-US" sz="1300" dirty="0"/>
          </a:p>
          <a:p>
            <a:pPr marL="228600" indent="-228600">
              <a:lnSpc>
                <a:spcPct val="115000"/>
              </a:lnSpc>
              <a:spcAft>
                <a:spcPts val="1200"/>
              </a:spcAft>
              <a:buSzPct val="100000"/>
              <a:buChar char="•"/>
            </a:pPr>
            <a:r>
              <a:rPr lang="en-US" sz="1300" dirty="0">
                <a:solidFill>
                  <a:srgbClr val="6B5643"/>
                </a:solidFill>
                <a:latin typeface="Calibri" pitchFamily="34" charset="0"/>
                <a:ea typeface="Calibri" pitchFamily="34" charset="-122"/>
                <a:cs typeface="Calibri" pitchFamily="34" charset="-120"/>
              </a:rPr>
              <a:t>Fully reproducible: destroy and recreate the exact same cluster on demand.</a:t>
            </a:r>
            <a:endParaRPr lang="en-US" sz="1300" dirty="0"/>
          </a:p>
        </p:txBody>
      </p:sp>
      <p:sp>
        <p:nvSpPr>
          <p:cNvPr id="10" name="Text 7"/>
          <p:cNvSpPr txBox="1"/>
          <p:nvPr/>
        </p:nvSpPr>
        <p:spPr>
          <a:xfrm>
            <a:off x="5029200" y="1874520"/>
            <a:ext cx="6613855" cy="274320"/>
          </a:xfrm>
          <a:prstGeom prst="rect">
            <a:avLst/>
          </a:prstGeom>
          <a:noFill/>
          <a:ln/>
        </p:spPr>
        <p:txBody>
          <a:bodyPr wrap="square" lIns="0" tIns="0" rIns="0" bIns="0" rtlCol="0" anchor="ctr"/>
          <a:lstStyle/>
          <a:p>
            <a:pPr marL="0" indent="0">
              <a:buNone/>
            </a:pPr>
            <a:r>
              <a:rPr lang="en-US" sz="1100" b="1" kern="0" spc="100" dirty="0">
                <a:solidFill>
                  <a:srgbClr val="5B7C99"/>
                </a:solidFill>
                <a:latin typeface="Calibri" pitchFamily="34" charset="0"/>
                <a:ea typeface="Calibri" pitchFamily="34" charset="-122"/>
                <a:cs typeface="Calibri" pitchFamily="34" charset="-120"/>
              </a:rPr>
              <a:t>TERMINAL — PROVISION CLUSTER</a:t>
            </a:r>
            <a:endParaRPr lang="en-US" sz="1100" dirty="0"/>
          </a:p>
        </p:txBody>
      </p:sp>
      <p:sp>
        <p:nvSpPr>
          <p:cNvPr id="11" name="Shape 8"/>
          <p:cNvSpPr/>
          <p:nvPr/>
        </p:nvSpPr>
        <p:spPr>
          <a:xfrm>
            <a:off x="5029200" y="2194560"/>
            <a:ext cx="6613855" cy="3840480"/>
          </a:xfrm>
          <a:prstGeom prst="roundRect">
            <a:avLst>
              <a:gd name="adj" fmla="val 1905"/>
            </a:avLst>
          </a:prstGeom>
          <a:solidFill>
            <a:srgbClr val="F5EEE1"/>
          </a:solidFill>
          <a:ln w="12700">
            <a:solidFill>
              <a:srgbClr val="6B5643"/>
            </a:solidFill>
            <a:prstDash val="solid"/>
          </a:ln>
        </p:spPr>
        <p:txBody>
          <a:bodyPr/>
          <a:p/>
        </p:txBody>
      </p:sp>
      <p:sp>
        <p:nvSpPr>
          <p:cNvPr id="12" name="Shape 9"/>
          <p:cNvSpPr/>
          <p:nvPr/>
        </p:nvSpPr>
        <p:spPr>
          <a:xfrm>
            <a:off x="5193792" y="2322576"/>
            <a:ext cx="109728" cy="109728"/>
          </a:xfrm>
          <a:prstGeom prst="ellipse">
            <a:avLst/>
          </a:prstGeom>
          <a:solidFill>
            <a:srgbClr val="EF4444"/>
          </a:solidFill>
          <a:ln/>
        </p:spPr>
        <p:txBody>
          <a:bodyPr/>
          <a:p/>
        </p:txBody>
      </p:sp>
      <p:sp>
        <p:nvSpPr>
          <p:cNvPr id="13" name="Shape 10"/>
          <p:cNvSpPr/>
          <p:nvPr/>
        </p:nvSpPr>
        <p:spPr>
          <a:xfrm>
            <a:off x="5394960" y="2322576"/>
            <a:ext cx="109728" cy="109728"/>
          </a:xfrm>
          <a:prstGeom prst="ellipse">
            <a:avLst/>
          </a:prstGeom>
          <a:solidFill>
            <a:srgbClr val="F59E0B"/>
          </a:solidFill>
          <a:ln/>
        </p:spPr>
        <p:txBody>
          <a:bodyPr/>
          <a:p/>
        </p:txBody>
      </p:sp>
      <p:sp>
        <p:nvSpPr>
          <p:cNvPr id="14" name="Shape 11"/>
          <p:cNvSpPr/>
          <p:nvPr/>
        </p:nvSpPr>
        <p:spPr>
          <a:xfrm>
            <a:off x="5596128" y="2322576"/>
            <a:ext cx="109728" cy="109728"/>
          </a:xfrm>
          <a:prstGeom prst="ellipse">
            <a:avLst/>
          </a:prstGeom>
          <a:solidFill>
            <a:srgbClr val="22C55E"/>
          </a:solidFill>
          <a:ln/>
        </p:spPr>
        <p:txBody>
          <a:bodyPr/>
          <a:p/>
        </p:txBody>
      </p:sp>
      <p:sp>
        <p:nvSpPr>
          <p:cNvPr id="15" name="Text 12"/>
          <p:cNvSpPr txBox="1"/>
          <p:nvPr/>
        </p:nvSpPr>
        <p:spPr>
          <a:xfrm>
            <a:off x="5230368" y="2523744"/>
            <a:ext cx="6211519" cy="3383280"/>
          </a:xfrm>
          <a:prstGeom prst="rect">
            <a:avLst/>
          </a:prstGeom>
          <a:noFill/>
          <a:ln/>
        </p:spPr>
        <p:txBody>
          <a:bodyPr wrap="square" lIns="0" tIns="0" rIns="0" bIns="0" rtlCol="0" anchor="t"/>
          <a:lstStyle/>
          <a:p>
            <a:pPr marL="0" indent="0" algn="l">
              <a:lnSpc>
                <a:spcPct val="110000"/>
              </a:lnSpc>
              <a:buNone/>
            </a:pPr>
            <a:r>
              <a:rPr lang="en-US" sz="1400" dirty="0">
                <a:solidFill>
                  <a:srgbClr val="3E5A72"/>
                </a:solidFill>
                <a:latin typeface="Consolas" pitchFamily="34" charset="0"/>
                <a:ea typeface="Consolas" pitchFamily="34" charset="-122"/>
                <a:cs typeface="Consolas" pitchFamily="34" charset="-120"/>
              </a:rPr>
              <a:t># 1. Navigate to terraform folder</a:t>
            </a:r>
            <a:endParaRPr lang="en-US" sz="1400" dirty="0"/>
          </a:p>
          <a:p>
            <a:pPr marL="0" indent="0" algn="l">
              <a:lnSpc>
                <a:spcPct val="110000"/>
              </a:lnSpc>
              <a:buNone/>
            </a:pPr>
            <a:r>
              <a:rPr lang="en-US" sz="1400" dirty="0">
                <a:solidFill>
                  <a:srgbClr val="3E5A72"/>
                </a:solidFill>
                <a:latin typeface="Consolas" pitchFamily="34" charset="0"/>
                <a:ea typeface="Consolas" pitchFamily="34" charset="-122"/>
                <a:cs typeface="Consolas" pitchFamily="34" charset="-120"/>
              </a:rPr>
              <a:t>cd terraform</a:t>
            </a:r>
            <a:endParaRPr lang="en-US" sz="1400" dirty="0"/>
          </a:p>
          <a:p>
            <a:pPr marL="0" indent="0" algn="l">
              <a:lnSpc>
                <a:spcPct val="110000"/>
              </a:lnSpc>
              <a:buNone/>
            </a:pPr>
            <a:endParaRPr lang="en-US" sz="1400" dirty="0"/>
          </a:p>
          <a:p>
            <a:pPr marL="0" indent="0" algn="l">
              <a:lnSpc>
                <a:spcPct val="110000"/>
              </a:lnSpc>
              <a:buNone/>
            </a:pPr>
            <a:r>
              <a:rPr lang="en-US" sz="1400" dirty="0">
                <a:solidFill>
                  <a:srgbClr val="3E5A72"/>
                </a:solidFill>
                <a:latin typeface="Consolas" pitchFamily="34" charset="0"/>
                <a:ea typeface="Consolas" pitchFamily="34" charset="-122"/>
                <a:cs typeface="Consolas" pitchFamily="34" charset="-120"/>
              </a:rPr>
              <a:t># 2. Initialize Terraform providers</a:t>
            </a:r>
            <a:endParaRPr lang="en-US" sz="1400" dirty="0"/>
          </a:p>
          <a:p>
            <a:pPr marL="0" indent="0" algn="l">
              <a:lnSpc>
                <a:spcPct val="110000"/>
              </a:lnSpc>
              <a:buNone/>
            </a:pPr>
            <a:r>
              <a:rPr lang="en-US" sz="1400" dirty="0">
                <a:solidFill>
                  <a:srgbClr val="3E5A72"/>
                </a:solidFill>
                <a:latin typeface="Consolas" pitchFamily="34" charset="0"/>
                <a:ea typeface="Consolas" pitchFamily="34" charset="-122"/>
                <a:cs typeface="Consolas" pitchFamily="34" charset="-120"/>
              </a:rPr>
              <a:t>terraform init</a:t>
            </a:r>
            <a:endParaRPr lang="en-US" sz="1400" dirty="0"/>
          </a:p>
          <a:p>
            <a:pPr marL="0" indent="0" algn="l">
              <a:lnSpc>
                <a:spcPct val="110000"/>
              </a:lnSpc>
              <a:buNone/>
            </a:pPr>
            <a:endParaRPr lang="en-US" sz="1400" dirty="0"/>
          </a:p>
          <a:p>
            <a:pPr marL="0" indent="0" algn="l">
              <a:lnSpc>
                <a:spcPct val="110000"/>
              </a:lnSpc>
              <a:buNone/>
            </a:pPr>
            <a:r>
              <a:rPr lang="en-US" sz="1400" dirty="0">
                <a:solidFill>
                  <a:srgbClr val="3E5A72"/>
                </a:solidFill>
                <a:latin typeface="Consolas" pitchFamily="34" charset="0"/>
                <a:ea typeface="Consolas" pitchFamily="34" charset="-122"/>
                <a:cs typeface="Consolas" pitchFamily="34" charset="-120"/>
              </a:rPr>
              <a:t># 3. Preview execution plan</a:t>
            </a:r>
            <a:endParaRPr lang="en-US" sz="1400" dirty="0"/>
          </a:p>
          <a:p>
            <a:pPr marL="0" indent="0" algn="l">
              <a:lnSpc>
                <a:spcPct val="110000"/>
              </a:lnSpc>
              <a:buNone/>
            </a:pPr>
            <a:r>
              <a:rPr lang="en-US" sz="1400" dirty="0">
                <a:solidFill>
                  <a:srgbClr val="3E5A72"/>
                </a:solidFill>
                <a:latin typeface="Consolas" pitchFamily="34" charset="0"/>
                <a:ea typeface="Consolas" pitchFamily="34" charset="-122"/>
                <a:cs typeface="Consolas" pitchFamily="34" charset="-120"/>
              </a:rPr>
              <a:t>terraform plan</a:t>
            </a:r>
            <a:endParaRPr lang="en-US" sz="1400" dirty="0"/>
          </a:p>
          <a:p>
            <a:pPr marL="0" indent="0" algn="l">
              <a:lnSpc>
                <a:spcPct val="110000"/>
              </a:lnSpc>
              <a:buNone/>
            </a:pPr>
            <a:endParaRPr lang="en-US" sz="1400" dirty="0"/>
          </a:p>
          <a:p>
            <a:pPr marL="0" indent="0" algn="l">
              <a:lnSpc>
                <a:spcPct val="110000"/>
              </a:lnSpc>
              <a:buNone/>
            </a:pPr>
            <a:r>
              <a:t># 4. Provision Minikube cluster automatically</a:t>
            </a:r>
            <a:endParaRPr lang="en-US" sz="1400" dirty="0"/>
          </a:p>
          <a:p>
            <a:pPr marL="0" indent="0" algn="l">
              <a:lnSpc>
                <a:spcPct val="110000"/>
              </a:lnSpc>
              <a:buNone/>
            </a:pPr>
            <a:r>
              <a:rPr lang="en-US" sz="1400" dirty="0">
                <a:solidFill>
                  <a:srgbClr val="3E5A72"/>
                </a:solidFill>
                <a:latin typeface="Consolas" pitchFamily="34" charset="0"/>
                <a:ea typeface="Consolas" pitchFamily="34" charset="-122"/>
                <a:cs typeface="Consolas" pitchFamily="34" charset="-120"/>
              </a:rPr>
              <a:t>terraform apply -auto-approve</a:t>
            </a:r>
            <a:endParaRPr lang="en-US" sz="1400" dirty="0"/>
          </a:p>
        </p:txBody>
      </p:sp>
      <p:sp>
        <p:nvSpPr>
          <p:cNvPr id="16" name="Text 13"/>
          <p:cNvSpPr txBox="1"/>
          <p:nvPr/>
        </p:nvSpPr>
        <p:spPr>
          <a:xfrm>
            <a:off x="11002975" y="6400800"/>
            <a:ext cx="914400" cy="274320"/>
          </a:xfrm>
          <a:prstGeom prst="rect">
            <a:avLst/>
          </a:prstGeom>
          <a:noFill/>
          <a:ln/>
        </p:spPr>
        <p:txBody>
          <a:bodyPr wrap="square" lIns="0" tIns="0" rIns="0" bIns="0" rtlCol="0" anchor="ctr"/>
          <a:lstStyle/>
          <a:p>
            <a:pPr marL="0" indent="0" algn="r">
              <a:buNone/>
            </a:pPr>
            <a:r>
              <a:rPr lang="en-US" sz="1000" dirty="0">
                <a:solidFill>
                  <a:srgbClr val="6B5643"/>
                </a:solidFill>
                <a:latin typeface="Calibri" pitchFamily="34" charset="0"/>
                <a:ea typeface="Calibri" pitchFamily="34" charset="-122"/>
                <a:cs typeface="Calibri" pitchFamily="34" charset="-120"/>
              </a:rPr>
              <a:t>05 / 13</a:t>
            </a:r>
            <a:endParaRPr lang="en-US" sz="1000" dirty="0"/>
          </a:p>
        </p:txBody>
      </p:sp>
      <p:sp>
        <p:nvSpPr>
          <p:cNvPr id="17" name="Text 14"/>
          <p:cNvSpPr txBox="1"/>
          <p:nvPr/>
        </p:nvSpPr>
        <p:spPr>
          <a:xfrm>
            <a:off x="457200" y="6400800"/>
            <a:ext cx="5486400" cy="274320"/>
          </a:xfrm>
          <a:prstGeom prst="rect">
            <a:avLst/>
          </a:prstGeom>
          <a:noFill/>
          <a:ln/>
        </p:spPr>
        <p:txBody>
          <a:bodyPr wrap="square" lIns="0" tIns="0" rIns="0" bIns="0" rtlCol="0" anchor="ctr"/>
          <a:lstStyle/>
          <a:p>
            <a:pPr marL="0" indent="0" algn="l">
              <a:buNone/>
            </a:pPr>
            <a:r>
              <a:rPr lang="en-US" sz="1000" kern="0" spc="100" dirty="0">
                <a:solidFill>
                  <a:srgbClr val="6B5643"/>
                </a:solidFill>
                <a:latin typeface="Calibri" pitchFamily="34" charset="0"/>
                <a:ea typeface="Calibri" pitchFamily="34" charset="-122"/>
                <a:cs typeface="Calibri" pitchFamily="34" charset="-120"/>
              </a:rPr>
              <a:t>SUDOKU WEB APP · CI/CD PIPELINE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29184"/>
          </a:xfrm>
          <a:prstGeom prst="roundRect">
            <a:avLst>
              <a:gd name="adj" fmla="val 50000"/>
            </a:avLst>
          </a:prstGeom>
          <a:solidFill>
            <a:srgbClr val="3E5A72">
              <a:alpha val="40000"/>
            </a:srgbClr>
          </a:solidFill>
          <a:ln/>
        </p:spPr>
        <p:txBody>
          <a:bodyPr/>
          <a:p/>
        </p:txBody>
      </p:sp>
      <p:sp>
        <p:nvSpPr>
          <p:cNvPr id="3" name="Text 1"/>
          <p:cNvSpPr txBox="1"/>
          <p:nvPr/>
        </p:nvSpPr>
        <p:spPr>
          <a:xfrm>
            <a:off x="548640" y="457200"/>
            <a:ext cx="2377440" cy="329184"/>
          </a:xfrm>
          <a:prstGeom prst="rect">
            <a:avLst/>
          </a:prstGeom>
          <a:noFill/>
          <a:ln/>
        </p:spPr>
        <p:txBody>
          <a:bodyPr wrap="square" lIns="0" tIns="0" rIns="0" bIns="0" rtlCol="0" anchor="ctr"/>
          <a:lstStyle/>
          <a:p>
            <a:pPr marL="0" indent="0" algn="ctr">
              <a:buNone/>
            </a:pPr>
            <a:r>
              <a:rPr lang="en-US" sz="1100" b="1" kern="0" spc="120" dirty="0">
                <a:solidFill>
                  <a:srgbClr val="5B7C99"/>
                </a:solidFill>
                <a:latin typeface="Calibri" pitchFamily="34" charset="0"/>
                <a:ea typeface="Calibri" pitchFamily="34" charset="-122"/>
                <a:cs typeface="Calibri" pitchFamily="34" charset="-120"/>
              </a:rPr>
              <a:t>PHASE 3 · KIND</a:t>
            </a:r>
            <a:endParaRPr lang="en-US" sz="1100" dirty="0"/>
          </a:p>
        </p:txBody>
      </p:sp>
      <p:sp>
        <p:nvSpPr>
          <p:cNvPr id="4" name="Text 2"/>
          <p:cNvSpPr txBox="1"/>
          <p:nvPr/>
        </p:nvSpPr>
        <p:spPr>
          <a:xfrm>
            <a:off x="548640" y="841248"/>
            <a:ext cx="8686800" cy="502920"/>
          </a:xfrm>
          <a:prstGeom prst="rect">
            <a:avLst/>
          </a:prstGeom>
          <a:noFill/>
          <a:ln/>
        </p:spPr>
        <p:txBody>
          <a:bodyPr wrap="square" lIns="0" tIns="0" rIns="0" bIns="0" rtlCol="0" anchor="ctr"/>
          <a:lstStyle/>
          <a:p>
            <a:pPr marL="0" indent="0">
              <a:buNone/>
            </a:pPr>
            <a:r>
              <a:t>Loading the Docker Image into the Minikube Cluster</a:t>
            </a:r>
            <a:endParaRPr lang="en-US" sz="2600" dirty="0"/>
          </a:p>
        </p:txBody>
      </p:sp>
      <p:sp>
        <p:nvSpPr>
          <p:cNvPr id="5" name="Text 3"/>
          <p:cNvSpPr txBox="1"/>
          <p:nvPr/>
        </p:nvSpPr>
        <p:spPr>
          <a:xfrm>
            <a:off x="548640" y="1353312"/>
            <a:ext cx="8686800" cy="365760"/>
          </a:xfrm>
          <a:prstGeom prst="rect">
            <a:avLst/>
          </a:prstGeom>
          <a:noFill/>
          <a:ln/>
        </p:spPr>
        <p:txBody>
          <a:bodyPr wrap="square" lIns="0" tIns="0" rIns="0" bIns="0" rtlCol="0" anchor="ctr"/>
          <a:lstStyle/>
          <a:p>
            <a:pPr marL="0" indent="0">
              <a:buNone/>
            </a:pPr>
            <a:r>
              <a:rPr lang="en-US" sz="1450" i="1" dirty="0">
                <a:solidFill>
                  <a:srgbClr val="6B5643"/>
                </a:solidFill>
                <a:latin typeface="Calibri" pitchFamily="34" charset="0"/>
                <a:ea typeface="Calibri" pitchFamily="34" charset="-122"/>
                <a:cs typeface="Calibri" pitchFamily="34" charset="-120"/>
              </a:rPr>
              <a:t>Local image distribution to cluster nodes</a:t>
            </a:r>
            <a:endParaRPr lang="en-US" sz="1450" dirty="0"/>
          </a:p>
        </p:txBody>
      </p:sp>
      <p:pic>
        <p:nvPicPr>
          <p:cNvPr id="6" name="Image 0" descr="ic_k8s.png"/>
          <p:cNvPicPr>
            <a:picLocks noChangeAspect="1"/>
          </p:cNvPicPr>
          <p:nvPr/>
        </p:nvPicPr>
        <p:blipFill>
          <a:blip r:embed="rId3"/>
          <a:stretch>
            <a:fillRect/>
          </a:stretch>
        </p:blipFill>
        <p:spPr>
          <a:xfrm>
            <a:off x="11018520" y="502920"/>
            <a:ext cx="777240" cy="777240"/>
          </a:xfrm>
          <a:prstGeom prst="rect">
            <a:avLst/>
          </a:prstGeom>
        </p:spPr>
      </p:pic>
      <p:sp>
        <p:nvSpPr>
          <p:cNvPr id="7" name="Shape 4"/>
          <p:cNvSpPr/>
          <p:nvPr/>
        </p:nvSpPr>
        <p:spPr>
          <a:xfrm>
            <a:off x="548640" y="1874520"/>
            <a:ext cx="4160520" cy="4160520"/>
          </a:xfrm>
          <a:prstGeom prst="roundRect">
            <a:avLst>
              <a:gd name="adj" fmla="val 2198"/>
            </a:avLst>
          </a:prstGeom>
          <a:solidFill>
            <a:srgbClr val="EDE2CC"/>
          </a:solidFill>
          <a:ln w="12700">
            <a:solidFill>
              <a:srgbClr val="EDE2CC"/>
            </a:solidFill>
            <a:prstDash val="solid"/>
          </a:ln>
        </p:spPr>
        <p:txBody>
          <a:bodyPr/>
          <a:p/>
        </p:txBody>
      </p:sp>
      <p:sp>
        <p:nvSpPr>
          <p:cNvPr id="8" name="Text 5"/>
          <p:cNvSpPr txBox="1"/>
          <p:nvPr/>
        </p:nvSpPr>
        <p:spPr>
          <a:xfrm>
            <a:off x="777240" y="2057400"/>
            <a:ext cx="3703320" cy="274320"/>
          </a:xfrm>
          <a:prstGeom prst="rect">
            <a:avLst/>
          </a:prstGeom>
          <a:noFill/>
          <a:ln/>
        </p:spPr>
        <p:txBody>
          <a:bodyPr wrap="square" lIns="0" tIns="0" rIns="0" bIns="0" rtlCol="0" anchor="ctr"/>
          <a:lstStyle/>
          <a:p>
            <a:pPr marL="0" indent="0">
              <a:buNone/>
            </a:pPr>
            <a:r>
              <a:rPr lang="en-US" sz="1100" b="1" kern="0" spc="100" dirty="0">
                <a:solidFill>
                  <a:srgbClr val="5B7C99"/>
                </a:solidFill>
                <a:latin typeface="Calibri" pitchFamily="34" charset="0"/>
                <a:ea typeface="Calibri" pitchFamily="34" charset="-122"/>
                <a:cs typeface="Calibri" pitchFamily="34" charset="-120"/>
              </a:rPr>
              <a:t>WHY THIS STEP IS NEEDED</a:t>
            </a:r>
            <a:endParaRPr lang="en-US" sz="1100" dirty="0"/>
          </a:p>
        </p:txBody>
      </p:sp>
      <p:sp>
        <p:nvSpPr>
          <p:cNvPr id="9" name="Text 6"/>
          <p:cNvSpPr txBox="1"/>
          <p:nvPr/>
        </p:nvSpPr>
        <p:spPr>
          <a:xfrm>
            <a:off x="777240" y="2377440"/>
            <a:ext cx="3703320" cy="3520440"/>
          </a:xfrm>
          <a:prstGeom prst="rect">
            <a:avLst/>
          </a:prstGeom>
          <a:noFill/>
          <a:ln/>
        </p:spPr>
        <p:txBody>
          <a:bodyPr wrap="square" lIns="0" tIns="0" rIns="0" bIns="0" rtlCol="0" anchor="t"/>
          <a:lstStyle/>
          <a:p>
            <a:pPr marL="228600" indent="-228600">
              <a:lnSpc>
                <a:spcPct val="115000"/>
              </a:lnSpc>
              <a:spcAft>
                <a:spcPts val="1200"/>
              </a:spcAft>
              <a:buSzPct val="100000"/>
              <a:buChar char="•"/>
            </a:pPr>
            <a:r>
              <a:t>Minikube clusters run inside isolated Docker containers of their own.</a:t>
            </a:r>
            <a:endParaRPr lang="en-US" sz="1300" dirty="0"/>
          </a:p>
          <a:p>
            <a:pPr marL="228600" indent="-228600">
              <a:lnSpc>
                <a:spcPct val="115000"/>
              </a:lnSpc>
              <a:spcAft>
                <a:spcPts val="1200"/>
              </a:spcAft>
              <a:buSzPct val="100000"/>
              <a:buChar char="•"/>
            </a:pPr>
            <a:r>
              <a:rPr lang="en-US" sz="1300" dirty="0">
                <a:solidFill>
                  <a:srgbClr val="6B5643"/>
                </a:solidFill>
                <a:latin typeface="Calibri" pitchFamily="34" charset="0"/>
                <a:ea typeface="Calibri" pitchFamily="34" charset="-122"/>
                <a:cs typeface="Calibri" pitchFamily="34" charset="-120"/>
              </a:rPr>
              <a:t>They cannot reach the host’s localhost Docker registry by default.</a:t>
            </a:r>
            <a:endParaRPr lang="en-US" sz="1300" dirty="0"/>
          </a:p>
          <a:p>
            <a:pPr marL="228600" indent="-228600">
              <a:lnSpc>
                <a:spcPct val="115000"/>
              </a:lnSpc>
              <a:spcAft>
                <a:spcPts val="1200"/>
              </a:spcAft>
              <a:buSzPct val="100000"/>
              <a:buChar char="•"/>
            </a:pPr>
            <a:r>
              <a:t>So the built todo-app:latest image is pushed directly into the Minikube cluster's image cache.</a:t>
            </a:r>
            <a:endParaRPr lang="en-US" sz="1300" dirty="0"/>
          </a:p>
          <a:p>
            <a:pPr marL="228600" indent="-228600">
              <a:lnSpc>
                <a:spcPct val="115000"/>
              </a:lnSpc>
              <a:spcAft>
                <a:spcPts val="1200"/>
              </a:spcAft>
              <a:buSzPct val="100000"/>
              <a:buChar char="•"/>
            </a:pPr>
            <a:r>
              <a:rPr lang="en-US" sz="1300" dirty="0">
                <a:solidFill>
                  <a:srgbClr val="6B5643"/>
                </a:solidFill>
                <a:latin typeface="Calibri" pitchFamily="34" charset="0"/>
                <a:ea typeface="Calibri" pitchFamily="34" charset="-122"/>
                <a:cs typeface="Calibri" pitchFamily="34" charset="-120"/>
              </a:rPr>
              <a:t>This keeps the whole loop fully local — no external registry required.</a:t>
            </a:r>
            <a:endParaRPr lang="en-US" sz="1300" dirty="0"/>
          </a:p>
        </p:txBody>
      </p:sp>
      <p:sp>
        <p:nvSpPr>
          <p:cNvPr id="10" name="Text 7"/>
          <p:cNvSpPr txBox="1"/>
          <p:nvPr/>
        </p:nvSpPr>
        <p:spPr>
          <a:xfrm>
            <a:off x="5029200" y="1874520"/>
            <a:ext cx="6613855" cy="274320"/>
          </a:xfrm>
          <a:prstGeom prst="rect">
            <a:avLst/>
          </a:prstGeom>
          <a:noFill/>
          <a:ln/>
        </p:spPr>
        <p:txBody>
          <a:bodyPr wrap="square" lIns="0" tIns="0" rIns="0" bIns="0" rtlCol="0" anchor="ctr"/>
          <a:lstStyle/>
          <a:p>
            <a:pPr marL="0" indent="0">
              <a:buNone/>
            </a:pPr>
            <a:r>
              <a:rPr lang="en-US" sz="1100" b="1" kern="0" spc="100" dirty="0">
                <a:solidFill>
                  <a:srgbClr val="5B7C99"/>
                </a:solidFill>
                <a:latin typeface="Calibri" pitchFamily="34" charset="0"/>
                <a:ea typeface="Calibri" pitchFamily="34" charset="-122"/>
                <a:cs typeface="Calibri" pitchFamily="34" charset="-120"/>
              </a:rPr>
              <a:t>TERMINAL — LOAD &amp; VERIFY</a:t>
            </a:r>
            <a:endParaRPr lang="en-US" sz="1100" dirty="0"/>
          </a:p>
        </p:txBody>
      </p:sp>
      <p:sp>
        <p:nvSpPr>
          <p:cNvPr id="11" name="Shape 8"/>
          <p:cNvSpPr/>
          <p:nvPr/>
        </p:nvSpPr>
        <p:spPr>
          <a:xfrm>
            <a:off x="5029200" y="2194560"/>
            <a:ext cx="6613855" cy="3840480"/>
          </a:xfrm>
          <a:prstGeom prst="roundRect">
            <a:avLst>
              <a:gd name="adj" fmla="val 1905"/>
            </a:avLst>
          </a:prstGeom>
          <a:solidFill>
            <a:srgbClr val="F5EEE1"/>
          </a:solidFill>
          <a:ln w="12700">
            <a:solidFill>
              <a:srgbClr val="6B5643"/>
            </a:solidFill>
            <a:prstDash val="solid"/>
          </a:ln>
        </p:spPr>
        <p:txBody>
          <a:bodyPr/>
          <a:p/>
        </p:txBody>
      </p:sp>
      <p:sp>
        <p:nvSpPr>
          <p:cNvPr id="12" name="Shape 9"/>
          <p:cNvSpPr/>
          <p:nvPr/>
        </p:nvSpPr>
        <p:spPr>
          <a:xfrm>
            <a:off x="5193792" y="2322576"/>
            <a:ext cx="109728" cy="109728"/>
          </a:xfrm>
          <a:prstGeom prst="ellipse">
            <a:avLst/>
          </a:prstGeom>
          <a:solidFill>
            <a:srgbClr val="EF4444"/>
          </a:solidFill>
          <a:ln/>
        </p:spPr>
        <p:txBody>
          <a:bodyPr/>
          <a:p/>
        </p:txBody>
      </p:sp>
      <p:sp>
        <p:nvSpPr>
          <p:cNvPr id="13" name="Shape 10"/>
          <p:cNvSpPr/>
          <p:nvPr/>
        </p:nvSpPr>
        <p:spPr>
          <a:xfrm>
            <a:off x="5394960" y="2322576"/>
            <a:ext cx="109728" cy="109728"/>
          </a:xfrm>
          <a:prstGeom prst="ellipse">
            <a:avLst/>
          </a:prstGeom>
          <a:solidFill>
            <a:srgbClr val="F59E0B"/>
          </a:solidFill>
          <a:ln/>
        </p:spPr>
        <p:txBody>
          <a:bodyPr/>
          <a:p/>
        </p:txBody>
      </p:sp>
      <p:sp>
        <p:nvSpPr>
          <p:cNvPr id="14" name="Shape 11"/>
          <p:cNvSpPr/>
          <p:nvPr/>
        </p:nvSpPr>
        <p:spPr>
          <a:xfrm>
            <a:off x="5596128" y="2322576"/>
            <a:ext cx="109728" cy="109728"/>
          </a:xfrm>
          <a:prstGeom prst="ellipse">
            <a:avLst/>
          </a:prstGeom>
          <a:solidFill>
            <a:srgbClr val="22C55E"/>
          </a:solidFill>
          <a:ln/>
        </p:spPr>
        <p:txBody>
          <a:bodyPr/>
          <a:p/>
        </p:txBody>
      </p:sp>
      <p:sp>
        <p:nvSpPr>
          <p:cNvPr id="15" name="Text 12"/>
          <p:cNvSpPr txBox="1"/>
          <p:nvPr/>
        </p:nvSpPr>
        <p:spPr>
          <a:xfrm>
            <a:off x="5230368" y="2523744"/>
            <a:ext cx="6211519" cy="3383280"/>
          </a:xfrm>
          <a:prstGeom prst="rect">
            <a:avLst/>
          </a:prstGeom>
          <a:noFill/>
          <a:ln/>
        </p:spPr>
        <p:txBody>
          <a:bodyPr wrap="square" lIns="0" tIns="0" rIns="0" bIns="0" rtlCol="0" anchor="t"/>
          <a:lstStyle/>
          <a:p>
            <a:pPr marL="0" indent="0" algn="l">
              <a:lnSpc>
                <a:spcPct val="110000"/>
              </a:lnSpc>
              <a:buNone/>
            </a:pPr>
            <a:r>
              <a:t># 1. List active Minikube clusters</a:t>
            </a:r>
            <a:endParaRPr lang="en-US" sz="1350" dirty="0"/>
          </a:p>
          <a:p>
            <a:pPr marL="0" indent="0" algn="l">
              <a:lnSpc>
                <a:spcPct val="110000"/>
              </a:lnSpc>
              <a:buNone/>
            </a:pPr>
            <a:r>
              <a:t>minikube status</a:t>
            </a:r>
            <a:endParaRPr lang="en-US" sz="1350" dirty="0"/>
          </a:p>
          <a:p>
            <a:pPr marL="0" indent="0" algn="l">
              <a:lnSpc>
                <a:spcPct val="110000"/>
              </a:lnSpc>
              <a:buNone/>
            </a:pPr>
            <a:endParaRPr lang="en-US" sz="1350" dirty="0"/>
          </a:p>
          <a:p>
            <a:pPr marL="0" indent="0" algn="l">
              <a:lnSpc>
                <a:spcPct val="110000"/>
              </a:lnSpc>
              <a:buNone/>
            </a:pPr>
            <a:r>
              <a:rPr lang="en-US" sz="1350" dirty="0">
                <a:solidFill>
                  <a:srgbClr val="3E5A72"/>
                </a:solidFill>
                <a:latin typeface="Consolas" pitchFamily="34" charset="0"/>
                <a:ea typeface="Consolas" pitchFamily="34" charset="-122"/>
                <a:cs typeface="Consolas" pitchFamily="34" charset="-120"/>
              </a:rPr>
              <a:t># 2. Load built Docker image into</a:t>
            </a:r>
            <a:endParaRPr lang="en-US" sz="1350" dirty="0"/>
          </a:p>
          <a:p>
            <a:pPr marL="0" indent="0" algn="l">
              <a:lnSpc>
                <a:spcPct val="110000"/>
              </a:lnSpc>
              <a:buNone/>
            </a:pPr>
            <a:r>
              <a:rPr lang="en-US" sz="1350" dirty="0">
                <a:solidFill>
                  <a:srgbClr val="3E5A72"/>
                </a:solidFill>
                <a:latin typeface="Consolas" pitchFamily="34" charset="0"/>
                <a:ea typeface="Consolas" pitchFamily="34" charset="-122"/>
                <a:cs typeface="Consolas" pitchFamily="34" charset="-120"/>
              </a:rPr>
              <a:t>#    cluster nodes</a:t>
            </a:r>
            <a:endParaRPr lang="en-US" sz="1350" dirty="0"/>
          </a:p>
          <a:p>
            <a:pPr marL="0" indent="0" algn="l">
              <a:lnSpc>
                <a:spcPct val="110000"/>
              </a:lnSpc>
              <a:buNone/>
            </a:pPr>
            <a:r>
              <a:t>minikube image load \</a:t>
            </a:r>
            <a:endParaRPr lang="en-US" sz="1350" dirty="0"/>
          </a:p>
          <a:p>
            <a:pPr marL="0" indent="0" algn="l">
              <a:lnSpc>
                <a:spcPct val="110000"/>
              </a:lnSpc>
              <a:buNone/>
            </a:pPr>
            <a:r>
              <a:t>  todo-app:latest --name minikube-cluster</a:t>
            </a:r>
            <a:endParaRPr lang="en-US" sz="1350" dirty="0"/>
          </a:p>
          <a:p>
            <a:pPr marL="0" indent="0" algn="l">
              <a:lnSpc>
                <a:spcPct val="110000"/>
              </a:lnSpc>
              <a:buNone/>
            </a:pPr>
            <a:endParaRPr lang="en-US" sz="1350" dirty="0"/>
          </a:p>
          <a:p>
            <a:pPr marL="0" indent="0" algn="l">
              <a:lnSpc>
                <a:spcPct val="110000"/>
              </a:lnSpc>
              <a:buNone/>
            </a:pPr>
            <a:r>
              <a:rPr lang="en-US" sz="1350" dirty="0">
                <a:solidFill>
                  <a:srgbClr val="3E5A72"/>
                </a:solidFill>
                <a:latin typeface="Consolas" pitchFamily="34" charset="0"/>
                <a:ea typeface="Consolas" pitchFamily="34" charset="-122"/>
                <a:cs typeface="Consolas" pitchFamily="34" charset="-120"/>
              </a:rPr>
              <a:t># 3. Verify cluster nodes status</a:t>
            </a:r>
            <a:endParaRPr lang="en-US" sz="1350" dirty="0"/>
          </a:p>
          <a:p>
            <a:pPr marL="0" indent="0" algn="l">
              <a:lnSpc>
                <a:spcPct val="110000"/>
              </a:lnSpc>
              <a:buNone/>
            </a:pPr>
            <a:r>
              <a:rPr lang="en-US" sz="1350" dirty="0">
                <a:solidFill>
                  <a:srgbClr val="3E5A72"/>
                </a:solidFill>
                <a:latin typeface="Consolas" pitchFamily="34" charset="0"/>
                <a:ea typeface="Consolas" pitchFamily="34" charset="-122"/>
                <a:cs typeface="Consolas" pitchFamily="34" charset="-120"/>
              </a:rPr>
              <a:t>kubectl get nodes -o wide</a:t>
            </a:r>
            <a:endParaRPr lang="en-US" sz="1350" dirty="0"/>
          </a:p>
        </p:txBody>
      </p:sp>
      <p:sp>
        <p:nvSpPr>
          <p:cNvPr id="16" name="Text 13"/>
          <p:cNvSpPr txBox="1"/>
          <p:nvPr/>
        </p:nvSpPr>
        <p:spPr>
          <a:xfrm>
            <a:off x="11002975" y="6400800"/>
            <a:ext cx="914400" cy="274320"/>
          </a:xfrm>
          <a:prstGeom prst="rect">
            <a:avLst/>
          </a:prstGeom>
          <a:noFill/>
          <a:ln/>
        </p:spPr>
        <p:txBody>
          <a:bodyPr wrap="square" lIns="0" tIns="0" rIns="0" bIns="0" rtlCol="0" anchor="ctr"/>
          <a:lstStyle/>
          <a:p>
            <a:pPr marL="0" indent="0" algn="r">
              <a:buNone/>
            </a:pPr>
            <a:r>
              <a:rPr lang="en-US" sz="1000" dirty="0">
                <a:solidFill>
                  <a:srgbClr val="6B5643"/>
                </a:solidFill>
                <a:latin typeface="Calibri" pitchFamily="34" charset="0"/>
                <a:ea typeface="Calibri" pitchFamily="34" charset="-122"/>
                <a:cs typeface="Calibri" pitchFamily="34" charset="-120"/>
              </a:rPr>
              <a:t>06 / 13</a:t>
            </a:r>
            <a:endParaRPr lang="en-US" sz="1000" dirty="0"/>
          </a:p>
        </p:txBody>
      </p:sp>
      <p:sp>
        <p:nvSpPr>
          <p:cNvPr id="17" name="Text 14"/>
          <p:cNvSpPr txBox="1"/>
          <p:nvPr/>
        </p:nvSpPr>
        <p:spPr>
          <a:xfrm>
            <a:off x="457200" y="6400800"/>
            <a:ext cx="5486400" cy="274320"/>
          </a:xfrm>
          <a:prstGeom prst="rect">
            <a:avLst/>
          </a:prstGeom>
          <a:noFill/>
          <a:ln/>
        </p:spPr>
        <p:txBody>
          <a:bodyPr wrap="square" lIns="0" tIns="0" rIns="0" bIns="0" rtlCol="0" anchor="ctr"/>
          <a:lstStyle/>
          <a:p>
            <a:pPr marL="0" indent="0" algn="l">
              <a:buNone/>
            </a:pPr>
            <a:r>
              <a:rPr lang="en-US" sz="1000" kern="0" spc="100" dirty="0">
                <a:solidFill>
                  <a:srgbClr val="6B5643"/>
                </a:solidFill>
                <a:latin typeface="Calibri" pitchFamily="34" charset="0"/>
                <a:ea typeface="Calibri" pitchFamily="34" charset="-122"/>
                <a:cs typeface="Calibri" pitchFamily="34" charset="-120"/>
              </a:rPr>
              <a:t>SUDOKU WEB APP · CI/CD PIPELINE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29184"/>
          </a:xfrm>
          <a:prstGeom prst="roundRect">
            <a:avLst>
              <a:gd name="adj" fmla="val 50000"/>
            </a:avLst>
          </a:prstGeom>
          <a:solidFill>
            <a:srgbClr val="3E5A72">
              <a:alpha val="40000"/>
            </a:srgbClr>
          </a:solidFill>
          <a:ln/>
        </p:spPr>
        <p:txBody>
          <a:bodyPr/>
          <a:p/>
        </p:txBody>
      </p:sp>
      <p:sp>
        <p:nvSpPr>
          <p:cNvPr id="3" name="Text 1"/>
          <p:cNvSpPr txBox="1"/>
          <p:nvPr/>
        </p:nvSpPr>
        <p:spPr>
          <a:xfrm>
            <a:off x="548640" y="457200"/>
            <a:ext cx="2377440" cy="329184"/>
          </a:xfrm>
          <a:prstGeom prst="rect">
            <a:avLst/>
          </a:prstGeom>
          <a:noFill/>
          <a:ln/>
        </p:spPr>
        <p:txBody>
          <a:bodyPr wrap="square" lIns="0" tIns="0" rIns="0" bIns="0" rtlCol="0" anchor="ctr"/>
          <a:lstStyle/>
          <a:p>
            <a:pPr marL="0" indent="0" algn="ctr">
              <a:buNone/>
            </a:pPr>
            <a:r>
              <a:rPr lang="en-US" sz="1100" b="1" kern="0" spc="120" dirty="0">
                <a:solidFill>
                  <a:srgbClr val="5B7C99"/>
                </a:solidFill>
                <a:latin typeface="Calibri" pitchFamily="34" charset="0"/>
                <a:ea typeface="Calibri" pitchFamily="34" charset="-122"/>
                <a:cs typeface="Calibri" pitchFamily="34" charset="-120"/>
              </a:rPr>
              <a:t>PHASE 4 · KUBERNETES</a:t>
            </a:r>
            <a:endParaRPr lang="en-US" sz="1100" dirty="0"/>
          </a:p>
        </p:txBody>
      </p:sp>
      <p:sp>
        <p:nvSpPr>
          <p:cNvPr id="4" name="Text 2"/>
          <p:cNvSpPr txBox="1"/>
          <p:nvPr/>
        </p:nvSpPr>
        <p:spPr>
          <a:xfrm>
            <a:off x="548640" y="841248"/>
            <a:ext cx="8686800" cy="502920"/>
          </a:xfrm>
          <a:prstGeom prst="rect">
            <a:avLst/>
          </a:prstGeom>
          <a:noFill/>
          <a:ln/>
        </p:spPr>
        <p:txBody>
          <a:bodyPr wrap="square" lIns="0" tIns="0" rIns="0" bIns="0" rtlCol="0" anchor="ctr"/>
          <a:lstStyle/>
          <a:p>
            <a:pPr marL="0" indent="0">
              <a:buNone/>
            </a:pPr>
            <a:r>
              <a:rPr lang="en-US" sz="2600" b="1" dirty="0">
                <a:solidFill>
                  <a:srgbClr val="3D2B1F"/>
                </a:solidFill>
                <a:latin typeface="Calibri" pitchFamily="34" charset="0"/>
                <a:ea typeface="Calibri" pitchFamily="34" charset="-122"/>
                <a:cs typeface="Calibri" pitchFamily="34" charset="-120"/>
              </a:rPr>
              <a:t>Kubernetes Manifests &amp; Deployment</a:t>
            </a:r>
            <a:endParaRPr lang="en-US" sz="2600" dirty="0"/>
          </a:p>
        </p:txBody>
      </p:sp>
      <p:sp>
        <p:nvSpPr>
          <p:cNvPr id="5" name="Text 3"/>
          <p:cNvSpPr txBox="1"/>
          <p:nvPr/>
        </p:nvSpPr>
        <p:spPr>
          <a:xfrm>
            <a:off x="548640" y="1353312"/>
            <a:ext cx="8686800" cy="365760"/>
          </a:xfrm>
          <a:prstGeom prst="rect">
            <a:avLst/>
          </a:prstGeom>
          <a:noFill/>
          <a:ln/>
        </p:spPr>
        <p:txBody>
          <a:bodyPr wrap="square" lIns="0" tIns="0" rIns="0" bIns="0" rtlCol="0" anchor="ctr"/>
          <a:lstStyle/>
          <a:p>
            <a:pPr marL="0" indent="0">
              <a:buNone/>
            </a:pPr>
            <a:r>
              <a:t>Orchestrating pods and services (k8s/)</a:t>
            </a:r>
            <a:endParaRPr lang="en-US" sz="1450" dirty="0"/>
          </a:p>
        </p:txBody>
      </p:sp>
      <p:pic>
        <p:nvPicPr>
          <p:cNvPr id="6" name="Image 0" descr="ic_k8s.png"/>
          <p:cNvPicPr>
            <a:picLocks noChangeAspect="1"/>
          </p:cNvPicPr>
          <p:nvPr/>
        </p:nvPicPr>
        <p:blipFill>
          <a:blip r:embed="rId3"/>
          <a:stretch>
            <a:fillRect/>
          </a:stretch>
        </p:blipFill>
        <p:spPr>
          <a:xfrm>
            <a:off x="11018520" y="502920"/>
            <a:ext cx="777240" cy="777240"/>
          </a:xfrm>
          <a:prstGeom prst="rect">
            <a:avLst/>
          </a:prstGeom>
        </p:spPr>
      </p:pic>
      <p:sp>
        <p:nvSpPr>
          <p:cNvPr id="7" name="Shape 4"/>
          <p:cNvSpPr/>
          <p:nvPr/>
        </p:nvSpPr>
        <p:spPr>
          <a:xfrm>
            <a:off x="548640" y="1874520"/>
            <a:ext cx="4160520" cy="4160520"/>
          </a:xfrm>
          <a:prstGeom prst="roundRect">
            <a:avLst>
              <a:gd name="adj" fmla="val 2198"/>
            </a:avLst>
          </a:prstGeom>
          <a:solidFill>
            <a:srgbClr val="EDE2CC"/>
          </a:solidFill>
          <a:ln w="12700">
            <a:solidFill>
              <a:srgbClr val="EDE2CC"/>
            </a:solidFill>
            <a:prstDash val="solid"/>
          </a:ln>
        </p:spPr>
        <p:txBody>
          <a:bodyPr/>
          <a:p/>
        </p:txBody>
      </p:sp>
      <p:sp>
        <p:nvSpPr>
          <p:cNvPr id="8" name="Text 5"/>
          <p:cNvSpPr txBox="1"/>
          <p:nvPr/>
        </p:nvSpPr>
        <p:spPr>
          <a:xfrm>
            <a:off x="777240" y="2057400"/>
            <a:ext cx="3703320" cy="274320"/>
          </a:xfrm>
          <a:prstGeom prst="rect">
            <a:avLst/>
          </a:prstGeom>
          <a:noFill/>
          <a:ln/>
        </p:spPr>
        <p:txBody>
          <a:bodyPr wrap="square" lIns="0" tIns="0" rIns="0" bIns="0" rtlCol="0" anchor="ctr"/>
          <a:lstStyle/>
          <a:p>
            <a:pPr marL="0" indent="0">
              <a:buNone/>
            </a:pPr>
            <a:r>
              <a:rPr lang="en-US" sz="1100" b="1" kern="0" spc="100" dirty="0">
                <a:solidFill>
                  <a:srgbClr val="5B7C99"/>
                </a:solidFill>
                <a:latin typeface="Calibri" pitchFamily="34" charset="0"/>
                <a:ea typeface="Calibri" pitchFamily="34" charset="-122"/>
                <a:cs typeface="Calibri" pitchFamily="34" charset="-120"/>
              </a:rPr>
              <a:t>MANIFEST COMPONENTS</a:t>
            </a:r>
            <a:endParaRPr lang="en-US" sz="1100" dirty="0"/>
          </a:p>
        </p:txBody>
      </p:sp>
      <p:sp>
        <p:nvSpPr>
          <p:cNvPr id="9" name="Text 6"/>
          <p:cNvSpPr txBox="1"/>
          <p:nvPr/>
        </p:nvSpPr>
        <p:spPr>
          <a:xfrm>
            <a:off x="777240" y="2377440"/>
            <a:ext cx="3703320" cy="3520440"/>
          </a:xfrm>
          <a:prstGeom prst="rect">
            <a:avLst/>
          </a:prstGeom>
          <a:noFill/>
          <a:ln/>
        </p:spPr>
        <p:txBody>
          <a:bodyPr wrap="square" lIns="0" tIns="0" rIns="0" bIns="0" rtlCol="0" anchor="t"/>
          <a:lstStyle/>
          <a:p>
            <a:pPr marL="228600" indent="-228600">
              <a:lnSpc>
                <a:spcPct val="115000"/>
              </a:lnSpc>
              <a:spcAft>
                <a:spcPts val="1200"/>
              </a:spcAft>
              <a:buSzPct val="100000"/>
              <a:buChar char="•"/>
            </a:pPr>
            <a:r>
              <a:t>deployment.yaml — defines 1 replica running todo-app:latest.</a:t>
            </a:r>
            <a:endParaRPr lang="en-US" sz="1300" dirty="0"/>
          </a:p>
          <a:p>
            <a:pPr marL="228600" indent="-228600">
              <a:lnSpc>
                <a:spcPct val="115000"/>
              </a:lnSpc>
              <a:spcAft>
                <a:spcPts val="1200"/>
              </a:spcAft>
              <a:buSzPct val="100000"/>
              <a:buChar char="•"/>
            </a:pPr>
            <a:r>
              <a:t>Bound to the todo-config ConfigMap via envFrom for runtime settings.</a:t>
            </a:r>
            <a:endParaRPr lang="en-US" sz="1300" dirty="0"/>
          </a:p>
          <a:p>
            <a:pPr marL="228600" indent="-228600">
              <a:lnSpc>
                <a:spcPct val="115000"/>
              </a:lnSpc>
              <a:spcAft>
                <a:spcPts val="1200"/>
              </a:spcAft>
              <a:buSzPct val="100000"/>
              <a:buChar char="•"/>
            </a:pPr>
            <a:r>
              <a:t>service.yaml — exposes the application internally via NodePort.</a:t>
            </a:r>
            <a:endParaRPr lang="en-US" sz="1300" dirty="0"/>
          </a:p>
          <a:p>
            <a:pPr marL="228600" indent="-228600">
              <a:lnSpc>
                <a:spcPct val="115000"/>
              </a:lnSpc>
              <a:spcAft>
                <a:spcPts val="1200"/>
              </a:spcAft>
              <a:buSzPct val="100000"/>
              <a:buChar char="•"/>
            </a:pPr>
            <a:r>
              <a:t>Service listens on port 80 (NodePort 30080), matching the container’s exposed port.</a:t>
            </a:r>
            <a:endParaRPr lang="en-US" sz="1300" dirty="0"/>
          </a:p>
        </p:txBody>
      </p:sp>
      <p:sp>
        <p:nvSpPr>
          <p:cNvPr id="10" name="Text 7"/>
          <p:cNvSpPr txBox="1"/>
          <p:nvPr/>
        </p:nvSpPr>
        <p:spPr>
          <a:xfrm>
            <a:off x="5029200" y="1874520"/>
            <a:ext cx="6613855" cy="274320"/>
          </a:xfrm>
          <a:prstGeom prst="rect">
            <a:avLst/>
          </a:prstGeom>
          <a:noFill/>
          <a:ln/>
        </p:spPr>
        <p:txBody>
          <a:bodyPr wrap="square" lIns="0" tIns="0" rIns="0" bIns="0" rtlCol="0" anchor="ctr"/>
          <a:lstStyle/>
          <a:p>
            <a:pPr marL="0" indent="0">
              <a:buNone/>
            </a:pPr>
            <a:r>
              <a:rPr lang="en-US" sz="1100" b="1" kern="0" spc="100" dirty="0">
                <a:solidFill>
                  <a:srgbClr val="5B7C99"/>
                </a:solidFill>
                <a:latin typeface="Calibri" pitchFamily="34" charset="0"/>
                <a:ea typeface="Calibri" pitchFamily="34" charset="-122"/>
                <a:cs typeface="Calibri" pitchFamily="34" charset="-120"/>
              </a:rPr>
              <a:t>TERMINAL — DEPLOY &amp; INSPECT</a:t>
            </a:r>
            <a:endParaRPr lang="en-US" sz="1100" dirty="0"/>
          </a:p>
        </p:txBody>
      </p:sp>
      <p:sp>
        <p:nvSpPr>
          <p:cNvPr id="11" name="Shape 8"/>
          <p:cNvSpPr/>
          <p:nvPr/>
        </p:nvSpPr>
        <p:spPr>
          <a:xfrm>
            <a:off x="5029200" y="2194560"/>
            <a:ext cx="6613855" cy="3840480"/>
          </a:xfrm>
          <a:prstGeom prst="roundRect">
            <a:avLst>
              <a:gd name="adj" fmla="val 1905"/>
            </a:avLst>
          </a:prstGeom>
          <a:solidFill>
            <a:srgbClr val="F5EEE1"/>
          </a:solidFill>
          <a:ln w="12700">
            <a:solidFill>
              <a:srgbClr val="6B5643"/>
            </a:solidFill>
            <a:prstDash val="solid"/>
          </a:ln>
        </p:spPr>
        <p:txBody>
          <a:bodyPr/>
          <a:p/>
        </p:txBody>
      </p:sp>
      <p:sp>
        <p:nvSpPr>
          <p:cNvPr id="12" name="Shape 9"/>
          <p:cNvSpPr/>
          <p:nvPr/>
        </p:nvSpPr>
        <p:spPr>
          <a:xfrm>
            <a:off x="5193792" y="2322576"/>
            <a:ext cx="109728" cy="109728"/>
          </a:xfrm>
          <a:prstGeom prst="ellipse">
            <a:avLst/>
          </a:prstGeom>
          <a:solidFill>
            <a:srgbClr val="EF4444"/>
          </a:solidFill>
          <a:ln/>
        </p:spPr>
        <p:txBody>
          <a:bodyPr/>
          <a:p/>
        </p:txBody>
      </p:sp>
      <p:sp>
        <p:nvSpPr>
          <p:cNvPr id="13" name="Shape 10"/>
          <p:cNvSpPr/>
          <p:nvPr/>
        </p:nvSpPr>
        <p:spPr>
          <a:xfrm>
            <a:off x="5394960" y="2322576"/>
            <a:ext cx="109728" cy="109728"/>
          </a:xfrm>
          <a:prstGeom prst="ellipse">
            <a:avLst/>
          </a:prstGeom>
          <a:solidFill>
            <a:srgbClr val="F59E0B"/>
          </a:solidFill>
          <a:ln/>
        </p:spPr>
        <p:txBody>
          <a:bodyPr/>
          <a:p/>
        </p:txBody>
      </p:sp>
      <p:sp>
        <p:nvSpPr>
          <p:cNvPr id="14" name="Shape 11"/>
          <p:cNvSpPr/>
          <p:nvPr/>
        </p:nvSpPr>
        <p:spPr>
          <a:xfrm>
            <a:off x="5596128" y="2322576"/>
            <a:ext cx="109728" cy="109728"/>
          </a:xfrm>
          <a:prstGeom prst="ellipse">
            <a:avLst/>
          </a:prstGeom>
          <a:solidFill>
            <a:srgbClr val="22C55E"/>
          </a:solidFill>
          <a:ln/>
        </p:spPr>
        <p:txBody>
          <a:bodyPr/>
          <a:p/>
        </p:txBody>
      </p:sp>
      <p:sp>
        <p:nvSpPr>
          <p:cNvPr id="15" name="Text 12"/>
          <p:cNvSpPr txBox="1"/>
          <p:nvPr/>
        </p:nvSpPr>
        <p:spPr>
          <a:xfrm>
            <a:off x="5230368" y="2523744"/>
            <a:ext cx="6211519" cy="3383280"/>
          </a:xfrm>
          <a:prstGeom prst="rect">
            <a:avLst/>
          </a:prstGeom>
          <a:noFill/>
          <a:ln/>
        </p:spPr>
        <p:txBody>
          <a:bodyPr wrap="square" lIns="0" tIns="0" rIns="0" bIns="0" rtlCol="0" anchor="t"/>
          <a:lstStyle/>
          <a:p>
            <a:pPr marL="0" indent="0" algn="l">
              <a:lnSpc>
                <a:spcPct val="110000"/>
              </a:lnSpc>
              <a:buNone/>
            </a:pPr>
            <a:r>
              <a:rPr lang="en-US" sz="1250" dirty="0">
                <a:solidFill>
                  <a:srgbClr val="3E5A72"/>
                </a:solidFill>
                <a:latin typeface="Consolas" pitchFamily="34" charset="0"/>
                <a:ea typeface="Consolas" pitchFamily="34" charset="-122"/>
                <a:cs typeface="Consolas" pitchFamily="34" charset="-120"/>
              </a:rPr>
              <a:t># 1. Deploy K8s Deployment</a:t>
            </a:r>
            <a:endParaRPr lang="en-US" sz="1250" dirty="0"/>
          </a:p>
          <a:p>
            <a:pPr marL="0" indent="0" algn="l">
              <a:lnSpc>
                <a:spcPct val="110000"/>
              </a:lnSpc>
              <a:buNone/>
            </a:pPr>
            <a:r>
              <a:t>kubectl apply -f k8s/deployment.yaml</a:t>
            </a:r>
            <a:endParaRPr lang="en-US" sz="1250" dirty="0"/>
          </a:p>
          <a:p>
            <a:pPr marL="0" indent="0" algn="l">
              <a:lnSpc>
                <a:spcPct val="110000"/>
              </a:lnSpc>
              <a:buNone/>
            </a:pPr>
            <a:endParaRPr lang="en-US" sz="1250" dirty="0"/>
          </a:p>
          <a:p>
            <a:pPr marL="0" indent="0" algn="l">
              <a:lnSpc>
                <a:spcPct val="110000"/>
              </a:lnSpc>
              <a:buNone/>
            </a:pPr>
            <a:r>
              <a:rPr lang="en-US" sz="1250" dirty="0">
                <a:solidFill>
                  <a:srgbClr val="3E5A72"/>
                </a:solidFill>
                <a:latin typeface="Consolas" pitchFamily="34" charset="0"/>
                <a:ea typeface="Consolas" pitchFamily="34" charset="-122"/>
                <a:cs typeface="Consolas" pitchFamily="34" charset="-120"/>
              </a:rPr>
              <a:t># 2. Deploy K8s Service</a:t>
            </a:r>
            <a:endParaRPr lang="en-US" sz="1250" dirty="0"/>
          </a:p>
          <a:p>
            <a:pPr marL="0" indent="0" algn="l">
              <a:lnSpc>
                <a:spcPct val="110000"/>
              </a:lnSpc>
              <a:buNone/>
            </a:pPr>
            <a:r>
              <a:t>kubectl apply -f k8s/service.yaml</a:t>
            </a:r>
            <a:endParaRPr lang="en-US" sz="1250" dirty="0"/>
          </a:p>
          <a:p>
            <a:pPr marL="0" indent="0" algn="l">
              <a:lnSpc>
                <a:spcPct val="110000"/>
              </a:lnSpc>
              <a:buNone/>
            </a:pPr>
            <a:endParaRPr lang="en-US" sz="1250" dirty="0"/>
          </a:p>
          <a:p>
            <a:pPr marL="0" indent="0" algn="l">
              <a:lnSpc>
                <a:spcPct val="110000"/>
              </a:lnSpc>
              <a:buNone/>
            </a:pPr>
            <a:r>
              <a:rPr lang="en-US" sz="1250" dirty="0">
                <a:solidFill>
                  <a:srgbClr val="3E5A72"/>
                </a:solidFill>
                <a:latin typeface="Consolas" pitchFamily="34" charset="0"/>
                <a:ea typeface="Consolas" pitchFamily="34" charset="-122"/>
                <a:cs typeface="Consolas" pitchFamily="34" charset="-120"/>
              </a:rPr>
              <a:t># 3. Monitor rollout status</a:t>
            </a:r>
            <a:endParaRPr lang="en-US" sz="1250" dirty="0"/>
          </a:p>
          <a:p>
            <a:pPr marL="0" indent="0" algn="l">
              <a:lnSpc>
                <a:spcPct val="110000"/>
              </a:lnSpc>
              <a:buNone/>
            </a:pPr>
            <a:r>
              <a:rPr lang="en-US" sz="1250" dirty="0">
                <a:solidFill>
                  <a:srgbClr val="3E5A72"/>
                </a:solidFill>
                <a:latin typeface="Consolas" pitchFamily="34" charset="0"/>
                <a:ea typeface="Consolas" pitchFamily="34" charset="-122"/>
                <a:cs typeface="Consolas" pitchFamily="34" charset="-120"/>
              </a:rPr>
              <a:t>kubectl rollout status \</a:t>
            </a:r>
            <a:endParaRPr lang="en-US" sz="1250" dirty="0"/>
          </a:p>
          <a:p>
            <a:pPr marL="0" indent="0" algn="l">
              <a:lnSpc>
                <a:spcPct val="110000"/>
              </a:lnSpc>
              <a:buNone/>
            </a:pPr>
            <a:r>
              <a:t>  deployment/todo-app-deployment --timeout=120s</a:t>
            </a:r>
            <a:endParaRPr lang="en-US" sz="1250" dirty="0"/>
          </a:p>
          <a:p>
            <a:pPr marL="0" indent="0" algn="l">
              <a:lnSpc>
                <a:spcPct val="110000"/>
              </a:lnSpc>
              <a:buNone/>
            </a:pPr>
            <a:endParaRPr lang="en-US" sz="1250" dirty="0"/>
          </a:p>
          <a:p>
            <a:pPr marL="0" indent="0" algn="l">
              <a:lnSpc>
                <a:spcPct val="110000"/>
              </a:lnSpc>
              <a:buNone/>
            </a:pPr>
            <a:r>
              <a:rPr lang="en-US" sz="1250" dirty="0">
                <a:solidFill>
                  <a:srgbClr val="3E5A72"/>
                </a:solidFill>
                <a:latin typeface="Consolas" pitchFamily="34" charset="0"/>
                <a:ea typeface="Consolas" pitchFamily="34" charset="-122"/>
                <a:cs typeface="Consolas" pitchFamily="34" charset="-120"/>
              </a:rPr>
              <a:t># 4. Inspect resource status</a:t>
            </a:r>
            <a:endParaRPr lang="en-US" sz="1250" dirty="0"/>
          </a:p>
          <a:p>
            <a:pPr marL="0" indent="0" algn="l">
              <a:lnSpc>
                <a:spcPct val="110000"/>
              </a:lnSpc>
              <a:buNone/>
            </a:pPr>
            <a:r>
              <a:rPr lang="en-US" sz="1250" dirty="0">
                <a:solidFill>
                  <a:srgbClr val="3E5A72"/>
                </a:solidFill>
                <a:latin typeface="Consolas" pitchFamily="34" charset="0"/>
                <a:ea typeface="Consolas" pitchFamily="34" charset="-122"/>
                <a:cs typeface="Consolas" pitchFamily="34" charset="-120"/>
              </a:rPr>
              <a:t>kubectl get pods,svc</a:t>
            </a:r>
            <a:endParaRPr lang="en-US" sz="1250" dirty="0"/>
          </a:p>
        </p:txBody>
      </p:sp>
      <p:sp>
        <p:nvSpPr>
          <p:cNvPr id="16" name="Text 13"/>
          <p:cNvSpPr txBox="1"/>
          <p:nvPr/>
        </p:nvSpPr>
        <p:spPr>
          <a:xfrm>
            <a:off x="11002975" y="6400800"/>
            <a:ext cx="914400" cy="274320"/>
          </a:xfrm>
          <a:prstGeom prst="rect">
            <a:avLst/>
          </a:prstGeom>
          <a:noFill/>
          <a:ln/>
        </p:spPr>
        <p:txBody>
          <a:bodyPr wrap="square" lIns="0" tIns="0" rIns="0" bIns="0" rtlCol="0" anchor="ctr"/>
          <a:lstStyle/>
          <a:p>
            <a:pPr marL="0" indent="0" algn="r">
              <a:buNone/>
            </a:pPr>
            <a:r>
              <a:rPr lang="en-US" sz="1000" dirty="0">
                <a:solidFill>
                  <a:srgbClr val="6B5643"/>
                </a:solidFill>
                <a:latin typeface="Calibri" pitchFamily="34" charset="0"/>
                <a:ea typeface="Calibri" pitchFamily="34" charset="-122"/>
                <a:cs typeface="Calibri" pitchFamily="34" charset="-120"/>
              </a:rPr>
              <a:t>07 / 13</a:t>
            </a:r>
            <a:endParaRPr lang="en-US" sz="1000" dirty="0"/>
          </a:p>
        </p:txBody>
      </p:sp>
      <p:sp>
        <p:nvSpPr>
          <p:cNvPr id="17" name="Text 14"/>
          <p:cNvSpPr txBox="1"/>
          <p:nvPr/>
        </p:nvSpPr>
        <p:spPr>
          <a:xfrm>
            <a:off x="457200" y="6400800"/>
            <a:ext cx="5486400" cy="274320"/>
          </a:xfrm>
          <a:prstGeom prst="rect">
            <a:avLst/>
          </a:prstGeom>
          <a:noFill/>
          <a:ln/>
        </p:spPr>
        <p:txBody>
          <a:bodyPr wrap="square" lIns="0" tIns="0" rIns="0" bIns="0" rtlCol="0" anchor="ctr"/>
          <a:lstStyle/>
          <a:p>
            <a:pPr marL="0" indent="0" algn="l">
              <a:buNone/>
            </a:pPr>
            <a:r>
              <a:rPr lang="en-US" sz="1000" kern="0" spc="100" dirty="0">
                <a:solidFill>
                  <a:srgbClr val="6B5643"/>
                </a:solidFill>
                <a:latin typeface="Calibri" pitchFamily="34" charset="0"/>
                <a:ea typeface="Calibri" pitchFamily="34" charset="-122"/>
                <a:cs typeface="Calibri" pitchFamily="34" charset="-120"/>
              </a:rPr>
              <a:t>SUDOKU WEB APP · CI/CD PIPELINE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29184"/>
          </a:xfrm>
          <a:prstGeom prst="roundRect">
            <a:avLst>
              <a:gd name="adj" fmla="val 50000"/>
            </a:avLst>
          </a:prstGeom>
          <a:solidFill>
            <a:srgbClr val="3E5A72">
              <a:alpha val="40000"/>
            </a:srgbClr>
          </a:solidFill>
          <a:ln/>
        </p:spPr>
        <p:txBody>
          <a:bodyPr/>
          <a:p/>
        </p:txBody>
      </p:sp>
      <p:sp>
        <p:nvSpPr>
          <p:cNvPr id="3" name="Text 1"/>
          <p:cNvSpPr txBox="1"/>
          <p:nvPr/>
        </p:nvSpPr>
        <p:spPr>
          <a:xfrm>
            <a:off x="548640" y="457200"/>
            <a:ext cx="2377440" cy="329184"/>
          </a:xfrm>
          <a:prstGeom prst="rect">
            <a:avLst/>
          </a:prstGeom>
          <a:noFill/>
          <a:ln/>
        </p:spPr>
        <p:txBody>
          <a:bodyPr wrap="square" lIns="0" tIns="0" rIns="0" bIns="0" rtlCol="0" anchor="ctr"/>
          <a:lstStyle/>
          <a:p>
            <a:pPr marL="0" indent="0" algn="ctr">
              <a:buNone/>
            </a:pPr>
            <a:r>
              <a:rPr lang="en-US" sz="1100" b="1" kern="0" spc="120" dirty="0">
                <a:solidFill>
                  <a:srgbClr val="5B7C99"/>
                </a:solidFill>
                <a:latin typeface="Calibri" pitchFamily="34" charset="0"/>
                <a:ea typeface="Calibri" pitchFamily="34" charset="-122"/>
                <a:cs typeface="Calibri" pitchFamily="34" charset="-120"/>
              </a:rPr>
              <a:t>PHASE 5 · ANSIBLE</a:t>
            </a:r>
            <a:endParaRPr lang="en-US" sz="1100" dirty="0"/>
          </a:p>
        </p:txBody>
      </p:sp>
      <p:sp>
        <p:nvSpPr>
          <p:cNvPr id="4" name="Text 2"/>
          <p:cNvSpPr txBox="1"/>
          <p:nvPr/>
        </p:nvSpPr>
        <p:spPr>
          <a:xfrm>
            <a:off x="548640" y="841248"/>
            <a:ext cx="8686800" cy="502920"/>
          </a:xfrm>
          <a:prstGeom prst="rect">
            <a:avLst/>
          </a:prstGeom>
          <a:noFill/>
          <a:ln/>
        </p:spPr>
        <p:txBody>
          <a:bodyPr wrap="square" lIns="0" tIns="0" rIns="0" bIns="0" rtlCol="0" anchor="ctr"/>
          <a:lstStyle/>
          <a:p>
            <a:pPr marL="0" indent="0">
              <a:buNone/>
            </a:pPr>
            <a:r>
              <a:rPr lang="en-US" sz="2600" b="1" dirty="0">
                <a:solidFill>
                  <a:srgbClr val="3D2B1F"/>
                </a:solidFill>
                <a:latin typeface="Calibri" pitchFamily="34" charset="0"/>
                <a:ea typeface="Calibri" pitchFamily="34" charset="-122"/>
                <a:cs typeface="Calibri" pitchFamily="34" charset="-120"/>
              </a:rPr>
              <a:t>Configuration Management with Ansible</a:t>
            </a:r>
            <a:endParaRPr lang="en-US" sz="2600" dirty="0"/>
          </a:p>
        </p:txBody>
      </p:sp>
      <p:sp>
        <p:nvSpPr>
          <p:cNvPr id="5" name="Text 3"/>
          <p:cNvSpPr txBox="1"/>
          <p:nvPr/>
        </p:nvSpPr>
        <p:spPr>
          <a:xfrm>
            <a:off x="548640" y="1353312"/>
            <a:ext cx="8686800" cy="365760"/>
          </a:xfrm>
          <a:prstGeom prst="rect">
            <a:avLst/>
          </a:prstGeom>
          <a:noFill/>
          <a:ln/>
        </p:spPr>
        <p:txBody>
          <a:bodyPr wrap="square" lIns="0" tIns="0" rIns="0" bIns="0" rtlCol="0" anchor="ctr"/>
          <a:lstStyle/>
          <a:p>
            <a:pPr marL="0" indent="0">
              <a:buNone/>
            </a:pPr>
            <a:r>
              <a:rPr lang="en-US" sz="1450" i="1" dirty="0">
                <a:solidFill>
                  <a:srgbClr val="6B5643"/>
                </a:solidFill>
                <a:latin typeface="Calibri" pitchFamily="34" charset="0"/>
                <a:ea typeface="Calibri" pitchFamily="34" charset="-122"/>
                <a:cs typeface="Calibri" pitchFamily="34" charset="-120"/>
              </a:rPr>
              <a:t>Dynamic ConfigMap injection (ansible/)</a:t>
            </a:r>
            <a:endParaRPr lang="en-US" sz="1450" dirty="0"/>
          </a:p>
        </p:txBody>
      </p:sp>
      <p:pic>
        <p:nvPicPr>
          <p:cNvPr id="6" name="Image 0" descr="ic_ansible.png"/>
          <p:cNvPicPr>
            <a:picLocks noChangeAspect="1"/>
          </p:cNvPicPr>
          <p:nvPr/>
        </p:nvPicPr>
        <p:blipFill>
          <a:blip r:embed="rId3"/>
          <a:stretch>
            <a:fillRect/>
          </a:stretch>
        </p:blipFill>
        <p:spPr>
          <a:xfrm>
            <a:off x="11018520" y="502920"/>
            <a:ext cx="777240" cy="777240"/>
          </a:xfrm>
          <a:prstGeom prst="rect">
            <a:avLst/>
          </a:prstGeom>
        </p:spPr>
      </p:pic>
      <p:sp>
        <p:nvSpPr>
          <p:cNvPr id="7" name="Shape 4"/>
          <p:cNvSpPr/>
          <p:nvPr/>
        </p:nvSpPr>
        <p:spPr>
          <a:xfrm>
            <a:off x="548640" y="1874520"/>
            <a:ext cx="4160520" cy="4160520"/>
          </a:xfrm>
          <a:prstGeom prst="roundRect">
            <a:avLst>
              <a:gd name="adj" fmla="val 2198"/>
            </a:avLst>
          </a:prstGeom>
          <a:solidFill>
            <a:srgbClr val="EDE2CC"/>
          </a:solidFill>
          <a:ln w="12700">
            <a:solidFill>
              <a:srgbClr val="EDE2CC"/>
            </a:solidFill>
            <a:prstDash val="solid"/>
          </a:ln>
        </p:spPr>
        <p:txBody>
          <a:bodyPr/>
          <a:p/>
        </p:txBody>
      </p:sp>
      <p:sp>
        <p:nvSpPr>
          <p:cNvPr id="8" name="Text 5"/>
          <p:cNvSpPr txBox="1"/>
          <p:nvPr/>
        </p:nvSpPr>
        <p:spPr>
          <a:xfrm>
            <a:off x="777240" y="2057400"/>
            <a:ext cx="3703320" cy="274320"/>
          </a:xfrm>
          <a:prstGeom prst="rect">
            <a:avLst/>
          </a:prstGeom>
          <a:noFill/>
          <a:ln/>
        </p:spPr>
        <p:txBody>
          <a:bodyPr wrap="square" lIns="0" tIns="0" rIns="0" bIns="0" rtlCol="0" anchor="ctr"/>
          <a:lstStyle/>
          <a:p>
            <a:pPr marL="0" indent="0">
              <a:buNone/>
            </a:pPr>
            <a:r>
              <a:t>ANSIBLE PLAYBOOK (ansible/jenkins-setup.yml)</a:t>
            </a:r>
            <a:endParaRPr lang="en-US" sz="1100" dirty="0"/>
          </a:p>
        </p:txBody>
      </p:sp>
      <p:sp>
        <p:nvSpPr>
          <p:cNvPr id="9" name="Text 6"/>
          <p:cNvSpPr txBox="1"/>
          <p:nvPr/>
        </p:nvSpPr>
        <p:spPr>
          <a:xfrm>
            <a:off x="777240" y="2377440"/>
            <a:ext cx="3703320" cy="3520440"/>
          </a:xfrm>
          <a:prstGeom prst="rect">
            <a:avLst/>
          </a:prstGeom>
          <a:noFill/>
          <a:ln/>
        </p:spPr>
        <p:txBody>
          <a:bodyPr wrap="square" lIns="0" tIns="0" rIns="0" bIns="0" rtlCol="0" anchor="t"/>
          <a:lstStyle/>
          <a:p>
            <a:pPr marL="228600" indent="-228600">
              <a:lnSpc>
                <a:spcPct val="115000"/>
              </a:lnSpc>
              <a:spcAft>
                <a:spcPts val="1200"/>
              </a:spcAft>
              <a:buSzPct val="100000"/>
              <a:buChar char="•"/>
            </a:pPr>
            <a:r>
              <a:t>Uses the kubernetes.core.k8s module to apply the todo-config ConfigMap.</a:t>
            </a:r>
            <a:endParaRPr lang="en-US" sz="1300" dirty="0"/>
          </a:p>
          <a:p>
            <a:pPr marL="228600" indent="-228600">
              <a:lnSpc>
                <a:spcPct val="115000"/>
              </a:lnSpc>
              <a:spcAft>
                <a:spcPts val="1200"/>
              </a:spcAft>
              <a:buSzPct val="100000"/>
              <a:buChar char="•"/>
            </a:pPr>
            <a:r>
              <a:t>Runs inside its own todo-ansible:1.0 container for full reproducibility.</a:t>
            </a:r>
            <a:endParaRPr lang="en-US" sz="1300" dirty="0"/>
          </a:p>
          <a:p>
            <a:pPr marL="228600" indent="-228600">
              <a:lnSpc>
                <a:spcPct val="115000"/>
              </a:lnSpc>
              <a:spcAft>
                <a:spcPts val="1200"/>
              </a:spcAft>
              <a:buSzPct val="100000"/>
              <a:buChar char="•"/>
            </a:pPr>
            <a:r>
              <a:t>Kubeconfig is rewritten to target host.docker.internal so containerized Ansible can reach the Minikube API server.</a:t>
            </a:r>
            <a:endParaRPr lang="en-US" sz="1300" dirty="0"/>
          </a:p>
          <a:p>
            <a:pPr marL="228600" indent="-228600">
              <a:lnSpc>
                <a:spcPct val="115000"/>
              </a:lnSpc>
              <a:spcAft>
                <a:spcPts val="1200"/>
              </a:spcAft>
              <a:buSzPct val="100000"/>
              <a:buChar char="•"/>
            </a:pPr>
            <a:r>
              <a:rPr lang="en-US" sz="1300" dirty="0">
                <a:solidFill>
                  <a:srgbClr val="6B5643"/>
                </a:solidFill>
                <a:latin typeface="Calibri" pitchFamily="34" charset="0"/>
                <a:ea typeface="Calibri" pitchFamily="34" charset="-122"/>
                <a:cs typeface="Calibri" pitchFamily="34" charset="-120"/>
              </a:rPr>
              <a:t>Decouples runtime configuration from the application image entirely.</a:t>
            </a:r>
            <a:endParaRPr lang="en-US" sz="1300" dirty="0"/>
          </a:p>
        </p:txBody>
      </p:sp>
      <p:sp>
        <p:nvSpPr>
          <p:cNvPr id="10" name="Text 7"/>
          <p:cNvSpPr txBox="1"/>
          <p:nvPr/>
        </p:nvSpPr>
        <p:spPr>
          <a:xfrm>
            <a:off x="5029200" y="1874520"/>
            <a:ext cx="6613855" cy="274320"/>
          </a:xfrm>
          <a:prstGeom prst="rect">
            <a:avLst/>
          </a:prstGeom>
          <a:noFill/>
          <a:ln/>
        </p:spPr>
        <p:txBody>
          <a:bodyPr wrap="square" lIns="0" tIns="0" rIns="0" bIns="0" rtlCol="0" anchor="ctr"/>
          <a:lstStyle/>
          <a:p>
            <a:pPr marL="0" indent="0">
              <a:buNone/>
            </a:pPr>
            <a:r>
              <a:t>TERMINAL — RUN PLAYBOOK</a:t>
            </a:r>
            <a:endParaRPr lang="en-US" sz="1100" dirty="0"/>
          </a:p>
        </p:txBody>
      </p:sp>
      <p:sp>
        <p:nvSpPr>
          <p:cNvPr id="11" name="Shape 8"/>
          <p:cNvSpPr/>
          <p:nvPr/>
        </p:nvSpPr>
        <p:spPr>
          <a:xfrm>
            <a:off x="5029200" y="2194560"/>
            <a:ext cx="6613855" cy="3840480"/>
          </a:xfrm>
          <a:prstGeom prst="roundRect">
            <a:avLst>
              <a:gd name="adj" fmla="val 1905"/>
            </a:avLst>
          </a:prstGeom>
          <a:solidFill>
            <a:srgbClr val="F5EEE1"/>
          </a:solidFill>
          <a:ln w="12700">
            <a:solidFill>
              <a:srgbClr val="6B5643"/>
            </a:solidFill>
            <a:prstDash val="solid"/>
          </a:ln>
        </p:spPr>
        <p:txBody>
          <a:bodyPr/>
          <a:p/>
        </p:txBody>
      </p:sp>
      <p:sp>
        <p:nvSpPr>
          <p:cNvPr id="12" name="Shape 9"/>
          <p:cNvSpPr/>
          <p:nvPr/>
        </p:nvSpPr>
        <p:spPr>
          <a:xfrm>
            <a:off x="5193792" y="2322576"/>
            <a:ext cx="109728" cy="109728"/>
          </a:xfrm>
          <a:prstGeom prst="ellipse">
            <a:avLst/>
          </a:prstGeom>
          <a:solidFill>
            <a:srgbClr val="EF4444"/>
          </a:solidFill>
          <a:ln/>
        </p:spPr>
        <p:txBody>
          <a:bodyPr/>
          <a:p/>
        </p:txBody>
      </p:sp>
      <p:sp>
        <p:nvSpPr>
          <p:cNvPr id="13" name="Shape 10"/>
          <p:cNvSpPr/>
          <p:nvPr/>
        </p:nvSpPr>
        <p:spPr>
          <a:xfrm>
            <a:off x="5394960" y="2322576"/>
            <a:ext cx="109728" cy="109728"/>
          </a:xfrm>
          <a:prstGeom prst="ellipse">
            <a:avLst/>
          </a:prstGeom>
          <a:solidFill>
            <a:srgbClr val="F59E0B"/>
          </a:solidFill>
          <a:ln/>
        </p:spPr>
        <p:txBody>
          <a:bodyPr/>
          <a:p/>
        </p:txBody>
      </p:sp>
      <p:sp>
        <p:nvSpPr>
          <p:cNvPr id="14" name="Shape 11"/>
          <p:cNvSpPr/>
          <p:nvPr/>
        </p:nvSpPr>
        <p:spPr>
          <a:xfrm>
            <a:off x="5596128" y="2322576"/>
            <a:ext cx="109728" cy="109728"/>
          </a:xfrm>
          <a:prstGeom prst="ellipse">
            <a:avLst/>
          </a:prstGeom>
          <a:solidFill>
            <a:srgbClr val="22C55E"/>
          </a:solidFill>
          <a:ln/>
        </p:spPr>
        <p:txBody>
          <a:bodyPr/>
          <a:p/>
        </p:txBody>
      </p:sp>
      <p:sp>
        <p:nvSpPr>
          <p:cNvPr id="15" name="Text 12"/>
          <p:cNvSpPr txBox="1"/>
          <p:nvPr/>
        </p:nvSpPr>
        <p:spPr>
          <a:xfrm>
            <a:off x="5230368" y="2523744"/>
            <a:ext cx="6211519" cy="3383280"/>
          </a:xfrm>
          <a:prstGeom prst="rect">
            <a:avLst/>
          </a:prstGeom>
          <a:noFill/>
          <a:ln/>
        </p:spPr>
        <p:txBody>
          <a:bodyPr wrap="square" lIns="0" tIns="0" rIns="0" bIns="0" rtlCol="0" anchor="t"/>
          <a:lstStyle/>
          <a:p>
            <a:pPr marL="0" indent="0" algn="l">
              <a:lnSpc>
                <a:spcPct val="110000"/>
              </a:lnSpc>
              <a:buNone/>
            </a:pPr>
            <a:r>
              <a:rPr lang="en-US" sz="1100" dirty="0">
                <a:solidFill>
                  <a:srgbClr val="3E5A72"/>
                </a:solidFill>
                <a:latin typeface="Consolas" pitchFamily="34" charset="0"/>
                <a:ea typeface="Consolas" pitchFamily="34" charset="-122"/>
                <a:cs typeface="Consolas" pitchFamily="34" charset="-120"/>
              </a:rPr>
              <a:t># 1. Point kubeconfig at host.docker.internal</a:t>
            </a:r>
            <a:endParaRPr lang="en-US" sz="1100" dirty="0"/>
          </a:p>
          <a:p>
            <a:pPr marL="0" indent="0" algn="l">
              <a:lnSpc>
                <a:spcPct val="110000"/>
              </a:lnSpc>
              <a:buNone/>
            </a:pPr>
            <a:r>
              <a:t># 1. Inspect inventory file</a:t>
            </a:r>
            <a:br/>
            <a:r>
              <a:t>cat ansible/inventory.ini</a:t>
            </a:r>
            <a:br/>
            <a:br/>
            <a:r>
              <a:t># 2. Run Ansible playbook to provision Jenkins</a:t>
            </a:r>
            <a:br/>
            <a:r>
              <a:t>ansible-playbook -i ansible/inventory.ini \</a:t>
            </a:r>
            <a:br/>
            <a:r>
              <a:t>  ansible/jenkins-setup.yml</a:t>
            </a:r>
            <a:br/>
            <a:br/>
            <a:r>
              <a:t># 3. Retrieve Jenkins initial admin password</a:t>
            </a:r>
            <a:br/>
            <a:r>
              <a:t>docker exec -it jenkins \</a:t>
            </a:r>
            <a:br/>
            <a:r>
              <a:t>  cat /var/jenkins_home/secrets/initialAdminPassword</a:t>
            </a:r>
            <a:endParaRPr lang="en-US" sz="1100" dirty="0"/>
          </a:p>
          <a:p>
            <a:pPr marL="0" indent="0" algn="l">
              <a:lnSpc>
                <a:spcPct val="110000"/>
              </a:lnSpc>
              <a:buNone/>
            </a:pPr>
            <a:r>
              <a:t>  --name minikube-cluster | Out-String</a:t>
            </a:r>
            <a:endParaRPr lang="en-US" sz="1100" dirty="0"/>
          </a:p>
          <a:p>
            <a:pPr marL="0" indent="0" algn="l">
              <a:lnSpc>
                <a:spcPct val="110000"/>
              </a:lnSpc>
              <a:buNone/>
            </a:pPr>
            <a:r>
              <a:t># 1. Inspect inventory file</a:t>
            </a:r>
            <a:br/>
            <a:r>
              <a:t>cat ansible/inventory.ini</a:t>
            </a:r>
            <a:br/>
            <a:br/>
            <a:r>
              <a:t># 2. Run Ansible playbook to provision Jenkins</a:t>
            </a:r>
            <a:br/>
            <a:r>
              <a:t>ansible-playbook -i ansible/inventory.ini \</a:t>
            </a:r>
            <a:br/>
            <a:r>
              <a:t>  ansible/jenkins-setup.yml</a:t>
            </a:r>
            <a:br/>
            <a:br/>
            <a:r>
              <a:t># 3. Retrieve Jenkins initial admin password</a:t>
            </a:r>
            <a:br/>
            <a:r>
              <a:t>docker exec -it jenkins \</a:t>
            </a:r>
            <a:br/>
            <a:r>
              <a:t>  cat /var/jenkins_home/secrets/initialAdminPassword</a:t>
            </a:r>
            <a:endParaRPr lang="en-US" sz="1100" dirty="0"/>
          </a:p>
          <a:p>
            <a:pPr marL="0" indent="0" algn="l">
              <a:lnSpc>
                <a:spcPct val="110000"/>
              </a:lnSpc>
              <a:buNone/>
            </a:pPr>
            <a:r>
              <a:rPr lang="en-US" sz="1100" dirty="0">
                <a:solidFill>
                  <a:srgbClr val="3E5A72"/>
                </a:solidFill>
                <a:latin typeface="Consolas" pitchFamily="34" charset="0"/>
                <a:ea typeface="Consolas" pitchFamily="34" charset="-122"/>
                <a:cs typeface="Consolas" pitchFamily="34" charset="-120"/>
              </a:rPr>
              <a:t>  'https://host.docker.internal:'</a:t>
            </a:r>
            <a:endParaRPr lang="en-US" sz="1100" dirty="0"/>
          </a:p>
          <a:p>
            <a:pPr marL="0" indent="0" algn="l">
              <a:lnSpc>
                <a:spcPct val="110000"/>
              </a:lnSpc>
              <a:buNone/>
            </a:pPr>
            <a:r>
              <a:t># 1. Inspect inventory file</a:t>
            </a:r>
            <a:br/>
            <a:r>
              <a:t>cat ansible/inventory.ini</a:t>
            </a:r>
            <a:br/>
            <a:br/>
            <a:r>
              <a:t># 2. Run Ansible playbook to provision Jenkins</a:t>
            </a:r>
            <a:br/>
            <a:r>
              <a:t>ansible-playbook -i ansible/inventory.ini \</a:t>
            </a:r>
            <a:br/>
            <a:r>
              <a:t>  ansible/jenkins-setup.yml</a:t>
            </a:r>
            <a:br/>
            <a:br/>
            <a:r>
              <a:t># 3. Retrieve Jenkins initial admin password</a:t>
            </a:r>
            <a:br/>
            <a:r>
              <a:t>docker exec -it jenkins \</a:t>
            </a:r>
            <a:br/>
            <a:r>
              <a:t>  cat /var/jenkins_home/secrets/initialAdminPassword</a:t>
            </a:r>
            <a:endParaRPr lang="en-US" sz="1100" dirty="0"/>
          </a:p>
          <a:p>
            <a:pPr marL="0" indent="0" algn="l">
              <a:lnSpc>
                <a:spcPct val="110000"/>
              </a:lnSpc>
              <a:buNone/>
            </a:pPr>
            <a:r>
              <a:rPr lang="en-US" sz="1100" dirty="0">
                <a:solidFill>
                  <a:srgbClr val="3E5A72"/>
                </a:solidFill>
                <a:latin typeface="Consolas" pitchFamily="34" charset="0"/>
                <a:ea typeface="Consolas" pitchFamily="34" charset="-122"/>
                <a:cs typeface="Consolas" pitchFamily="34" charset="-120"/>
              </a:rPr>
              <a:t>  'ansible/ansible-kubeconfig' -Value $kc</a:t>
            </a:r>
            <a:endParaRPr lang="en-US" sz="1100" dirty="0"/>
          </a:p>
          <a:p>
            <a:pPr marL="0" indent="0" algn="l">
              <a:lnSpc>
                <a:spcPct val="110000"/>
              </a:lnSpc>
              <a:buNone/>
            </a:pPr>
            <a:endParaRPr lang="en-US" sz="1100" dirty="0"/>
          </a:p>
          <a:p>
            <a:pPr marL="0" indent="0" algn="l">
              <a:lnSpc>
                <a:spcPct val="110000"/>
              </a:lnSpc>
              <a:buNone/>
            </a:pPr>
            <a:r>
              <a:rPr lang="en-US" sz="1100" dirty="0">
                <a:solidFill>
                  <a:srgbClr val="3E5A72"/>
                </a:solidFill>
                <a:latin typeface="Consolas" pitchFamily="34" charset="0"/>
                <a:ea typeface="Consolas" pitchFamily="34" charset="-122"/>
                <a:cs typeface="Consolas" pitchFamily="34" charset="-120"/>
              </a:rPr>
              <a:t># 2. Run the playbook in a container</a:t>
            </a:r>
            <a:endParaRPr lang="en-US" sz="1100" dirty="0"/>
          </a:p>
          <a:p>
            <a:pPr marL="0" indent="0" algn="l">
              <a:lnSpc>
                <a:spcPct val="110000"/>
              </a:lnSpc>
              <a:buNone/>
            </a:pPr>
            <a:r>
              <a:rPr lang="en-US" sz="1100" dirty="0">
                <a:solidFill>
                  <a:srgbClr val="3E5A72"/>
                </a:solidFill>
                <a:latin typeface="Consolas" pitchFamily="34" charset="0"/>
                <a:ea typeface="Consolas" pitchFamily="34" charset="-122"/>
                <a:cs typeface="Consolas" pitchFamily="34" charset="-120"/>
              </a:rPr>
              <a:t>docker run --rm `</a:t>
            </a:r>
            <a:endParaRPr lang="en-US" sz="1100" dirty="0"/>
          </a:p>
          <a:p>
            <a:pPr marL="0" indent="0" algn="l">
              <a:lnSpc>
                <a:spcPct val="110000"/>
              </a:lnSpc>
              <a:buNone/>
            </a:pPr>
            <a:r>
              <a:rPr lang="en-US" sz="1100" dirty="0">
                <a:solidFill>
                  <a:srgbClr val="3E5A72"/>
                </a:solidFill>
                <a:latin typeface="Consolas" pitchFamily="34" charset="0"/>
                <a:ea typeface="Consolas" pitchFamily="34" charset="-122"/>
                <a:cs typeface="Consolas" pitchFamily="34" charset="-120"/>
              </a:rPr>
              <a:t>  -v "${PWD}/ansible/ansible-kubeconfig:\</a:t>
            </a:r>
            <a:endParaRPr lang="en-US" sz="1100" dirty="0"/>
          </a:p>
          <a:p>
            <a:pPr marL="0" indent="0" algn="l">
              <a:lnSpc>
                <a:spcPct val="110000"/>
              </a:lnSpc>
              <a:buNone/>
            </a:pPr>
            <a:r>
              <a:rPr lang="en-US" sz="1100" dirty="0">
                <a:solidFill>
                  <a:srgbClr val="3E5A72"/>
                </a:solidFill>
                <a:latin typeface="Consolas" pitchFamily="34" charset="0"/>
                <a:ea typeface="Consolas" pitchFamily="34" charset="-122"/>
                <a:cs typeface="Consolas" pitchFamily="34" charset="-120"/>
              </a:rPr>
              <a:t>/root/.kube/config" `</a:t>
            </a:r>
            <a:endParaRPr lang="en-US" sz="1100" dirty="0"/>
          </a:p>
          <a:p>
            <a:pPr marL="0" indent="0" algn="l">
              <a:lnSpc>
                <a:spcPct val="110000"/>
              </a:lnSpc>
              <a:buNone/>
            </a:pPr>
            <a:r>
              <a:rPr lang="en-US" sz="1100" dirty="0">
                <a:solidFill>
                  <a:srgbClr val="3E5A72"/>
                </a:solidFill>
                <a:latin typeface="Consolas" pitchFamily="34" charset="0"/>
                <a:ea typeface="Consolas" pitchFamily="34" charset="-122"/>
                <a:cs typeface="Consolas" pitchFamily="34" charset="-120"/>
              </a:rPr>
              <a:t>  -v "${PWD}/ansible:/ansible" `</a:t>
            </a:r>
            <a:endParaRPr lang="en-US" sz="1100" dirty="0"/>
          </a:p>
          <a:p>
            <a:pPr marL="0" indent="0" algn="l">
              <a:lnSpc>
                <a:spcPct val="110000"/>
              </a:lnSpc>
              <a:buNone/>
            </a:pPr>
            <a:r>
              <a:t>  todo-ansible:1.0 \</a:t>
            </a:r>
            <a:endParaRPr lang="en-US" sz="1100" dirty="0"/>
          </a:p>
          <a:p>
            <a:pPr marL="0" indent="0" algn="l">
              <a:lnSpc>
                <a:spcPct val="110000"/>
              </a:lnSpc>
              <a:buNone/>
            </a:pPr>
            <a:r>
              <a:t>  ansible-playbook /ansible/jenkins-setup.yml</a:t>
            </a:r>
            <a:endParaRPr lang="en-US" sz="1100" dirty="0"/>
          </a:p>
        </p:txBody>
      </p:sp>
      <p:sp>
        <p:nvSpPr>
          <p:cNvPr id="16" name="Text 13"/>
          <p:cNvSpPr txBox="1"/>
          <p:nvPr/>
        </p:nvSpPr>
        <p:spPr>
          <a:xfrm>
            <a:off x="11002975" y="6400800"/>
            <a:ext cx="914400" cy="274320"/>
          </a:xfrm>
          <a:prstGeom prst="rect">
            <a:avLst/>
          </a:prstGeom>
          <a:noFill/>
          <a:ln/>
        </p:spPr>
        <p:txBody>
          <a:bodyPr wrap="square" lIns="0" tIns="0" rIns="0" bIns="0" rtlCol="0" anchor="ctr"/>
          <a:lstStyle/>
          <a:p>
            <a:pPr marL="0" indent="0" algn="r">
              <a:buNone/>
            </a:pPr>
            <a:r>
              <a:rPr lang="en-US" sz="1000" dirty="0">
                <a:solidFill>
                  <a:srgbClr val="6B5643"/>
                </a:solidFill>
                <a:latin typeface="Calibri" pitchFamily="34" charset="0"/>
                <a:ea typeface="Calibri" pitchFamily="34" charset="-122"/>
                <a:cs typeface="Calibri" pitchFamily="34" charset="-120"/>
              </a:rPr>
              <a:t>08 / 13</a:t>
            </a:r>
            <a:endParaRPr lang="en-US" sz="1000" dirty="0"/>
          </a:p>
        </p:txBody>
      </p:sp>
      <p:sp>
        <p:nvSpPr>
          <p:cNvPr id="17" name="Text 14"/>
          <p:cNvSpPr txBox="1"/>
          <p:nvPr/>
        </p:nvSpPr>
        <p:spPr>
          <a:xfrm>
            <a:off x="457200" y="6400800"/>
            <a:ext cx="5486400" cy="274320"/>
          </a:xfrm>
          <a:prstGeom prst="rect">
            <a:avLst/>
          </a:prstGeom>
          <a:noFill/>
          <a:ln/>
        </p:spPr>
        <p:txBody>
          <a:bodyPr wrap="square" lIns="0" tIns="0" rIns="0" bIns="0" rtlCol="0" anchor="ctr"/>
          <a:lstStyle/>
          <a:p>
            <a:pPr marL="0" indent="0" algn="l">
              <a:buNone/>
            </a:pPr>
            <a:r>
              <a:rPr lang="en-US" sz="1000" kern="0" spc="100" dirty="0">
                <a:solidFill>
                  <a:srgbClr val="6B5643"/>
                </a:solidFill>
                <a:latin typeface="Calibri" pitchFamily="34" charset="0"/>
                <a:ea typeface="Calibri" pitchFamily="34" charset="-122"/>
                <a:cs typeface="Calibri" pitchFamily="34" charset="-120"/>
              </a:rPr>
              <a:t>SUDOKU WEB APP · CI/CD PIPELINE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29184"/>
          </a:xfrm>
          <a:prstGeom prst="roundRect">
            <a:avLst>
              <a:gd name="adj" fmla="val 50000"/>
            </a:avLst>
          </a:prstGeom>
          <a:solidFill>
            <a:srgbClr val="3E5A72">
              <a:alpha val="40000"/>
            </a:srgbClr>
          </a:solidFill>
          <a:ln/>
        </p:spPr>
        <p:txBody>
          <a:bodyPr/>
          <a:p/>
        </p:txBody>
      </p:sp>
      <p:sp>
        <p:nvSpPr>
          <p:cNvPr id="3" name="Text 1"/>
          <p:cNvSpPr txBox="1"/>
          <p:nvPr/>
        </p:nvSpPr>
        <p:spPr>
          <a:xfrm>
            <a:off x="548640" y="457200"/>
            <a:ext cx="2377440" cy="329184"/>
          </a:xfrm>
          <a:prstGeom prst="rect">
            <a:avLst/>
          </a:prstGeom>
          <a:noFill/>
          <a:ln/>
        </p:spPr>
        <p:txBody>
          <a:bodyPr wrap="square" lIns="0" tIns="0" rIns="0" bIns="0" rtlCol="0" anchor="ctr"/>
          <a:lstStyle/>
          <a:p>
            <a:pPr marL="0" indent="0" algn="ctr">
              <a:buNone/>
            </a:pPr>
            <a:r>
              <a:rPr lang="en-US" sz="1100" b="1" kern="0" spc="120" dirty="0">
                <a:solidFill>
                  <a:srgbClr val="5B7C99"/>
                </a:solidFill>
                <a:latin typeface="Calibri" pitchFamily="34" charset="0"/>
                <a:ea typeface="Calibri" pitchFamily="34" charset="-122"/>
                <a:cs typeface="Calibri" pitchFamily="34" charset="-120"/>
              </a:rPr>
              <a:t>PHASE 6 · JENKINS</a:t>
            </a:r>
            <a:endParaRPr lang="en-US" sz="1100" dirty="0"/>
          </a:p>
        </p:txBody>
      </p:sp>
      <p:sp>
        <p:nvSpPr>
          <p:cNvPr id="4" name="Text 2"/>
          <p:cNvSpPr txBox="1"/>
          <p:nvPr/>
        </p:nvSpPr>
        <p:spPr>
          <a:xfrm>
            <a:off x="548640" y="841248"/>
            <a:ext cx="8686800" cy="502920"/>
          </a:xfrm>
          <a:prstGeom prst="rect">
            <a:avLst/>
          </a:prstGeom>
          <a:noFill/>
          <a:ln/>
        </p:spPr>
        <p:txBody>
          <a:bodyPr wrap="square" lIns="0" tIns="0" rIns="0" bIns="0" rtlCol="0" anchor="ctr"/>
          <a:lstStyle/>
          <a:p>
            <a:pPr marL="0" indent="0">
              <a:buNone/>
            </a:pPr>
            <a:r>
              <a:rPr lang="en-US" sz="2600" b="1" dirty="0">
                <a:solidFill>
                  <a:srgbClr val="3D2B1F"/>
                </a:solidFill>
                <a:latin typeface="Calibri" pitchFamily="34" charset="0"/>
                <a:ea typeface="Calibri" pitchFamily="34" charset="-122"/>
                <a:cs typeface="Calibri" pitchFamily="34" charset="-120"/>
              </a:rPr>
              <a:t>Continuous Integration &amp; Delivery</a:t>
            </a:r>
            <a:endParaRPr lang="en-US" sz="2600" dirty="0"/>
          </a:p>
        </p:txBody>
      </p:sp>
      <p:sp>
        <p:nvSpPr>
          <p:cNvPr id="5" name="Text 3"/>
          <p:cNvSpPr txBox="1"/>
          <p:nvPr/>
        </p:nvSpPr>
        <p:spPr>
          <a:xfrm>
            <a:off x="548640" y="1353312"/>
            <a:ext cx="8686800" cy="365760"/>
          </a:xfrm>
          <a:prstGeom prst="rect">
            <a:avLst/>
          </a:prstGeom>
          <a:noFill/>
          <a:ln/>
        </p:spPr>
        <p:txBody>
          <a:bodyPr wrap="square" lIns="0" tIns="0" rIns="0" bIns="0" rtlCol="0" anchor="ctr"/>
          <a:lstStyle/>
          <a:p>
            <a:pPr marL="0" indent="0">
              <a:buNone/>
            </a:pPr>
            <a:r>
              <a:rPr lang="en-US" sz="1450" i="1" dirty="0">
                <a:solidFill>
                  <a:srgbClr val="6B5643"/>
                </a:solidFill>
                <a:latin typeface="Calibri" pitchFamily="34" charset="0"/>
                <a:ea typeface="Calibri" pitchFamily="34" charset="-122"/>
                <a:cs typeface="Calibri" pitchFamily="34" charset="-120"/>
              </a:rPr>
              <a:t>Declarative pipeline automation (Jenkinsfile)</a:t>
            </a:r>
            <a:endParaRPr lang="en-US" sz="1450" dirty="0"/>
          </a:p>
        </p:txBody>
      </p:sp>
      <p:pic>
        <p:nvPicPr>
          <p:cNvPr id="6" name="Image 0" descr="ic_jenkins.png"/>
          <p:cNvPicPr>
            <a:picLocks noChangeAspect="1"/>
          </p:cNvPicPr>
          <p:nvPr/>
        </p:nvPicPr>
        <p:blipFill>
          <a:blip r:embed="rId3"/>
          <a:stretch>
            <a:fillRect/>
          </a:stretch>
        </p:blipFill>
        <p:spPr>
          <a:xfrm>
            <a:off x="11018520" y="502920"/>
            <a:ext cx="777240" cy="777240"/>
          </a:xfrm>
          <a:prstGeom prst="rect">
            <a:avLst/>
          </a:prstGeom>
        </p:spPr>
      </p:pic>
      <p:sp>
        <p:nvSpPr>
          <p:cNvPr id="7" name="Text 4"/>
          <p:cNvSpPr txBox="1"/>
          <p:nvPr/>
        </p:nvSpPr>
        <p:spPr>
          <a:xfrm>
            <a:off x="548640" y="1600200"/>
            <a:ext cx="4297680" cy="274320"/>
          </a:xfrm>
          <a:prstGeom prst="rect">
            <a:avLst/>
          </a:prstGeom>
          <a:noFill/>
          <a:ln/>
        </p:spPr>
        <p:txBody>
          <a:bodyPr wrap="square" lIns="0" tIns="0" rIns="0" bIns="0" rtlCol="0" anchor="ctr"/>
          <a:lstStyle/>
          <a:p>
            <a:pPr marL="0" indent="0">
              <a:buNone/>
            </a:pPr>
            <a:r>
              <a:rPr lang="en-US" sz="1100" b="1" kern="0" spc="100" dirty="0">
                <a:solidFill>
                  <a:srgbClr val="5B7C99"/>
                </a:solidFill>
                <a:latin typeface="Calibri" pitchFamily="34" charset="0"/>
                <a:ea typeface="Calibri" pitchFamily="34" charset="-122"/>
                <a:cs typeface="Calibri" pitchFamily="34" charset="-120"/>
              </a:rPr>
              <a:t>7 PIPELINE STAGES</a:t>
            </a:r>
            <a:endParaRPr lang="en-US" sz="1100" dirty="0"/>
          </a:p>
        </p:txBody>
      </p:sp>
      <p:sp>
        <p:nvSpPr>
          <p:cNvPr id="8" name="Shape 5"/>
          <p:cNvSpPr/>
          <p:nvPr/>
        </p:nvSpPr>
        <p:spPr>
          <a:xfrm>
            <a:off x="548640" y="2020824"/>
            <a:ext cx="384048" cy="384048"/>
          </a:xfrm>
          <a:prstGeom prst="ellipse">
            <a:avLst/>
          </a:prstGeom>
          <a:solidFill>
            <a:srgbClr val="5B7C99"/>
          </a:solidFill>
          <a:ln/>
        </p:spPr>
        <p:txBody>
          <a:bodyPr/>
          <a:p/>
        </p:txBody>
      </p:sp>
      <p:sp>
        <p:nvSpPr>
          <p:cNvPr id="9" name="Text 6"/>
          <p:cNvSpPr txBox="1"/>
          <p:nvPr/>
        </p:nvSpPr>
        <p:spPr>
          <a:xfrm>
            <a:off x="548640" y="2020824"/>
            <a:ext cx="384048" cy="384048"/>
          </a:xfrm>
          <a:prstGeom prst="rect">
            <a:avLst/>
          </a:prstGeom>
          <a:noFill/>
          <a:ln/>
        </p:spPr>
        <p:txBody>
          <a:bodyPr wrap="square" lIns="0" tIns="0" rIns="0" bIns="0" rtlCol="0" anchor="ctr"/>
          <a:lstStyle/>
          <a:p>
            <a:pPr marL="0" indent="0" algn="ctr">
              <a:buNone/>
            </a:pPr>
            <a:r>
              <a:rPr lang="en-US" sz="1400" b="1" dirty="0">
                <a:solidFill>
                  <a:srgbClr val="3D2B1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1078992" y="1965960"/>
            <a:ext cx="3749040" cy="493776"/>
          </a:xfrm>
          <a:prstGeom prst="rect">
            <a:avLst/>
          </a:prstGeom>
          <a:noFill/>
          <a:ln/>
        </p:spPr>
        <p:txBody>
          <a:bodyPr wrap="square" lIns="0" tIns="0" rIns="0" bIns="0" rtlCol="0" anchor="ctr"/>
          <a:lstStyle/>
          <a:p>
            <a:pPr marL="0" indent="0">
              <a:buNone/>
            </a:pPr>
            <a:r>
              <a:rPr lang="en-US" sz="1400" b="1" dirty="0">
                <a:solidFill>
                  <a:srgbClr val="3D2B1F"/>
                </a:solidFill>
                <a:latin typeface="Calibri" pitchFamily="34" charset="0"/>
                <a:ea typeface="Calibri" pitchFamily="34" charset="-122"/>
                <a:cs typeface="Calibri" pitchFamily="34" charset="-120"/>
              </a:rPr>
              <a:t>Checkout</a:t>
            </a:r>
            <a:endParaRPr lang="en-US" sz="1400" dirty="0"/>
          </a:p>
        </p:txBody>
      </p:sp>
      <p:sp>
        <p:nvSpPr>
          <p:cNvPr id="11" name="Shape 8"/>
          <p:cNvSpPr/>
          <p:nvPr/>
        </p:nvSpPr>
        <p:spPr>
          <a:xfrm>
            <a:off x="740664" y="2423160"/>
            <a:ext cx="0" cy="544068"/>
          </a:xfrm>
          <a:prstGeom prst="line">
            <a:avLst/>
          </a:prstGeom>
          <a:noFill/>
          <a:ln w="19050">
            <a:solidFill>
              <a:srgbClr val="3E5A72"/>
            </a:solidFill>
            <a:prstDash val="dash"/>
          </a:ln>
        </p:spPr>
        <p:txBody>
          <a:bodyPr/>
          <a:p/>
        </p:txBody>
      </p:sp>
      <p:sp>
        <p:nvSpPr>
          <p:cNvPr id="12" name="Shape 9"/>
          <p:cNvSpPr/>
          <p:nvPr/>
        </p:nvSpPr>
        <p:spPr>
          <a:xfrm>
            <a:off x="548640" y="2583180"/>
            <a:ext cx="384048" cy="384048"/>
          </a:xfrm>
          <a:prstGeom prst="ellipse">
            <a:avLst/>
          </a:prstGeom>
          <a:solidFill>
            <a:srgbClr val="5B7C99"/>
          </a:solidFill>
          <a:ln/>
        </p:spPr>
        <p:txBody>
          <a:bodyPr/>
          <a:p/>
        </p:txBody>
      </p:sp>
      <p:sp>
        <p:nvSpPr>
          <p:cNvPr id="13" name="Text 10"/>
          <p:cNvSpPr txBox="1"/>
          <p:nvPr/>
        </p:nvSpPr>
        <p:spPr>
          <a:xfrm>
            <a:off x="548640" y="2583180"/>
            <a:ext cx="384048" cy="384048"/>
          </a:xfrm>
          <a:prstGeom prst="rect">
            <a:avLst/>
          </a:prstGeom>
          <a:noFill/>
          <a:ln/>
        </p:spPr>
        <p:txBody>
          <a:bodyPr wrap="square" lIns="0" tIns="0" rIns="0" bIns="0" rtlCol="0" anchor="ctr"/>
          <a:lstStyle/>
          <a:p>
            <a:pPr marL="0" indent="0" algn="ctr">
              <a:buNone/>
            </a:pPr>
            <a:r>
              <a:rPr lang="en-US" sz="1400" b="1" dirty="0">
                <a:solidFill>
                  <a:srgbClr val="3D2B1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1078992" y="2528316"/>
            <a:ext cx="3749040" cy="493776"/>
          </a:xfrm>
          <a:prstGeom prst="rect">
            <a:avLst/>
          </a:prstGeom>
          <a:noFill/>
          <a:ln/>
        </p:spPr>
        <p:txBody>
          <a:bodyPr wrap="square" lIns="0" tIns="0" rIns="0" bIns="0" rtlCol="0" anchor="ctr"/>
          <a:lstStyle/>
          <a:p>
            <a:pPr marL="0" indent="0">
              <a:buNone/>
            </a:pPr>
            <a:r>
              <a:rPr lang="en-US" sz="1400" b="1" dirty="0">
                <a:solidFill>
                  <a:srgbClr val="3D2B1F"/>
                </a:solidFill>
                <a:latin typeface="Calibri" pitchFamily="34" charset="0"/>
                <a:ea typeface="Calibri" pitchFamily="34" charset="-122"/>
                <a:cs typeface="Calibri" pitchFamily="34" charset="-120"/>
              </a:rPr>
              <a:t>Terraform Apply</a:t>
            </a:r>
            <a:endParaRPr lang="en-US" sz="1400" dirty="0"/>
          </a:p>
        </p:txBody>
      </p:sp>
      <p:sp>
        <p:nvSpPr>
          <p:cNvPr id="15" name="Shape 12"/>
          <p:cNvSpPr/>
          <p:nvPr/>
        </p:nvSpPr>
        <p:spPr>
          <a:xfrm>
            <a:off x="740664" y="2985516"/>
            <a:ext cx="0" cy="544068"/>
          </a:xfrm>
          <a:prstGeom prst="line">
            <a:avLst/>
          </a:prstGeom>
          <a:noFill/>
          <a:ln w="19050">
            <a:solidFill>
              <a:srgbClr val="3E5A72"/>
            </a:solidFill>
            <a:prstDash val="dash"/>
          </a:ln>
        </p:spPr>
        <p:txBody>
          <a:bodyPr/>
          <a:p/>
        </p:txBody>
      </p:sp>
      <p:sp>
        <p:nvSpPr>
          <p:cNvPr id="16" name="Shape 13"/>
          <p:cNvSpPr/>
          <p:nvPr/>
        </p:nvSpPr>
        <p:spPr>
          <a:xfrm>
            <a:off x="548640" y="3145536"/>
            <a:ext cx="384048" cy="384048"/>
          </a:xfrm>
          <a:prstGeom prst="ellipse">
            <a:avLst/>
          </a:prstGeom>
          <a:solidFill>
            <a:srgbClr val="5B7C99"/>
          </a:solidFill>
          <a:ln/>
        </p:spPr>
        <p:txBody>
          <a:bodyPr/>
          <a:p/>
        </p:txBody>
      </p:sp>
      <p:sp>
        <p:nvSpPr>
          <p:cNvPr id="17" name="Text 14"/>
          <p:cNvSpPr txBox="1"/>
          <p:nvPr/>
        </p:nvSpPr>
        <p:spPr>
          <a:xfrm>
            <a:off x="548640" y="3145536"/>
            <a:ext cx="384048" cy="384048"/>
          </a:xfrm>
          <a:prstGeom prst="rect">
            <a:avLst/>
          </a:prstGeom>
          <a:noFill/>
          <a:ln/>
        </p:spPr>
        <p:txBody>
          <a:bodyPr wrap="square" lIns="0" tIns="0" rIns="0" bIns="0" rtlCol="0" anchor="ctr"/>
          <a:lstStyle/>
          <a:p>
            <a:pPr marL="0" indent="0" algn="ctr">
              <a:buNone/>
            </a:pPr>
            <a:r>
              <a:rPr lang="en-US" sz="1400" b="1" dirty="0">
                <a:solidFill>
                  <a:srgbClr val="3D2B1F"/>
                </a:solidFill>
                <a:latin typeface="Calibri" pitchFamily="34" charset="0"/>
                <a:ea typeface="Calibri" pitchFamily="34" charset="-122"/>
                <a:cs typeface="Calibri" pitchFamily="34" charset="-120"/>
              </a:rPr>
              <a:t>3</a:t>
            </a:r>
            <a:endParaRPr lang="en-US" sz="1400" dirty="0"/>
          </a:p>
        </p:txBody>
      </p:sp>
      <p:sp>
        <p:nvSpPr>
          <p:cNvPr id="18" name="Text 15"/>
          <p:cNvSpPr txBox="1"/>
          <p:nvPr/>
        </p:nvSpPr>
        <p:spPr>
          <a:xfrm>
            <a:off x="1078992" y="3090672"/>
            <a:ext cx="3749040" cy="493776"/>
          </a:xfrm>
          <a:prstGeom prst="rect">
            <a:avLst/>
          </a:prstGeom>
          <a:noFill/>
          <a:ln/>
        </p:spPr>
        <p:txBody>
          <a:bodyPr wrap="square" lIns="0" tIns="0" rIns="0" bIns="0" rtlCol="0" anchor="ctr"/>
          <a:lstStyle/>
          <a:p>
            <a:pPr marL="0" indent="0">
              <a:buNone/>
            </a:pPr>
            <a:r>
              <a:rPr lang="en-US" sz="1400" b="1" dirty="0">
                <a:solidFill>
                  <a:srgbClr val="3D2B1F"/>
                </a:solidFill>
                <a:latin typeface="Calibri" pitchFamily="34" charset="0"/>
                <a:ea typeface="Calibri" pitchFamily="34" charset="-122"/>
                <a:cs typeface="Calibri" pitchFamily="34" charset="-120"/>
              </a:rPr>
              <a:t>Docker Build</a:t>
            </a:r>
            <a:endParaRPr lang="en-US" sz="1400" dirty="0"/>
          </a:p>
        </p:txBody>
      </p:sp>
      <p:sp>
        <p:nvSpPr>
          <p:cNvPr id="19" name="Shape 16"/>
          <p:cNvSpPr/>
          <p:nvPr/>
        </p:nvSpPr>
        <p:spPr>
          <a:xfrm>
            <a:off x="740664" y="3547872"/>
            <a:ext cx="0" cy="544068"/>
          </a:xfrm>
          <a:prstGeom prst="line">
            <a:avLst/>
          </a:prstGeom>
          <a:noFill/>
          <a:ln w="19050">
            <a:solidFill>
              <a:srgbClr val="3E5A72"/>
            </a:solidFill>
            <a:prstDash val="dash"/>
          </a:ln>
        </p:spPr>
        <p:txBody>
          <a:bodyPr/>
          <a:p/>
        </p:txBody>
      </p:sp>
      <p:sp>
        <p:nvSpPr>
          <p:cNvPr id="20" name="Shape 17"/>
          <p:cNvSpPr/>
          <p:nvPr/>
        </p:nvSpPr>
        <p:spPr>
          <a:xfrm>
            <a:off x="548640" y="3707892"/>
            <a:ext cx="384048" cy="384048"/>
          </a:xfrm>
          <a:prstGeom prst="ellipse">
            <a:avLst/>
          </a:prstGeom>
          <a:solidFill>
            <a:srgbClr val="5B7C99"/>
          </a:solidFill>
          <a:ln/>
        </p:spPr>
        <p:txBody>
          <a:bodyPr/>
          <a:p/>
        </p:txBody>
      </p:sp>
      <p:sp>
        <p:nvSpPr>
          <p:cNvPr id="21" name="Text 18"/>
          <p:cNvSpPr txBox="1"/>
          <p:nvPr/>
        </p:nvSpPr>
        <p:spPr>
          <a:xfrm>
            <a:off x="548640" y="3707892"/>
            <a:ext cx="384048" cy="384048"/>
          </a:xfrm>
          <a:prstGeom prst="rect">
            <a:avLst/>
          </a:prstGeom>
          <a:noFill/>
          <a:ln/>
        </p:spPr>
        <p:txBody>
          <a:bodyPr wrap="square" lIns="0" tIns="0" rIns="0" bIns="0" rtlCol="0" anchor="ctr"/>
          <a:lstStyle/>
          <a:p>
            <a:pPr marL="0" indent="0" algn="ctr">
              <a:buNone/>
            </a:pPr>
            <a:r>
              <a:rPr lang="en-US" sz="1400" b="1" dirty="0">
                <a:solidFill>
                  <a:srgbClr val="3D2B1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1078992" y="3653028"/>
            <a:ext cx="3749040" cy="493776"/>
          </a:xfrm>
          <a:prstGeom prst="rect">
            <a:avLst/>
          </a:prstGeom>
          <a:noFill/>
          <a:ln/>
        </p:spPr>
        <p:txBody>
          <a:bodyPr wrap="square" lIns="0" tIns="0" rIns="0" bIns="0" rtlCol="0" anchor="ctr"/>
          <a:lstStyle/>
          <a:p>
            <a:pPr marL="0" indent="0">
              <a:buNone/>
            </a:pPr>
            <a:r>
              <a:t>Load Image into Minikube</a:t>
            </a:r>
            <a:endParaRPr lang="en-US" sz="1400" dirty="0"/>
          </a:p>
        </p:txBody>
      </p:sp>
      <p:sp>
        <p:nvSpPr>
          <p:cNvPr id="23" name="Shape 20"/>
          <p:cNvSpPr/>
          <p:nvPr/>
        </p:nvSpPr>
        <p:spPr>
          <a:xfrm>
            <a:off x="740664" y="4110228"/>
            <a:ext cx="0" cy="544068"/>
          </a:xfrm>
          <a:prstGeom prst="line">
            <a:avLst/>
          </a:prstGeom>
          <a:noFill/>
          <a:ln w="19050">
            <a:solidFill>
              <a:srgbClr val="3E5A72"/>
            </a:solidFill>
            <a:prstDash val="dash"/>
          </a:ln>
        </p:spPr>
        <p:txBody>
          <a:bodyPr/>
          <a:p/>
        </p:txBody>
      </p:sp>
      <p:sp>
        <p:nvSpPr>
          <p:cNvPr id="24" name="Shape 21"/>
          <p:cNvSpPr/>
          <p:nvPr/>
        </p:nvSpPr>
        <p:spPr>
          <a:xfrm>
            <a:off x="548640" y="4270248"/>
            <a:ext cx="384048" cy="384048"/>
          </a:xfrm>
          <a:prstGeom prst="ellipse">
            <a:avLst/>
          </a:prstGeom>
          <a:solidFill>
            <a:srgbClr val="5B7C99"/>
          </a:solidFill>
          <a:ln/>
        </p:spPr>
        <p:txBody>
          <a:bodyPr/>
          <a:p/>
        </p:txBody>
      </p:sp>
      <p:sp>
        <p:nvSpPr>
          <p:cNvPr id="25" name="Text 22"/>
          <p:cNvSpPr txBox="1"/>
          <p:nvPr/>
        </p:nvSpPr>
        <p:spPr>
          <a:xfrm>
            <a:off x="548640" y="4270248"/>
            <a:ext cx="384048" cy="384048"/>
          </a:xfrm>
          <a:prstGeom prst="rect">
            <a:avLst/>
          </a:prstGeom>
          <a:noFill/>
          <a:ln/>
        </p:spPr>
        <p:txBody>
          <a:bodyPr wrap="square" lIns="0" tIns="0" rIns="0" bIns="0" rtlCol="0" anchor="ctr"/>
          <a:lstStyle/>
          <a:p>
            <a:pPr marL="0" indent="0" algn="ctr">
              <a:buNone/>
            </a:pPr>
            <a:r>
              <a:rPr lang="en-US" sz="1400" b="1" dirty="0">
                <a:solidFill>
                  <a:srgbClr val="3D2B1F"/>
                </a:solidFill>
                <a:latin typeface="Calibri" pitchFamily="34" charset="0"/>
                <a:ea typeface="Calibri" pitchFamily="34" charset="-122"/>
                <a:cs typeface="Calibri" pitchFamily="34" charset="-120"/>
              </a:rPr>
              <a:t>5</a:t>
            </a:r>
            <a:endParaRPr lang="en-US" sz="1400" dirty="0"/>
          </a:p>
        </p:txBody>
      </p:sp>
      <p:sp>
        <p:nvSpPr>
          <p:cNvPr id="26" name="Text 23"/>
          <p:cNvSpPr txBox="1"/>
          <p:nvPr/>
        </p:nvSpPr>
        <p:spPr>
          <a:xfrm>
            <a:off x="1078992" y="4215384"/>
            <a:ext cx="3749040" cy="493776"/>
          </a:xfrm>
          <a:prstGeom prst="rect">
            <a:avLst/>
          </a:prstGeom>
          <a:noFill/>
          <a:ln/>
        </p:spPr>
        <p:txBody>
          <a:bodyPr wrap="square" lIns="0" tIns="0" rIns="0" bIns="0" rtlCol="0" anchor="ctr"/>
          <a:lstStyle/>
          <a:p>
            <a:pPr marL="0" indent="0">
              <a:buNone/>
            </a:pPr>
            <a:r>
              <a:rPr lang="en-US" sz="1400" b="1" dirty="0">
                <a:solidFill>
                  <a:srgbClr val="3D2B1F"/>
                </a:solidFill>
                <a:latin typeface="Calibri" pitchFamily="34" charset="0"/>
                <a:ea typeface="Calibri" pitchFamily="34" charset="-122"/>
                <a:cs typeface="Calibri" pitchFamily="34" charset="-120"/>
              </a:rPr>
              <a:t>Kubernetes Deploy</a:t>
            </a:r>
            <a:endParaRPr lang="en-US" sz="1400" dirty="0"/>
          </a:p>
        </p:txBody>
      </p:sp>
      <p:sp>
        <p:nvSpPr>
          <p:cNvPr id="27" name="Shape 24"/>
          <p:cNvSpPr/>
          <p:nvPr/>
        </p:nvSpPr>
        <p:spPr>
          <a:xfrm>
            <a:off x="740664" y="4672584"/>
            <a:ext cx="0" cy="544068"/>
          </a:xfrm>
          <a:prstGeom prst="line">
            <a:avLst/>
          </a:prstGeom>
          <a:noFill/>
          <a:ln w="19050">
            <a:solidFill>
              <a:srgbClr val="3E5A72"/>
            </a:solidFill>
            <a:prstDash val="dash"/>
          </a:ln>
        </p:spPr>
        <p:txBody>
          <a:bodyPr/>
          <a:p/>
        </p:txBody>
      </p:sp>
      <p:sp>
        <p:nvSpPr>
          <p:cNvPr id="28" name="Shape 25"/>
          <p:cNvSpPr/>
          <p:nvPr/>
        </p:nvSpPr>
        <p:spPr>
          <a:xfrm>
            <a:off x="548640" y="4832604"/>
            <a:ext cx="384048" cy="384048"/>
          </a:xfrm>
          <a:prstGeom prst="ellipse">
            <a:avLst/>
          </a:prstGeom>
          <a:solidFill>
            <a:srgbClr val="5B7C99"/>
          </a:solidFill>
          <a:ln/>
        </p:spPr>
        <p:txBody>
          <a:bodyPr/>
          <a:p/>
        </p:txBody>
      </p:sp>
      <p:sp>
        <p:nvSpPr>
          <p:cNvPr id="29" name="Text 26"/>
          <p:cNvSpPr txBox="1"/>
          <p:nvPr/>
        </p:nvSpPr>
        <p:spPr>
          <a:xfrm>
            <a:off x="548640" y="4832604"/>
            <a:ext cx="384048" cy="384048"/>
          </a:xfrm>
          <a:prstGeom prst="rect">
            <a:avLst/>
          </a:prstGeom>
          <a:noFill/>
          <a:ln/>
        </p:spPr>
        <p:txBody>
          <a:bodyPr wrap="square" lIns="0" tIns="0" rIns="0" bIns="0" rtlCol="0" anchor="ctr"/>
          <a:lstStyle/>
          <a:p>
            <a:pPr marL="0" indent="0" algn="ctr">
              <a:buNone/>
            </a:pPr>
            <a:r>
              <a:rPr lang="en-US" sz="1400" b="1" dirty="0">
                <a:solidFill>
                  <a:srgbClr val="3D2B1F"/>
                </a:solidFill>
                <a:latin typeface="Calibri" pitchFamily="34" charset="0"/>
                <a:ea typeface="Calibri" pitchFamily="34" charset="-122"/>
                <a:cs typeface="Calibri" pitchFamily="34" charset="-120"/>
              </a:rPr>
              <a:t>6</a:t>
            </a:r>
            <a:endParaRPr lang="en-US" sz="1400" dirty="0"/>
          </a:p>
        </p:txBody>
      </p:sp>
      <p:sp>
        <p:nvSpPr>
          <p:cNvPr id="30" name="Text 27"/>
          <p:cNvSpPr txBox="1"/>
          <p:nvPr/>
        </p:nvSpPr>
        <p:spPr>
          <a:xfrm>
            <a:off x="1078992" y="4777740"/>
            <a:ext cx="3749040" cy="493776"/>
          </a:xfrm>
          <a:prstGeom prst="rect">
            <a:avLst/>
          </a:prstGeom>
          <a:noFill/>
          <a:ln/>
        </p:spPr>
        <p:txBody>
          <a:bodyPr wrap="square" lIns="0" tIns="0" rIns="0" bIns="0" rtlCol="0" anchor="ctr"/>
          <a:lstStyle/>
          <a:p>
            <a:pPr marL="0" indent="0">
              <a:buNone/>
            </a:pPr>
            <a:r>
              <a:t>Ansible Setup</a:t>
            </a:r>
            <a:endParaRPr lang="en-US" sz="1400" dirty="0"/>
          </a:p>
        </p:txBody>
      </p:sp>
      <p:sp>
        <p:nvSpPr>
          <p:cNvPr id="31" name="Shape 28"/>
          <p:cNvSpPr/>
          <p:nvPr/>
        </p:nvSpPr>
        <p:spPr>
          <a:xfrm>
            <a:off x="740664" y="5234940"/>
            <a:ext cx="0" cy="544068"/>
          </a:xfrm>
          <a:prstGeom prst="line">
            <a:avLst/>
          </a:prstGeom>
          <a:noFill/>
          <a:ln w="19050">
            <a:solidFill>
              <a:srgbClr val="3E5A72"/>
            </a:solidFill>
            <a:prstDash val="dash"/>
          </a:ln>
        </p:spPr>
        <p:txBody>
          <a:bodyPr/>
          <a:p/>
        </p:txBody>
      </p:sp>
      <p:sp>
        <p:nvSpPr>
          <p:cNvPr id="32" name="Shape 29"/>
          <p:cNvSpPr/>
          <p:nvPr/>
        </p:nvSpPr>
        <p:spPr>
          <a:xfrm>
            <a:off x="548640" y="5394960"/>
            <a:ext cx="384048" cy="384048"/>
          </a:xfrm>
          <a:prstGeom prst="ellipse">
            <a:avLst/>
          </a:prstGeom>
          <a:solidFill>
            <a:srgbClr val="5B7C99"/>
          </a:solidFill>
          <a:ln/>
        </p:spPr>
        <p:txBody>
          <a:bodyPr/>
          <a:p/>
        </p:txBody>
      </p:sp>
      <p:sp>
        <p:nvSpPr>
          <p:cNvPr id="33" name="Text 30"/>
          <p:cNvSpPr txBox="1"/>
          <p:nvPr/>
        </p:nvSpPr>
        <p:spPr>
          <a:xfrm>
            <a:off x="548640" y="5394960"/>
            <a:ext cx="384048" cy="384048"/>
          </a:xfrm>
          <a:prstGeom prst="rect">
            <a:avLst/>
          </a:prstGeom>
          <a:noFill/>
          <a:ln/>
        </p:spPr>
        <p:txBody>
          <a:bodyPr wrap="square" lIns="0" tIns="0" rIns="0" bIns="0" rtlCol="0" anchor="ctr"/>
          <a:lstStyle/>
          <a:p>
            <a:pPr marL="0" indent="0" algn="ctr">
              <a:buNone/>
            </a:pPr>
            <a:r>
              <a:rPr lang="en-US" sz="1400" b="1" dirty="0">
                <a:solidFill>
                  <a:srgbClr val="3D2B1F"/>
                </a:solidFill>
                <a:latin typeface="Calibri" pitchFamily="34" charset="0"/>
                <a:ea typeface="Calibri" pitchFamily="34" charset="-122"/>
                <a:cs typeface="Calibri" pitchFamily="34" charset="-120"/>
              </a:rPr>
              <a:t>7</a:t>
            </a:r>
            <a:endParaRPr lang="en-US" sz="1400" dirty="0"/>
          </a:p>
        </p:txBody>
      </p:sp>
      <p:sp>
        <p:nvSpPr>
          <p:cNvPr id="34" name="Text 31"/>
          <p:cNvSpPr txBox="1"/>
          <p:nvPr/>
        </p:nvSpPr>
        <p:spPr>
          <a:xfrm>
            <a:off x="1078992" y="5340096"/>
            <a:ext cx="3749040" cy="493776"/>
          </a:xfrm>
          <a:prstGeom prst="rect">
            <a:avLst/>
          </a:prstGeom>
          <a:noFill/>
          <a:ln/>
        </p:spPr>
        <p:txBody>
          <a:bodyPr wrap="square" lIns="0" tIns="0" rIns="0" bIns="0" rtlCol="0" anchor="ctr"/>
          <a:lstStyle/>
          <a:p>
            <a:pPr marL="0" indent="0">
              <a:buNone/>
            </a:pPr>
            <a:r>
              <a:rPr lang="en-US" sz="1400" b="1" dirty="0">
                <a:solidFill>
                  <a:srgbClr val="3D2B1F"/>
                </a:solidFill>
                <a:latin typeface="Calibri" pitchFamily="34" charset="0"/>
                <a:ea typeface="Calibri" pitchFamily="34" charset="-122"/>
                <a:cs typeface="Calibri" pitchFamily="34" charset="-120"/>
              </a:rPr>
              <a:t>Verification</a:t>
            </a:r>
            <a:endParaRPr lang="en-US" sz="1400" dirty="0"/>
          </a:p>
        </p:txBody>
      </p:sp>
      <p:sp>
        <p:nvSpPr>
          <p:cNvPr id="35" name="Text 32"/>
          <p:cNvSpPr txBox="1"/>
          <p:nvPr/>
        </p:nvSpPr>
        <p:spPr>
          <a:xfrm>
            <a:off x="5212080" y="1874520"/>
            <a:ext cx="6430975" cy="274320"/>
          </a:xfrm>
          <a:prstGeom prst="rect">
            <a:avLst/>
          </a:prstGeom>
          <a:noFill/>
          <a:ln/>
        </p:spPr>
        <p:txBody>
          <a:bodyPr wrap="square" lIns="0" tIns="0" rIns="0" bIns="0" rtlCol="0" anchor="ctr"/>
          <a:lstStyle/>
          <a:p>
            <a:pPr marL="0" indent="0">
              <a:buNone/>
            </a:pPr>
            <a:r>
              <a:rPr lang="en-US" sz="1100" b="1" kern="0" spc="100" dirty="0">
                <a:solidFill>
                  <a:srgbClr val="5B7C99"/>
                </a:solidFill>
                <a:latin typeface="Calibri" pitchFamily="34" charset="0"/>
                <a:ea typeface="Calibri" pitchFamily="34" charset="-122"/>
                <a:cs typeface="Calibri" pitchFamily="34" charset="-120"/>
              </a:rPr>
              <a:t>JENKINSFILE (EXCERPT)</a:t>
            </a:r>
            <a:endParaRPr lang="en-US" sz="1100" dirty="0"/>
          </a:p>
        </p:txBody>
      </p:sp>
      <p:sp>
        <p:nvSpPr>
          <p:cNvPr id="36" name="Shape 33"/>
          <p:cNvSpPr/>
          <p:nvPr/>
        </p:nvSpPr>
        <p:spPr>
          <a:xfrm>
            <a:off x="5212080" y="2194560"/>
            <a:ext cx="6430975" cy="4114800"/>
          </a:xfrm>
          <a:prstGeom prst="roundRect">
            <a:avLst>
              <a:gd name="adj" fmla="val 1778"/>
            </a:avLst>
          </a:prstGeom>
          <a:solidFill>
            <a:srgbClr val="F5EEE1"/>
          </a:solidFill>
          <a:ln w="12700">
            <a:solidFill>
              <a:srgbClr val="6B5643"/>
            </a:solidFill>
            <a:prstDash val="solid"/>
          </a:ln>
        </p:spPr>
        <p:txBody>
          <a:bodyPr/>
          <a:p/>
        </p:txBody>
      </p:sp>
      <p:sp>
        <p:nvSpPr>
          <p:cNvPr id="37" name="Shape 34"/>
          <p:cNvSpPr/>
          <p:nvPr/>
        </p:nvSpPr>
        <p:spPr>
          <a:xfrm>
            <a:off x="5376672" y="2322576"/>
            <a:ext cx="109728" cy="109728"/>
          </a:xfrm>
          <a:prstGeom prst="ellipse">
            <a:avLst/>
          </a:prstGeom>
          <a:solidFill>
            <a:srgbClr val="EF4444"/>
          </a:solidFill>
          <a:ln/>
        </p:spPr>
        <p:txBody>
          <a:bodyPr/>
          <a:p/>
        </p:txBody>
      </p:sp>
      <p:sp>
        <p:nvSpPr>
          <p:cNvPr id="38" name="Shape 35"/>
          <p:cNvSpPr/>
          <p:nvPr/>
        </p:nvSpPr>
        <p:spPr>
          <a:xfrm>
            <a:off x="5577840" y="2322576"/>
            <a:ext cx="109728" cy="109728"/>
          </a:xfrm>
          <a:prstGeom prst="ellipse">
            <a:avLst/>
          </a:prstGeom>
          <a:solidFill>
            <a:srgbClr val="F59E0B"/>
          </a:solidFill>
          <a:ln/>
        </p:spPr>
        <p:txBody>
          <a:bodyPr/>
          <a:p/>
        </p:txBody>
      </p:sp>
      <p:sp>
        <p:nvSpPr>
          <p:cNvPr id="39" name="Shape 36"/>
          <p:cNvSpPr/>
          <p:nvPr/>
        </p:nvSpPr>
        <p:spPr>
          <a:xfrm>
            <a:off x="5779008" y="2322576"/>
            <a:ext cx="109728" cy="109728"/>
          </a:xfrm>
          <a:prstGeom prst="ellipse">
            <a:avLst/>
          </a:prstGeom>
          <a:solidFill>
            <a:srgbClr val="22C55E"/>
          </a:solidFill>
          <a:ln/>
        </p:spPr>
        <p:txBody>
          <a:bodyPr/>
          <a:p/>
        </p:txBody>
      </p:sp>
      <p:sp>
        <p:nvSpPr>
          <p:cNvPr id="40" name="Text 37"/>
          <p:cNvSpPr txBox="1"/>
          <p:nvPr/>
        </p:nvSpPr>
        <p:spPr>
          <a:xfrm>
            <a:off x="5413248" y="2523744"/>
            <a:ext cx="6028639" cy="3657600"/>
          </a:xfrm>
          <a:prstGeom prst="rect">
            <a:avLst/>
          </a:prstGeom>
          <a:noFill/>
          <a:ln/>
        </p:spPr>
        <p:txBody>
          <a:bodyPr wrap="square" lIns="0" tIns="0" rIns="0" bIns="0" rtlCol="0" anchor="t"/>
          <a:lstStyle/>
          <a:p>
            <a:pPr marL="0" indent="0" algn="l">
              <a:lnSpc>
                <a:spcPct val="100000"/>
              </a:lnSpc>
              <a:buNone/>
            </a:pPr>
            <a:r>
              <a:t>pipeline {</a:t>
            </a:r>
            <a:br/>
            <a:r>
              <a:t>  agent any</a:t>
            </a:r>
            <a:br/>
            <a:r>
              <a:t>  stages {</a:t>
            </a:r>
            <a:br/>
            <a:r>
              <a:t>    stage('Checkout') {</a:t>
            </a:r>
            <a:br/>
            <a:r>
              <a:t>      steps { echo 'Checking out source code...' }</a:t>
            </a:r>
            <a:br/>
            <a:r>
              <a:t>    }</a:t>
            </a:r>
            <a:br/>
            <a:r>
              <a:t>    stage('Build Image') {</a:t>
            </a:r>
            <a:br/>
            <a:r>
              <a:t>      steps {</a:t>
            </a:r>
            <a:br/>
            <a:r>
              <a:t>        dir('app') {</a:t>
            </a:r>
            <a:br/>
            <a:r>
              <a:t>          sh 'docker build -t todo-app:latest .'</a:t>
            </a:r>
            <a:br/>
            <a:r>
              <a:t>        }</a:t>
            </a:r>
            <a:br/>
            <a:r>
              <a:t>      }</a:t>
            </a:r>
            <a:br/>
            <a:r>
              <a:t>    }</a:t>
            </a:r>
            <a:br/>
            <a:r>
              <a:t>    stage('Deploy to K8s') {</a:t>
            </a:r>
            <a:br/>
            <a:r>
              <a:t>      steps {</a:t>
            </a:r>
            <a:br/>
            <a:r>
              <a:t>        dir('k8s') {</a:t>
            </a:r>
            <a:br/>
            <a:r>
              <a:t>          sh 'kubectl apply -f deployment.yaml -f service.yaml'</a:t>
            </a:r>
            <a:br/>
            <a:r>
              <a:t>        }</a:t>
            </a:r>
            <a:br/>
            <a:r>
              <a:t>      }</a:t>
            </a:r>
            <a:br/>
            <a:r>
              <a:t>    }</a:t>
            </a:r>
            <a:br/>
            <a:r>
              <a:t>  }</a:t>
            </a:r>
            <a:br/>
            <a:r>
              <a:t>}</a:t>
            </a:r>
            <a:endParaRPr lang="en-US" sz="1000" dirty="0"/>
          </a:p>
          <a:p>
            <a:pPr marL="0" indent="0" algn="l">
              <a:lnSpc>
                <a:spcPct val="100000"/>
              </a:lnSpc>
              <a:buNone/>
            </a:pPr>
            <a:r>
              <a:rPr lang="en-US" sz="1000" dirty="0">
                <a:solidFill>
                  <a:srgbClr val="3E5A72"/>
                </a:solidFill>
                <a:latin typeface="Consolas" pitchFamily="34" charset="0"/>
                <a:ea typeface="Consolas" pitchFamily="34" charset="-122"/>
                <a:cs typeface="Consolas" pitchFamily="34" charset="-120"/>
              </a:rPr>
              <a:t>  agent any</a:t>
            </a:r>
            <a:endParaRPr lang="en-US" sz="1000" dirty="0"/>
          </a:p>
          <a:p>
            <a:pPr marL="0" indent="0" algn="l">
              <a:lnSpc>
                <a:spcPct val="100000"/>
              </a:lnSpc>
              <a:buNone/>
            </a:pPr>
            <a:r>
              <a:rPr lang="en-US" sz="1000" dirty="0">
                <a:solidFill>
                  <a:srgbClr val="3E5A72"/>
                </a:solidFill>
                <a:latin typeface="Consolas" pitchFamily="34" charset="0"/>
                <a:ea typeface="Consolas" pitchFamily="34" charset="-122"/>
                <a:cs typeface="Consolas" pitchFamily="34" charset="-120"/>
              </a:rPr>
              <a:t>  stages {</a:t>
            </a:r>
            <a:endParaRPr lang="en-US" sz="1000" dirty="0"/>
          </a:p>
          <a:p>
            <a:pPr marL="0" indent="0" algn="l">
              <a:lnSpc>
                <a:spcPct val="100000"/>
              </a:lnSpc>
              <a:buNone/>
            </a:pPr>
            <a:r>
              <a:rPr lang="en-US" sz="1000" dirty="0">
                <a:solidFill>
                  <a:srgbClr val="3E5A72"/>
                </a:solidFill>
                <a:latin typeface="Consolas" pitchFamily="34" charset="0"/>
                <a:ea typeface="Consolas" pitchFamily="34" charset="-122"/>
                <a:cs typeface="Consolas" pitchFamily="34" charset="-120"/>
              </a:rPr>
              <a:t>    stage('Checkout') {</a:t>
            </a:r>
            <a:endParaRPr lang="en-US" sz="1000" dirty="0"/>
          </a:p>
          <a:p>
            <a:pPr marL="0" indent="0" algn="l">
              <a:lnSpc>
                <a:spcPct val="100000"/>
              </a:lnSpc>
              <a:buNone/>
            </a:pPr>
            <a:r>
              <a:rPr lang="en-US" sz="1000" dirty="0">
                <a:solidFill>
                  <a:srgbClr val="3E5A72"/>
                </a:solidFill>
                <a:latin typeface="Consolas" pitchFamily="34" charset="0"/>
                <a:ea typeface="Consolas" pitchFamily="34" charset="-122"/>
                <a:cs typeface="Consolas" pitchFamily="34" charset="-120"/>
              </a:rPr>
              <a:t>      steps { checkout scm }</a:t>
            </a:r>
            <a:endParaRPr lang="en-US" sz="1000" dirty="0"/>
          </a:p>
          <a:p>
            <a:pPr marL="0" indent="0" algn="l">
              <a:lnSpc>
                <a:spcPct val="100000"/>
              </a:lnSpc>
              <a:buNone/>
            </a:pPr>
            <a:r>
              <a:rPr lang="en-US" sz="1000" dirty="0">
                <a:solidFill>
                  <a:srgbClr val="3E5A72"/>
                </a:solidFill>
                <a:latin typeface="Consolas" pitchFamily="34" charset="0"/>
                <a:ea typeface="Consolas" pitchFamily="34" charset="-122"/>
                <a:cs typeface="Consolas" pitchFamily="34" charset="-120"/>
              </a:rPr>
              <a:t>    }</a:t>
            </a:r>
            <a:endParaRPr lang="en-US" sz="1000" dirty="0"/>
          </a:p>
          <a:p>
            <a:pPr marL="0" indent="0" algn="l">
              <a:lnSpc>
                <a:spcPct val="100000"/>
              </a:lnSpc>
              <a:buNone/>
            </a:pPr>
            <a:r>
              <a:rPr lang="en-US" sz="1000" dirty="0">
                <a:solidFill>
                  <a:srgbClr val="3E5A72"/>
                </a:solidFill>
                <a:latin typeface="Consolas" pitchFamily="34" charset="0"/>
                <a:ea typeface="Consolas" pitchFamily="34" charset="-122"/>
                <a:cs typeface="Consolas" pitchFamily="34" charset="-120"/>
              </a:rPr>
              <a:t>    stage('Terraform Apply') { steps { powershell</a:t>
            </a:r>
            <a:endParaRPr lang="en-US" sz="1000" dirty="0"/>
          </a:p>
          <a:p>
            <a:pPr marL="0" indent="0" algn="l">
              <a:lnSpc>
                <a:spcPct val="100000"/>
              </a:lnSpc>
              <a:buNone/>
            </a:pPr>
            <a:r>
              <a:rPr lang="en-US" sz="1000" dirty="0">
                <a:solidFill>
                  <a:srgbClr val="3E5A72"/>
                </a:solidFill>
                <a:latin typeface="Consolas" pitchFamily="34" charset="0"/>
                <a:ea typeface="Consolas" pitchFamily="34" charset="-122"/>
                <a:cs typeface="Consolas" pitchFamily="34" charset="-120"/>
              </a:rPr>
              <a:t>      'cd terraform; terraform apply -auto-approve' } }</a:t>
            </a:r>
            <a:endParaRPr lang="en-US" sz="1000" dirty="0"/>
          </a:p>
          <a:p>
            <a:pPr marL="0" indent="0" algn="l">
              <a:lnSpc>
                <a:spcPct val="100000"/>
              </a:lnSpc>
              <a:buNone/>
            </a:pPr>
            <a:r>
              <a:rPr lang="en-US" sz="1000" dirty="0">
                <a:solidFill>
                  <a:srgbClr val="3E5A72"/>
                </a:solidFill>
                <a:latin typeface="Consolas" pitchFamily="34" charset="0"/>
                <a:ea typeface="Consolas" pitchFamily="34" charset="-122"/>
                <a:cs typeface="Consolas" pitchFamily="34" charset="-120"/>
              </a:rPr>
              <a:t>    stage('Docker Build') { steps { powershell</a:t>
            </a:r>
            <a:endParaRPr lang="en-US" sz="1000" dirty="0"/>
          </a:p>
          <a:p>
            <a:pPr marL="0" indent="0" algn="l">
              <a:lnSpc>
                <a:spcPct val="100000"/>
              </a:lnSpc>
              <a:buNone/>
            </a:pPr>
            <a:r>
              <a:t>      'cd app; docker build -t todo-app:latest .' } }</a:t>
            </a:r>
            <a:endParaRPr lang="en-US" sz="1000" dirty="0"/>
          </a:p>
          <a:p>
            <a:pPr marL="0" indent="0" algn="l">
              <a:lnSpc>
                <a:spcPct val="100000"/>
              </a:lnSpc>
              <a:buNone/>
            </a:pPr>
            <a:r>
              <a:t>    stage('Load Image into Minikube') { steps { powershell</a:t>
            </a:r>
            <a:endParaRPr lang="en-US" sz="1000" dirty="0"/>
          </a:p>
          <a:p>
            <a:pPr marL="0" indent="0" algn="l">
              <a:lnSpc>
                <a:spcPct val="100000"/>
              </a:lnSpc>
              <a:buNone/>
            </a:pPr>
            <a:r>
              <a:t>      'minikube image load todo-app:latest \</a:t>
            </a:r>
            <a:endParaRPr lang="en-US" sz="1000" dirty="0"/>
          </a:p>
          <a:p>
            <a:pPr marL="0" indent="0" algn="l">
              <a:lnSpc>
                <a:spcPct val="100000"/>
              </a:lnSpc>
              <a:buNone/>
            </a:pPr>
            <a:r>
              <a:t>       --name minikube-cluster' } }</a:t>
            </a:r>
            <a:endParaRPr lang="en-US" sz="1000" dirty="0"/>
          </a:p>
          <a:p>
            <a:pPr marL="0" indent="0" algn="l">
              <a:lnSpc>
                <a:spcPct val="100000"/>
              </a:lnSpc>
              <a:buNone/>
            </a:pPr>
            <a:r>
              <a:rPr lang="en-US" sz="1000" dirty="0">
                <a:solidFill>
                  <a:srgbClr val="3E5A72"/>
                </a:solidFill>
                <a:latin typeface="Consolas" pitchFamily="34" charset="0"/>
                <a:ea typeface="Consolas" pitchFamily="34" charset="-122"/>
                <a:cs typeface="Consolas" pitchFamily="34" charset="-120"/>
              </a:rPr>
              <a:t>    stage('Kubernetes Deploy') { steps { powershell</a:t>
            </a:r>
            <a:endParaRPr lang="en-US" sz="1000" dirty="0"/>
          </a:p>
          <a:p>
            <a:pPr marL="0" indent="0" algn="l">
              <a:lnSpc>
                <a:spcPct val="100000"/>
              </a:lnSpc>
              <a:buNone/>
            </a:pPr>
            <a:r>
              <a:t>      'kubectl apply -f k8s/' } }</a:t>
            </a:r>
            <a:endParaRPr lang="en-US" sz="1000" dirty="0"/>
          </a:p>
          <a:p>
            <a:pPr marL="0" indent="0" algn="l">
              <a:lnSpc>
                <a:spcPct val="100000"/>
              </a:lnSpc>
              <a:buNone/>
            </a:pPr>
            <a:r>
              <a:t>    stage('Ansible Setup') { steps { powershell</a:t>
            </a:r>
            <a:endParaRPr lang="en-US" sz="1000" dirty="0"/>
          </a:p>
          <a:p>
            <a:pPr marL="0" indent="0" algn="l">
              <a:lnSpc>
                <a:spcPct val="100000"/>
              </a:lnSpc>
              <a:buNone/>
            </a:pPr>
            <a:r>
              <a:t>      'docker run --rm ... todo-ansible:1.0 ...' } }</a:t>
            </a:r>
            <a:endParaRPr lang="en-US" sz="1000" dirty="0"/>
          </a:p>
          <a:p>
            <a:pPr marL="0" indent="0" algn="l">
              <a:lnSpc>
                <a:spcPct val="100000"/>
              </a:lnSpc>
              <a:buNone/>
            </a:pPr>
            <a:r>
              <a:rPr lang="en-US" sz="1000" dirty="0">
                <a:solidFill>
                  <a:srgbClr val="3E5A72"/>
                </a:solidFill>
                <a:latin typeface="Consolas" pitchFamily="34" charset="0"/>
                <a:ea typeface="Consolas" pitchFamily="34" charset="-122"/>
                <a:cs typeface="Consolas" pitchFamily="34" charset="-120"/>
              </a:rPr>
              <a:t>    stage('Verification') { steps { powershell</a:t>
            </a:r>
            <a:endParaRPr lang="en-US" sz="1000" dirty="0"/>
          </a:p>
          <a:p>
            <a:pPr marL="0" indent="0" algn="l">
              <a:lnSpc>
                <a:spcPct val="100000"/>
              </a:lnSpc>
              <a:buNone/>
            </a:pPr>
            <a:r>
              <a:rPr lang="en-US" sz="1000" dirty="0">
                <a:solidFill>
                  <a:srgbClr val="3E5A72"/>
                </a:solidFill>
                <a:latin typeface="Consolas" pitchFamily="34" charset="0"/>
                <a:ea typeface="Consolas" pitchFamily="34" charset="-122"/>
                <a:cs typeface="Consolas" pitchFamily="34" charset="-120"/>
              </a:rPr>
              <a:t>      'kubectl get pods,svc,configmap' } }</a:t>
            </a:r>
            <a:endParaRPr lang="en-US" sz="1000" dirty="0"/>
          </a:p>
          <a:p>
            <a:pPr marL="0" indent="0" algn="l">
              <a:lnSpc>
                <a:spcPct val="100000"/>
              </a:lnSpc>
              <a:buNone/>
            </a:pPr>
            <a:r>
              <a:rPr lang="en-US" sz="1000" dirty="0">
                <a:solidFill>
                  <a:srgbClr val="3E5A72"/>
                </a:solidFill>
                <a:latin typeface="Consolas" pitchFamily="34" charset="0"/>
                <a:ea typeface="Consolas" pitchFamily="34" charset="-122"/>
                <a:cs typeface="Consolas" pitchFamily="34" charset="-120"/>
              </a:rPr>
              <a:t>  }</a:t>
            </a:r>
            <a:endParaRPr lang="en-US" sz="1000" dirty="0"/>
          </a:p>
          <a:p>
            <a:pPr marL="0" indent="0" algn="l">
              <a:lnSpc>
                <a:spcPct val="100000"/>
              </a:lnSpc>
              <a:buNone/>
            </a:pPr>
            <a:r>
              <a:rPr lang="en-US" sz="1000" dirty="0">
                <a:solidFill>
                  <a:srgbClr val="3E5A72"/>
                </a:solidFill>
                <a:latin typeface="Consolas" pitchFamily="34" charset="0"/>
                <a:ea typeface="Consolas" pitchFamily="34" charset="-122"/>
                <a:cs typeface="Consolas" pitchFamily="34" charset="-120"/>
              </a:rPr>
              <a:t>}</a:t>
            </a:r>
            <a:endParaRPr lang="en-US" sz="1000" dirty="0"/>
          </a:p>
        </p:txBody>
      </p:sp>
      <p:sp>
        <p:nvSpPr>
          <p:cNvPr id="41" name="Text 38"/>
          <p:cNvSpPr txBox="1"/>
          <p:nvPr/>
        </p:nvSpPr>
        <p:spPr>
          <a:xfrm>
            <a:off x="11002975" y="6400800"/>
            <a:ext cx="914400" cy="274320"/>
          </a:xfrm>
          <a:prstGeom prst="rect">
            <a:avLst/>
          </a:prstGeom>
          <a:noFill/>
          <a:ln/>
        </p:spPr>
        <p:txBody>
          <a:bodyPr wrap="square" lIns="0" tIns="0" rIns="0" bIns="0" rtlCol="0" anchor="ctr"/>
          <a:lstStyle/>
          <a:p>
            <a:pPr marL="0" indent="0" algn="r">
              <a:buNone/>
            </a:pPr>
            <a:r>
              <a:rPr lang="en-US" sz="1000" dirty="0">
                <a:solidFill>
                  <a:srgbClr val="6B5643"/>
                </a:solidFill>
                <a:latin typeface="Calibri" pitchFamily="34" charset="0"/>
                <a:ea typeface="Calibri" pitchFamily="34" charset="-122"/>
                <a:cs typeface="Calibri" pitchFamily="34" charset="-120"/>
              </a:rPr>
              <a:t>09 / 13</a:t>
            </a:r>
            <a:endParaRPr lang="en-US" sz="1000" dirty="0"/>
          </a:p>
        </p:txBody>
      </p:sp>
      <p:sp>
        <p:nvSpPr>
          <p:cNvPr id="42" name="Text 39"/>
          <p:cNvSpPr txBox="1"/>
          <p:nvPr/>
        </p:nvSpPr>
        <p:spPr>
          <a:xfrm>
            <a:off x="457200" y="6400800"/>
            <a:ext cx="5486400" cy="274320"/>
          </a:xfrm>
          <a:prstGeom prst="rect">
            <a:avLst/>
          </a:prstGeom>
          <a:noFill/>
          <a:ln/>
        </p:spPr>
        <p:txBody>
          <a:bodyPr wrap="square" lIns="0" tIns="0" rIns="0" bIns="0" rtlCol="0" anchor="ctr"/>
          <a:lstStyle/>
          <a:p>
            <a:pPr marL="0" indent="0" algn="l">
              <a:buNone/>
            </a:pPr>
            <a:r>
              <a:rPr lang="en-US" sz="1000" kern="0" spc="100" dirty="0">
                <a:solidFill>
                  <a:srgbClr val="6B5643"/>
                </a:solidFill>
                <a:latin typeface="Calibri" pitchFamily="34" charset="0"/>
                <a:ea typeface="Calibri" pitchFamily="34" charset="-122"/>
                <a:cs typeface="Calibri" pitchFamily="34" charset="-120"/>
              </a:rPr>
              <a:t>SUDOKU WEB APP · CI/CD PIPELINE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29184"/>
          </a:xfrm>
          <a:prstGeom prst="roundRect">
            <a:avLst>
              <a:gd name="adj" fmla="val 50000"/>
            </a:avLst>
          </a:prstGeom>
          <a:solidFill>
            <a:srgbClr val="3E5A72">
              <a:alpha val="40000"/>
            </a:srgbClr>
          </a:solidFill>
          <a:ln/>
        </p:spPr>
        <p:txBody>
          <a:bodyPr/>
          <a:p/>
        </p:txBody>
      </p:sp>
      <p:sp>
        <p:nvSpPr>
          <p:cNvPr id="3" name="Text 1"/>
          <p:cNvSpPr txBox="1"/>
          <p:nvPr/>
        </p:nvSpPr>
        <p:spPr>
          <a:xfrm>
            <a:off x="548640" y="457200"/>
            <a:ext cx="2377440" cy="329184"/>
          </a:xfrm>
          <a:prstGeom prst="rect">
            <a:avLst/>
          </a:prstGeom>
          <a:noFill/>
          <a:ln/>
        </p:spPr>
        <p:txBody>
          <a:bodyPr wrap="square" lIns="0" tIns="0" rIns="0" bIns="0" rtlCol="0" anchor="ctr"/>
          <a:lstStyle/>
          <a:p>
            <a:pPr marL="0" indent="0" algn="ctr">
              <a:buNone/>
            </a:pPr>
            <a:r>
              <a:rPr lang="en-US" sz="1100" b="1" kern="0" spc="120" dirty="0">
                <a:solidFill>
                  <a:srgbClr val="5B7C99"/>
                </a:solidFill>
                <a:latin typeface="Calibri" pitchFamily="34" charset="0"/>
                <a:ea typeface="Calibri" pitchFamily="34" charset="-122"/>
                <a:cs typeface="Calibri" pitchFamily="34" charset="-120"/>
              </a:rPr>
              <a:t>PHASE 7 · VERIFICATION</a:t>
            </a:r>
            <a:endParaRPr lang="en-US" sz="1100" dirty="0"/>
          </a:p>
        </p:txBody>
      </p:sp>
      <p:sp>
        <p:nvSpPr>
          <p:cNvPr id="4" name="Text 2"/>
          <p:cNvSpPr txBox="1"/>
          <p:nvPr/>
        </p:nvSpPr>
        <p:spPr>
          <a:xfrm>
            <a:off x="548640" y="841248"/>
            <a:ext cx="8686800" cy="502920"/>
          </a:xfrm>
          <a:prstGeom prst="rect">
            <a:avLst/>
          </a:prstGeom>
          <a:noFill/>
          <a:ln/>
        </p:spPr>
        <p:txBody>
          <a:bodyPr wrap="square" lIns="0" tIns="0" rIns="0" bIns="0" rtlCol="0" anchor="ctr"/>
          <a:lstStyle/>
          <a:p>
            <a:pPr marL="0" indent="0">
              <a:buNone/>
            </a:pPr>
            <a:r>
              <a:rPr lang="en-US" sz="2600" b="1" dirty="0">
                <a:solidFill>
                  <a:srgbClr val="3D2B1F"/>
                </a:solidFill>
                <a:latin typeface="Calibri" pitchFamily="34" charset="0"/>
                <a:ea typeface="Calibri" pitchFamily="34" charset="-122"/>
                <a:cs typeface="Calibri" pitchFamily="34" charset="-120"/>
              </a:rPr>
              <a:t>Verification &amp; Health Checks</a:t>
            </a:r>
            <a:endParaRPr lang="en-US" sz="2600" dirty="0"/>
          </a:p>
        </p:txBody>
      </p:sp>
      <p:sp>
        <p:nvSpPr>
          <p:cNvPr id="5" name="Text 3"/>
          <p:cNvSpPr txBox="1"/>
          <p:nvPr/>
        </p:nvSpPr>
        <p:spPr>
          <a:xfrm>
            <a:off x="548640" y="1353312"/>
            <a:ext cx="8686800" cy="365760"/>
          </a:xfrm>
          <a:prstGeom prst="rect">
            <a:avLst/>
          </a:prstGeom>
          <a:noFill/>
          <a:ln/>
        </p:spPr>
        <p:txBody>
          <a:bodyPr wrap="square" lIns="0" tIns="0" rIns="0" bIns="0" rtlCol="0" anchor="ctr"/>
          <a:lstStyle/>
          <a:p>
            <a:pPr marL="0" indent="0">
              <a:buNone/>
            </a:pPr>
            <a:r>
              <a:rPr lang="en-US" sz="1450" i="1" dirty="0">
                <a:solidFill>
                  <a:srgbClr val="6B5643"/>
                </a:solidFill>
                <a:latin typeface="Calibri" pitchFamily="34" charset="0"/>
                <a:ea typeface="Calibri" pitchFamily="34" charset="-122"/>
                <a:cs typeface="Calibri" pitchFamily="34" charset="-120"/>
              </a:rPr>
              <a:t>Empirical runtime validation</a:t>
            </a:r>
            <a:endParaRPr lang="en-US" sz="1450" dirty="0"/>
          </a:p>
        </p:txBody>
      </p:sp>
      <p:pic>
        <p:nvPicPr>
          <p:cNvPr id="6" name="Image 0" descr="ic_search.png"/>
          <p:cNvPicPr>
            <a:picLocks noChangeAspect="1"/>
          </p:cNvPicPr>
          <p:nvPr/>
        </p:nvPicPr>
        <p:blipFill>
          <a:blip r:embed="rId3"/>
          <a:stretch>
            <a:fillRect/>
          </a:stretch>
        </p:blipFill>
        <p:spPr>
          <a:xfrm>
            <a:off x="11018520" y="502920"/>
            <a:ext cx="777240" cy="777240"/>
          </a:xfrm>
          <a:prstGeom prst="rect">
            <a:avLst/>
          </a:prstGeom>
        </p:spPr>
      </p:pic>
      <p:sp>
        <p:nvSpPr>
          <p:cNvPr id="7" name="Shape 4"/>
          <p:cNvSpPr/>
          <p:nvPr/>
        </p:nvSpPr>
        <p:spPr>
          <a:xfrm>
            <a:off x="548640" y="1874520"/>
            <a:ext cx="4160520" cy="4160520"/>
          </a:xfrm>
          <a:prstGeom prst="roundRect">
            <a:avLst>
              <a:gd name="adj" fmla="val 2198"/>
            </a:avLst>
          </a:prstGeom>
          <a:solidFill>
            <a:srgbClr val="EDE2CC"/>
          </a:solidFill>
          <a:ln w="12700">
            <a:solidFill>
              <a:srgbClr val="EDE2CC"/>
            </a:solidFill>
            <a:prstDash val="solid"/>
          </a:ln>
        </p:spPr>
        <p:txBody>
          <a:bodyPr/>
          <a:p/>
        </p:txBody>
      </p:sp>
      <p:sp>
        <p:nvSpPr>
          <p:cNvPr id="8" name="Text 5"/>
          <p:cNvSpPr txBox="1"/>
          <p:nvPr/>
        </p:nvSpPr>
        <p:spPr>
          <a:xfrm>
            <a:off x="777240" y="2057400"/>
            <a:ext cx="3703320" cy="274320"/>
          </a:xfrm>
          <a:prstGeom prst="rect">
            <a:avLst/>
          </a:prstGeom>
          <a:noFill/>
          <a:ln/>
        </p:spPr>
        <p:txBody>
          <a:bodyPr wrap="square" lIns="0" tIns="0" rIns="0" bIns="0" rtlCol="0" anchor="ctr"/>
          <a:lstStyle/>
          <a:p>
            <a:pPr marL="0" indent="0">
              <a:buNone/>
            </a:pPr>
            <a:r>
              <a:rPr lang="en-US" sz="1100" b="1" kern="0" spc="100" dirty="0">
                <a:solidFill>
                  <a:srgbClr val="5B7C99"/>
                </a:solidFill>
                <a:latin typeface="Calibri" pitchFamily="34" charset="0"/>
                <a:ea typeface="Calibri" pitchFamily="34" charset="-122"/>
                <a:cs typeface="Calibri" pitchFamily="34" charset="-120"/>
              </a:rPr>
              <a:t>WHAT WE’RE CONFIRMING</a:t>
            </a:r>
            <a:endParaRPr lang="en-US" sz="1100" dirty="0"/>
          </a:p>
        </p:txBody>
      </p:sp>
      <p:sp>
        <p:nvSpPr>
          <p:cNvPr id="9" name="Text 6"/>
          <p:cNvSpPr txBox="1"/>
          <p:nvPr/>
        </p:nvSpPr>
        <p:spPr>
          <a:xfrm>
            <a:off x="777240" y="2377440"/>
            <a:ext cx="3703320" cy="35204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300" dirty="0">
                <a:solidFill>
                  <a:srgbClr val="6B5643"/>
                </a:solidFill>
                <a:latin typeface="Calibri" pitchFamily="34" charset="0"/>
                <a:ea typeface="Calibri" pitchFamily="34" charset="-122"/>
                <a:cs typeface="Calibri" pitchFamily="34" charset="-120"/>
              </a:rPr>
              <a:t>Cluster nodes report Ready, and the pod reaches 1/1 Running.</a:t>
            </a:r>
            <a:endParaRPr lang="en-US" sz="1300" dirty="0"/>
          </a:p>
          <a:p>
            <a:pPr marL="228600" indent="-228600">
              <a:lnSpc>
                <a:spcPct val="115000"/>
              </a:lnSpc>
              <a:spcAft>
                <a:spcPts val="1200"/>
              </a:spcAft>
              <a:buSzPct val="100000"/>
              <a:buChar char="•"/>
            </a:pPr>
            <a:r>
              <a:t>The todo-config ConfigMap holds the correct key/value pairs.</a:t>
            </a:r>
            <a:endParaRPr lang="en-US" sz="1300" dirty="0"/>
          </a:p>
          <a:p>
            <a:pPr marL="228600" indent="-228600">
              <a:lnSpc>
                <a:spcPct val="115000"/>
              </a:lnSpc>
              <a:spcAft>
                <a:spcPts val="1200"/>
              </a:spcAft>
              <a:buSzPct val="100000"/>
              <a:buChar char="•"/>
            </a:pPr>
            <a:r>
              <a:rPr lang="en-US" sz="1300" dirty="0">
                <a:solidFill>
                  <a:srgbClr val="6B5643"/>
                </a:solidFill>
                <a:latin typeface="Calibri" pitchFamily="34" charset="0"/>
                <a:ea typeface="Calibri" pitchFamily="34" charset="-122"/>
                <a:cs typeface="Calibri" pitchFamily="34" charset="-120"/>
              </a:rPr>
              <a:t>Those values are actually injected into the running pod’s environment.</a:t>
            </a:r>
            <a:endParaRPr lang="en-US" sz="1300" dirty="0"/>
          </a:p>
          <a:p>
            <a:pPr marL="228600" indent="-228600">
              <a:lnSpc>
                <a:spcPct val="115000"/>
              </a:lnSpc>
              <a:spcAft>
                <a:spcPts val="1200"/>
              </a:spcAft>
              <a:buSzPct val="100000"/>
              <a:buChar char="•"/>
            </a:pPr>
            <a:r>
              <a:rPr lang="en-US" sz="1300" dirty="0">
                <a:solidFill>
                  <a:srgbClr val="6B5643"/>
                </a:solidFill>
                <a:latin typeface="Calibri" pitchFamily="34" charset="0"/>
                <a:ea typeface="Calibri" pitchFamily="34" charset="-122"/>
                <a:cs typeface="Calibri" pitchFamily="34" charset="-120"/>
              </a:rPr>
              <a:t>The service is reachable locally once port-forwarded to the browser.</a:t>
            </a:r>
            <a:endParaRPr lang="en-US" sz="1300" dirty="0"/>
          </a:p>
        </p:txBody>
      </p:sp>
      <p:sp>
        <p:nvSpPr>
          <p:cNvPr id="10" name="Text 7"/>
          <p:cNvSpPr txBox="1"/>
          <p:nvPr/>
        </p:nvSpPr>
        <p:spPr>
          <a:xfrm>
            <a:off x="5029200" y="1874520"/>
            <a:ext cx="6613855" cy="274320"/>
          </a:xfrm>
          <a:prstGeom prst="rect">
            <a:avLst/>
          </a:prstGeom>
          <a:noFill/>
          <a:ln/>
        </p:spPr>
        <p:txBody>
          <a:bodyPr wrap="square" lIns="0" tIns="0" rIns="0" bIns="0" rtlCol="0" anchor="ctr"/>
          <a:lstStyle/>
          <a:p>
            <a:pPr marL="0" indent="0">
              <a:buNone/>
            </a:pPr>
            <a:r>
              <a:rPr lang="en-US" sz="1100" b="1" kern="0" spc="100" dirty="0">
                <a:solidFill>
                  <a:srgbClr val="5B7C99"/>
                </a:solidFill>
                <a:latin typeface="Calibri" pitchFamily="34" charset="0"/>
                <a:ea typeface="Calibri" pitchFamily="34" charset="-122"/>
                <a:cs typeface="Calibri" pitchFamily="34" charset="-120"/>
              </a:rPr>
              <a:t>TERMINAL — VERIFICATION COMMANDS</a:t>
            </a:r>
            <a:endParaRPr lang="en-US" sz="1100" dirty="0"/>
          </a:p>
        </p:txBody>
      </p:sp>
      <p:sp>
        <p:nvSpPr>
          <p:cNvPr id="11" name="Shape 8"/>
          <p:cNvSpPr/>
          <p:nvPr/>
        </p:nvSpPr>
        <p:spPr>
          <a:xfrm>
            <a:off x="5029200" y="2194560"/>
            <a:ext cx="6613855" cy="3840480"/>
          </a:xfrm>
          <a:prstGeom prst="roundRect">
            <a:avLst>
              <a:gd name="adj" fmla="val 1905"/>
            </a:avLst>
          </a:prstGeom>
          <a:solidFill>
            <a:srgbClr val="F5EEE1"/>
          </a:solidFill>
          <a:ln w="12700">
            <a:solidFill>
              <a:srgbClr val="6B5643"/>
            </a:solidFill>
            <a:prstDash val="solid"/>
          </a:ln>
        </p:spPr>
        <p:txBody>
          <a:bodyPr/>
          <a:p/>
        </p:txBody>
      </p:sp>
      <p:sp>
        <p:nvSpPr>
          <p:cNvPr id="12" name="Shape 9"/>
          <p:cNvSpPr/>
          <p:nvPr/>
        </p:nvSpPr>
        <p:spPr>
          <a:xfrm>
            <a:off x="5193792" y="2322576"/>
            <a:ext cx="109728" cy="109728"/>
          </a:xfrm>
          <a:prstGeom prst="ellipse">
            <a:avLst/>
          </a:prstGeom>
          <a:solidFill>
            <a:srgbClr val="EF4444"/>
          </a:solidFill>
          <a:ln/>
        </p:spPr>
        <p:txBody>
          <a:bodyPr/>
          <a:p/>
        </p:txBody>
      </p:sp>
      <p:sp>
        <p:nvSpPr>
          <p:cNvPr id="13" name="Shape 10"/>
          <p:cNvSpPr/>
          <p:nvPr/>
        </p:nvSpPr>
        <p:spPr>
          <a:xfrm>
            <a:off x="5394960" y="2322576"/>
            <a:ext cx="109728" cy="109728"/>
          </a:xfrm>
          <a:prstGeom prst="ellipse">
            <a:avLst/>
          </a:prstGeom>
          <a:solidFill>
            <a:srgbClr val="F59E0B"/>
          </a:solidFill>
          <a:ln/>
        </p:spPr>
        <p:txBody>
          <a:bodyPr/>
          <a:p/>
        </p:txBody>
      </p:sp>
      <p:sp>
        <p:nvSpPr>
          <p:cNvPr id="14" name="Shape 11"/>
          <p:cNvSpPr/>
          <p:nvPr/>
        </p:nvSpPr>
        <p:spPr>
          <a:xfrm>
            <a:off x="5596128" y="2322576"/>
            <a:ext cx="109728" cy="109728"/>
          </a:xfrm>
          <a:prstGeom prst="ellipse">
            <a:avLst/>
          </a:prstGeom>
          <a:solidFill>
            <a:srgbClr val="22C55E"/>
          </a:solidFill>
          <a:ln/>
        </p:spPr>
        <p:txBody>
          <a:bodyPr/>
          <a:p/>
        </p:txBody>
      </p:sp>
      <p:sp>
        <p:nvSpPr>
          <p:cNvPr id="15" name="Text 12"/>
          <p:cNvSpPr txBox="1"/>
          <p:nvPr/>
        </p:nvSpPr>
        <p:spPr>
          <a:xfrm>
            <a:off x="5230368" y="2523744"/>
            <a:ext cx="6211519" cy="3383280"/>
          </a:xfrm>
          <a:prstGeom prst="rect">
            <a:avLst/>
          </a:prstGeom>
          <a:noFill/>
          <a:ln/>
        </p:spPr>
        <p:txBody>
          <a:bodyPr wrap="square" lIns="0" tIns="0" rIns="0" bIns="0" rtlCol="0" anchor="t"/>
          <a:lstStyle/>
          <a:p>
            <a:pPr marL="0" indent="0" algn="l">
              <a:lnSpc>
                <a:spcPct val="110000"/>
              </a:lnSpc>
              <a:buNone/>
            </a:pPr>
            <a:r>
              <a:rPr lang="en-US" sz="1150" dirty="0">
                <a:solidFill>
                  <a:srgbClr val="3E5A72"/>
                </a:solidFill>
                <a:latin typeface="Consolas" pitchFamily="34" charset="0"/>
                <a:ea typeface="Consolas" pitchFamily="34" charset="-122"/>
                <a:cs typeface="Consolas" pitchFamily="34" charset="-120"/>
              </a:rPr>
              <a:t># 1. Check node readiness</a:t>
            </a:r>
            <a:endParaRPr lang="en-US" sz="1150" dirty="0"/>
          </a:p>
          <a:p>
            <a:pPr marL="0" indent="0" algn="l">
              <a:lnSpc>
                <a:spcPct val="110000"/>
              </a:lnSpc>
              <a:buNone/>
            </a:pPr>
            <a:r>
              <a:rPr lang="en-US" sz="1150" dirty="0">
                <a:solidFill>
                  <a:srgbClr val="3E5A72"/>
                </a:solidFill>
                <a:latin typeface="Consolas" pitchFamily="34" charset="0"/>
                <a:ea typeface="Consolas" pitchFamily="34" charset="-122"/>
                <a:cs typeface="Consolas" pitchFamily="34" charset="-120"/>
              </a:rPr>
              <a:t>kubectl get nodes</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3E5A72"/>
                </a:solidFill>
                <a:latin typeface="Consolas" pitchFamily="34" charset="0"/>
                <a:ea typeface="Consolas" pitchFamily="34" charset="-122"/>
                <a:cs typeface="Consolas" pitchFamily="34" charset="-120"/>
              </a:rPr>
              <a:t># 2. Verify Pod status (must be 1/1 Running)</a:t>
            </a:r>
            <a:endParaRPr lang="en-US" sz="1150" dirty="0"/>
          </a:p>
          <a:p>
            <a:pPr marL="0" indent="0" algn="l">
              <a:lnSpc>
                <a:spcPct val="110000"/>
              </a:lnSpc>
              <a:buNone/>
            </a:pPr>
            <a:r>
              <a:rPr lang="en-US" sz="1150" dirty="0">
                <a:solidFill>
                  <a:srgbClr val="3E5A72"/>
                </a:solidFill>
                <a:latin typeface="Consolas" pitchFamily="34" charset="0"/>
                <a:ea typeface="Consolas" pitchFamily="34" charset="-122"/>
                <a:cs typeface="Consolas" pitchFamily="34" charset="-120"/>
              </a:rPr>
              <a:t>kubectl get pods</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3E5A72"/>
                </a:solidFill>
                <a:latin typeface="Consolas" pitchFamily="34" charset="0"/>
                <a:ea typeface="Consolas" pitchFamily="34" charset="-122"/>
                <a:cs typeface="Consolas" pitchFamily="34" charset="-120"/>
              </a:rPr>
              <a:t># 3. Verify ConfigMap values</a:t>
            </a:r>
            <a:endParaRPr lang="en-US" sz="1150" dirty="0"/>
          </a:p>
          <a:p>
            <a:pPr marL="0" indent="0" algn="l">
              <a:lnSpc>
                <a:spcPct val="110000"/>
              </a:lnSpc>
              <a:buNone/>
            </a:pPr>
            <a:r>
              <a:t># 1. Check Minikube node readiness</a:t>
            </a:r>
            <a:br/>
            <a:r>
              <a:t>kubectl get nodes</a:t>
            </a:r>
            <a:br/>
            <a:br/>
            <a:r>
              <a:t># 2. Verify Pod status (must be 1/1 Running)</a:t>
            </a:r>
            <a:br/>
            <a:r>
              <a:t>kubectl get pods -l app=todo-app</a:t>
            </a:r>
            <a:br/>
            <a:br/>
            <a:r>
              <a:t># 3. Retrieve service URL from Minikube</a:t>
            </a:r>
            <a:br/>
            <a:r>
              <a:t>minikube service todo-app-service --url</a:t>
            </a:r>
            <a:br/>
            <a:br/>
            <a:r>
              <a:t># 4. Validate HTTP response status</a:t>
            </a:r>
            <a:br/>
            <a:r>
              <a:t>curl -I $(minikube service todo-app-service --url)</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3E5A72"/>
                </a:solidFill>
                <a:latin typeface="Consolas" pitchFamily="34" charset="0"/>
                <a:ea typeface="Consolas" pitchFamily="34" charset="-122"/>
                <a:cs typeface="Consolas" pitchFamily="34" charset="-120"/>
              </a:rPr>
              <a:t># 4. Verify env var injection inside pod</a:t>
            </a:r>
            <a:endParaRPr lang="en-US" sz="1150" dirty="0"/>
          </a:p>
          <a:p>
            <a:pPr marL="0" indent="0" algn="l">
              <a:lnSpc>
                <a:spcPct val="110000"/>
              </a:lnSpc>
              <a:buNone/>
            </a:pPr>
            <a:r>
              <a:t>kubectl exec deployment/todo-app-deployment \</a:t>
            </a:r>
            <a:endParaRPr lang="en-US" sz="1150" dirty="0"/>
          </a:p>
          <a:p>
            <a:pPr marL="0" indent="0" algn="l">
              <a:lnSpc>
                <a:spcPct val="110000"/>
              </a:lnSpc>
              <a:buNone/>
            </a:pPr>
            <a:r>
              <a:rPr lang="en-US" sz="1150" dirty="0">
                <a:solidFill>
                  <a:srgbClr val="3E5A72"/>
                </a:solidFill>
                <a:latin typeface="Consolas" pitchFamily="34" charset="0"/>
                <a:ea typeface="Consolas" pitchFamily="34" charset="-122"/>
                <a:cs typeface="Consolas" pitchFamily="34" charset="-120"/>
              </a:rPr>
              <a:t>  -- env | grep SUDOKU</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3E5A72"/>
                </a:solidFill>
                <a:latin typeface="Consolas" pitchFamily="34" charset="0"/>
                <a:ea typeface="Consolas" pitchFamily="34" charset="-122"/>
                <a:cs typeface="Consolas" pitchFamily="34" charset="-120"/>
              </a:rPr>
              <a:t># 5. Access app locally via port forwarding</a:t>
            </a:r>
            <a:endParaRPr lang="en-US" sz="1150" dirty="0"/>
          </a:p>
          <a:p>
            <a:pPr marL="0" indent="0" algn="l">
              <a:lnSpc>
                <a:spcPct val="110000"/>
              </a:lnSpc>
              <a:buNone/>
            </a:pPr>
            <a:r>
              <a:t>kubectl port-forward svc/todo-app-service \</a:t>
            </a:r>
            <a:endParaRPr lang="en-US" sz="1150" dirty="0"/>
          </a:p>
          <a:p>
            <a:pPr marL="0" indent="0" algn="l">
              <a:lnSpc>
                <a:spcPct val="110000"/>
              </a:lnSpc>
              <a:buNone/>
            </a:pPr>
            <a:r>
              <a:t># 1. Check Minikube node readiness</a:t>
            </a:r>
            <a:br/>
            <a:r>
              <a:t>kubectl get nodes</a:t>
            </a:r>
            <a:br/>
            <a:br/>
            <a:r>
              <a:t># 2. Verify Pod status (must be 1/1 Running)</a:t>
            </a:r>
            <a:br/>
            <a:r>
              <a:t>kubectl get pods -l app=todo-app</a:t>
            </a:r>
            <a:br/>
            <a:br/>
            <a:r>
              <a:t># 3. Retrieve service URL from Minikube</a:t>
            </a:r>
            <a:br/>
            <a:r>
              <a:t>minikube service todo-app-service --url</a:t>
            </a:r>
            <a:br/>
            <a:br/>
            <a:r>
              <a:t># 4. Validate HTTP response status</a:t>
            </a:r>
            <a:br/>
            <a:r>
              <a:t>curl -I $(minikube service todo-app-service --url)</a:t>
            </a:r>
            <a:endParaRPr lang="en-US" sz="1150" dirty="0"/>
          </a:p>
        </p:txBody>
      </p:sp>
      <p:sp>
        <p:nvSpPr>
          <p:cNvPr id="16" name="Text 13"/>
          <p:cNvSpPr txBox="1"/>
          <p:nvPr/>
        </p:nvSpPr>
        <p:spPr>
          <a:xfrm>
            <a:off x="11002975" y="6400800"/>
            <a:ext cx="914400" cy="274320"/>
          </a:xfrm>
          <a:prstGeom prst="rect">
            <a:avLst/>
          </a:prstGeom>
          <a:noFill/>
          <a:ln/>
        </p:spPr>
        <p:txBody>
          <a:bodyPr wrap="square" lIns="0" tIns="0" rIns="0" bIns="0" rtlCol="0" anchor="ctr"/>
          <a:lstStyle/>
          <a:p>
            <a:pPr marL="0" indent="0" algn="r">
              <a:buNone/>
            </a:pPr>
            <a:r>
              <a:rPr lang="en-US" sz="1000" dirty="0">
                <a:solidFill>
                  <a:srgbClr val="6B5643"/>
                </a:solidFill>
                <a:latin typeface="Calibri" pitchFamily="34" charset="0"/>
                <a:ea typeface="Calibri" pitchFamily="34" charset="-122"/>
                <a:cs typeface="Calibri" pitchFamily="34" charset="-120"/>
              </a:rPr>
              <a:t>10 / 13</a:t>
            </a:r>
            <a:endParaRPr lang="en-US" sz="1000" dirty="0"/>
          </a:p>
        </p:txBody>
      </p:sp>
      <p:sp>
        <p:nvSpPr>
          <p:cNvPr id="17" name="Text 14"/>
          <p:cNvSpPr txBox="1"/>
          <p:nvPr/>
        </p:nvSpPr>
        <p:spPr>
          <a:xfrm>
            <a:off x="457200" y="6400800"/>
            <a:ext cx="5486400" cy="274320"/>
          </a:xfrm>
          <a:prstGeom prst="rect">
            <a:avLst/>
          </a:prstGeom>
          <a:noFill/>
          <a:ln/>
        </p:spPr>
        <p:txBody>
          <a:bodyPr wrap="square" lIns="0" tIns="0" rIns="0" bIns="0" rtlCol="0" anchor="ctr"/>
          <a:lstStyle/>
          <a:p>
            <a:pPr marL="0" indent="0" algn="l">
              <a:buNone/>
            </a:pPr>
            <a:r>
              <a:rPr lang="en-US" sz="1000" kern="0" spc="100" dirty="0">
                <a:solidFill>
                  <a:srgbClr val="6B5643"/>
                </a:solidFill>
                <a:latin typeface="Calibri" pitchFamily="34" charset="0"/>
                <a:ea typeface="Calibri" pitchFamily="34" charset="-122"/>
                <a:cs typeface="Calibri" pitchFamily="34" charset="-120"/>
              </a:rPr>
              <a:t>SUDOKU WEB APP · CI/CD PIPELINE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548640" y="411480"/>
            <a:ext cx="2377440" cy="329184"/>
          </a:xfrm>
          <a:prstGeom prst="roundRect">
            <a:avLst>
              <a:gd name="adj" fmla="val 50000"/>
            </a:avLst>
          </a:prstGeom>
          <a:solidFill>
            <a:srgbClr val="5B7C99">
              <a:alpha val="15000"/>
            </a:srgbClr>
          </a:solidFill>
          <a:ln/>
        </p:spPr>
        <p:txBody>
          <a:bodyPr/>
          <a:p/>
        </p:txBody>
      </p:sp>
      <p:sp>
        <p:nvSpPr>
          <p:cNvPr id="3" name="Text 1"/>
          <p:cNvSpPr txBox="1"/>
          <p:nvPr/>
        </p:nvSpPr>
        <p:spPr>
          <a:xfrm>
            <a:off x="548640" y="411480"/>
            <a:ext cx="2377440" cy="329184"/>
          </a:xfrm>
          <a:prstGeom prst="rect">
            <a:avLst/>
          </a:prstGeom>
          <a:noFill/>
          <a:ln/>
        </p:spPr>
        <p:txBody>
          <a:bodyPr wrap="square" lIns="0" tIns="0" rIns="0" bIns="0" rtlCol="0" anchor="ctr"/>
          <a:lstStyle/>
          <a:p>
            <a:pPr marL="0" indent="0" algn="ctr">
              <a:buNone/>
            </a:pPr>
            <a:r>
              <a:rPr lang="en-US" sz="1100" b="1" kern="0" spc="120" dirty="0">
                <a:solidFill>
                  <a:srgbClr val="3E5A72"/>
                </a:solidFill>
                <a:latin typeface="Calibri" pitchFamily="34" charset="0"/>
                <a:ea typeface="Calibri" pitchFamily="34" charset="-122"/>
                <a:cs typeface="Calibri" pitchFamily="34" charset="-120"/>
              </a:rPr>
              <a:t>LIVE DEMO</a:t>
            </a:r>
            <a:endParaRPr lang="en-US" sz="1100" dirty="0"/>
          </a:p>
        </p:txBody>
      </p:sp>
      <p:sp>
        <p:nvSpPr>
          <p:cNvPr id="4" name="Text 2"/>
          <p:cNvSpPr txBox="1"/>
          <p:nvPr/>
        </p:nvSpPr>
        <p:spPr>
          <a:xfrm>
            <a:off x="548640" y="777240"/>
            <a:ext cx="8229600" cy="548640"/>
          </a:xfrm>
          <a:prstGeom prst="rect">
            <a:avLst/>
          </a:prstGeom>
          <a:noFill/>
          <a:ln/>
        </p:spPr>
        <p:txBody>
          <a:bodyPr wrap="square" lIns="0" tIns="0" rIns="0" bIns="0" rtlCol="0" anchor="ctr"/>
          <a:lstStyle/>
          <a:p>
            <a:pPr marL="0" indent="0">
              <a:buNone/>
            </a:pPr>
            <a:r>
              <a:rPr lang="en-US" sz="2800" b="1" dirty="0">
                <a:solidFill>
                  <a:srgbClr val="3D2B1F"/>
                </a:solidFill>
                <a:latin typeface="Calibri" pitchFamily="34" charset="0"/>
                <a:ea typeface="Calibri" pitchFamily="34" charset="-122"/>
                <a:cs typeface="Calibri" pitchFamily="34" charset="-120"/>
              </a:rPr>
              <a:t>Application Live Demo &amp; Testing</a:t>
            </a:r>
            <a:endParaRPr lang="en-US" sz="2800" dirty="0"/>
          </a:p>
        </p:txBody>
      </p:sp>
      <p:sp>
        <p:nvSpPr>
          <p:cNvPr id="5" name="Text 3"/>
          <p:cNvSpPr txBox="1"/>
          <p:nvPr/>
        </p:nvSpPr>
        <p:spPr>
          <a:xfrm>
            <a:off x="548640" y="1325880"/>
            <a:ext cx="8229600" cy="365760"/>
          </a:xfrm>
          <a:prstGeom prst="rect">
            <a:avLst/>
          </a:prstGeom>
          <a:noFill/>
          <a:ln/>
        </p:spPr>
        <p:txBody>
          <a:bodyPr wrap="square" lIns="0" tIns="0" rIns="0" bIns="0" rtlCol="0" anchor="ctr"/>
          <a:lstStyle/>
          <a:p>
            <a:pPr marL="0" indent="0">
              <a:buNone/>
            </a:pPr>
            <a:r>
              <a:t>Interactive Working &amp; End-to-End User Experience</a:t>
            </a:r>
            <a:endParaRPr lang="en-US" sz="1500" dirty="0"/>
          </a:p>
        </p:txBody>
      </p:sp>
      <p:sp>
        <p:nvSpPr>
          <p:cNvPr id="6" name="Shape 4"/>
          <p:cNvSpPr/>
          <p:nvPr/>
        </p:nvSpPr>
        <p:spPr>
          <a:xfrm>
            <a:off x="548640" y="1965960"/>
            <a:ext cx="4937760" cy="822960"/>
          </a:xfrm>
          <a:prstGeom prst="roundRect">
            <a:avLst>
              <a:gd name="adj" fmla="val 50000"/>
            </a:avLst>
          </a:prstGeom>
          <a:solidFill>
            <a:srgbClr val="3D2B1F"/>
          </a:solidFill>
          <a:ln/>
        </p:spPr>
        <p:txBody>
          <a:bodyPr/>
          <a:p/>
        </p:txBody>
      </p:sp>
      <p:pic>
        <p:nvPicPr>
          <p:cNvPr id="7" name="Image 0" descr="ic_globe.png"/>
          <p:cNvPicPr>
            <a:picLocks noChangeAspect="1"/>
          </p:cNvPicPr>
          <p:nvPr/>
        </p:nvPicPr>
        <p:blipFill>
          <a:blip r:embed="rId3"/>
          <a:stretch>
            <a:fillRect/>
          </a:stretch>
        </p:blipFill>
        <p:spPr>
          <a:xfrm>
            <a:off x="822960" y="2167128"/>
            <a:ext cx="420624" cy="420624"/>
          </a:xfrm>
          <a:prstGeom prst="rect">
            <a:avLst/>
          </a:prstGeom>
        </p:spPr>
      </p:pic>
      <p:sp>
        <p:nvSpPr>
          <p:cNvPr id="8" name="Text 5"/>
          <p:cNvSpPr txBox="1"/>
          <p:nvPr/>
        </p:nvSpPr>
        <p:spPr>
          <a:xfrm>
            <a:off x="1417320" y="1965960"/>
            <a:ext cx="3931920" cy="822960"/>
          </a:xfrm>
          <a:prstGeom prst="rect">
            <a:avLst/>
          </a:prstGeom>
          <a:noFill/>
          <a:ln/>
        </p:spPr>
        <p:txBody>
          <a:bodyPr wrap="square" lIns="0" tIns="0" rIns="0" bIns="0" rtlCol="0" anchor="ctr"/>
          <a:lstStyle/>
          <a:p>
            <a:pPr marL="0" indent="0">
              <a:buNone/>
            </a:pPr>
            <a:r>
              <a:t>http://&lt;minikube-ip&gt;:30080</a:t>
            </a:r>
            <a:endParaRPr lang="en-US" sz="1800" dirty="0"/>
          </a:p>
        </p:txBody>
      </p:sp>
      <p:sp>
        <p:nvSpPr>
          <p:cNvPr id="9" name="Text 6"/>
          <p:cNvSpPr txBox="1"/>
          <p:nvPr/>
        </p:nvSpPr>
        <p:spPr>
          <a:xfrm>
            <a:off x="548640" y="3063240"/>
            <a:ext cx="4572000" cy="274320"/>
          </a:xfrm>
          <a:prstGeom prst="rect">
            <a:avLst/>
          </a:prstGeom>
          <a:noFill/>
          <a:ln/>
        </p:spPr>
        <p:txBody>
          <a:bodyPr wrap="square" lIns="0" tIns="0" rIns="0" bIns="0" rtlCol="0" anchor="ctr"/>
          <a:lstStyle/>
          <a:p>
            <a:pPr marL="0" indent="0">
              <a:buNone/>
            </a:pPr>
            <a:r>
              <a:t>HOW THE SYSTEM OPERATES</a:t>
            </a:r>
            <a:endParaRPr lang="en-US" sz="1100" dirty="0"/>
          </a:p>
        </p:txBody>
      </p:sp>
      <p:sp>
        <p:nvSpPr>
          <p:cNvPr id="10" name="Text 7"/>
          <p:cNvSpPr txBox="1"/>
          <p:nvPr/>
        </p:nvSpPr>
        <p:spPr>
          <a:xfrm>
            <a:off x="548640" y="3383280"/>
            <a:ext cx="4937760" cy="2560320"/>
          </a:xfrm>
          <a:prstGeom prst="rect">
            <a:avLst/>
          </a:prstGeom>
          <a:noFill/>
          <a:ln/>
        </p:spPr>
        <p:txBody>
          <a:bodyPr wrap="square" lIns="0" tIns="0" rIns="0" bIns="0" rtlCol="0" anchor="t"/>
          <a:lstStyle/>
          <a:p>
            <a:pPr marL="228600" indent="-228600">
              <a:lnSpc>
                <a:spcPct val="115000"/>
              </a:lnSpc>
              <a:spcAft>
                <a:spcPts val="1200"/>
              </a:spcAft>
              <a:buSzPct val="100000"/>
              <a:buChar char="•"/>
            </a:pPr>
            <a:r>
              <a:t>1. User Action: Enter tasks, assign priorities (High/Med/Low), and add items.</a:t>
            </a:r>
            <a:br/>
            <a:r>
              <a:t>2. Dynamic DOM Engine: JavaScript renders task cards with instant visual badges.</a:t>
            </a:r>
            <a:br/>
            <a:r>
              <a:t>3. Filter &amp; Counter Logic: Real-time tabs (All / Active / Completed) and task counts.</a:t>
            </a:r>
            <a:br/>
            <a:r>
              <a:t>4. Storage Sync: Browser LocalStorage preserves tasks across tab &amp; browser reloads.</a:t>
            </a:r>
            <a:br/>
            <a:r>
              <a:t>5. Kubernetes Delivery: Replicated Nginx pods ensure sub-10ms response times.</a:t>
            </a:r>
            <a:endParaRPr lang="en-US" sz="1400" dirty="0"/>
          </a:p>
          <a:p>
            <a:pPr marL="228600" indent="-228600">
              <a:lnSpc>
                <a:spcPct val="115000"/>
              </a:lnSpc>
              <a:spcAft>
                <a:spcPts val="1200"/>
              </a:spcAft>
              <a:buSzPct val="100000"/>
              <a:buChar char="•"/>
            </a:pPr>
            <a:r>
              <a:rPr lang="en-US" sz="1400" dirty="0">
                <a:solidFill>
                  <a:srgbClr val="3D2B1F"/>
                </a:solidFill>
                <a:latin typeface="Calibri" pitchFamily="34" charset="0"/>
                <a:ea typeface="Calibri" pitchFamily="34" charset="-122"/>
                <a:cs typeface="Calibri" pitchFamily="34" charset="-120"/>
              </a:rPr>
              <a:t>Pre-populated difficulty layout, driven live by the Kubernetes ConfigMap.</a:t>
            </a:r>
            <a:endParaRPr lang="en-US" sz="1400" dirty="0"/>
          </a:p>
          <a:p>
            <a:pPr marL="228600" indent="-228600">
              <a:lnSpc>
                <a:spcPct val="115000"/>
              </a:lnSpc>
              <a:spcAft>
                <a:spcPts val="1200"/>
              </a:spcAft>
              <a:buSzPct val="100000"/>
              <a:buChar char="•"/>
            </a:pPr>
            <a:r>
              <a:rPr lang="en-US" sz="1400" dirty="0">
                <a:solidFill>
                  <a:srgbClr val="3D2B1F"/>
                </a:solidFill>
                <a:latin typeface="Calibri" pitchFamily="34" charset="0"/>
                <a:ea typeface="Calibri" pitchFamily="34" charset="-122"/>
                <a:cs typeface="Calibri" pitchFamily="34" charset="-120"/>
              </a:rPr>
              <a:t>Real-time attempt tracking as the player fills in the grid.</a:t>
            </a:r>
            <a:endParaRPr lang="en-US" sz="1400" dirty="0"/>
          </a:p>
          <a:p>
            <a:pPr marL="228600" indent="-228600">
              <a:lnSpc>
                <a:spcPct val="115000"/>
              </a:lnSpc>
              <a:spcAft>
                <a:spcPts val="1200"/>
              </a:spcAft>
              <a:buSzPct val="100000"/>
              <a:buChar char="•"/>
            </a:pPr>
            <a:r>
              <a:rPr lang="en-US" sz="1400" dirty="0">
                <a:solidFill>
                  <a:srgbClr val="3D2B1F"/>
                </a:solidFill>
                <a:latin typeface="Calibri" pitchFamily="34" charset="0"/>
                <a:ea typeface="Calibri" pitchFamily="34" charset="-122"/>
                <a:cs typeface="Calibri" pitchFamily="34" charset="-120"/>
              </a:rPr>
              <a:t>Interactive solver interface for hints and validation.</a:t>
            </a:r>
            <a:endParaRPr lang="en-US" sz="1400" dirty="0"/>
          </a:p>
        </p:txBody>
      </p:sp>
      <p:sp>
        <p:nvSpPr>
          <p:cNvPr id="11" name="Shape 8"/>
          <p:cNvSpPr/>
          <p:nvPr/>
        </p:nvSpPr>
        <p:spPr>
          <a:xfrm>
            <a:off x="6263640" y="1325880"/>
            <a:ext cx="4736592" cy="4736592"/>
          </a:xfrm>
          <a:prstGeom prst="roundRect">
            <a:avLst>
              <a:gd name="adj" fmla="val 1931"/>
            </a:avLst>
          </a:prstGeom>
          <a:solidFill>
            <a:srgbClr val="FFFFFF"/>
          </a:solidFill>
          <a:ln w="12700">
            <a:solidFill>
              <a:srgbClr val="D8CFC0"/>
            </a:solidFill>
            <a:prstDash val="solid"/>
          </a:ln>
        </p:spPr>
        <p:txBody>
          <a:bodyPr/>
          <a:p/>
        </p:txBody>
      </p:sp>
      <p:sp>
        <p:nvSpPr>
          <p:cNvPr id="131" name="Text 128"/>
          <p:cNvSpPr txBox="1"/>
          <p:nvPr/>
        </p:nvSpPr>
        <p:spPr>
          <a:xfrm>
            <a:off x="11002975" y="6400800"/>
            <a:ext cx="914400" cy="274320"/>
          </a:xfrm>
          <a:prstGeom prst="rect">
            <a:avLst/>
          </a:prstGeom>
          <a:noFill/>
          <a:ln/>
        </p:spPr>
        <p:txBody>
          <a:bodyPr wrap="square" lIns="0" tIns="0" rIns="0" bIns="0" rtlCol="0" anchor="ctr"/>
          <a:lstStyle/>
          <a:p>
            <a:pPr marL="0" indent="0" algn="r">
              <a:buNone/>
            </a:pPr>
            <a:r>
              <a:rPr lang="en-US" sz="1000" dirty="0">
                <a:solidFill>
                  <a:srgbClr val="6B5643"/>
                </a:solidFill>
                <a:latin typeface="Calibri" pitchFamily="34" charset="0"/>
                <a:ea typeface="Calibri" pitchFamily="34" charset="-122"/>
                <a:cs typeface="Calibri" pitchFamily="34" charset="-120"/>
              </a:rPr>
              <a:t>11 / 13</a:t>
            </a:r>
            <a:endParaRPr lang="en-US" sz="1000" dirty="0"/>
          </a:p>
        </p:txBody>
      </p:sp>
      <p:sp>
        <p:nvSpPr>
          <p:cNvPr id="132" name="Text 129"/>
          <p:cNvSpPr txBox="1"/>
          <p:nvPr/>
        </p:nvSpPr>
        <p:spPr>
          <a:xfrm>
            <a:off x="457200" y="6400800"/>
            <a:ext cx="5486400" cy="274320"/>
          </a:xfrm>
          <a:prstGeom prst="rect">
            <a:avLst/>
          </a:prstGeom>
          <a:noFill/>
          <a:ln/>
        </p:spPr>
        <p:txBody>
          <a:bodyPr wrap="square" lIns="0" tIns="0" rIns="0" bIns="0" rtlCol="0" anchor="ctr"/>
          <a:lstStyle/>
          <a:p>
            <a:pPr marL="0" indent="0" algn="l">
              <a:buNone/>
            </a:pPr>
            <a:r>
              <a:rPr lang="en-US" sz="1000" kern="0" spc="100" dirty="0">
                <a:solidFill>
                  <a:srgbClr val="6B5643"/>
                </a:solidFill>
                <a:latin typeface="Calibri" pitchFamily="34" charset="0"/>
                <a:ea typeface="Calibri" pitchFamily="34" charset="-122"/>
                <a:cs typeface="Calibri" pitchFamily="34" charset="-120"/>
              </a:rPr>
              <a:t>SUDOKU WEB APP · CI/CD PIPELINE</a:t>
            </a:r>
            <a:endParaRPr lang="en-US" sz="1000" dirty="0"/>
          </a:p>
        </p:txBody>
      </p:sp>
      <p:sp>
        <p:nvSpPr>
          <p:cNvPr id="133" name="Rounded Rectangle 132"/>
          <p:cNvSpPr/>
          <p:nvPr/>
        </p:nvSpPr>
        <p:spPr>
          <a:xfrm>
            <a:off x="6217920" y="1371600"/>
            <a:ext cx="5303520" cy="4572000"/>
          </a:xfrm>
          <a:prstGeom prst="roundRect">
            <a:avLst/>
          </a:prstGeom>
          <a:solidFill>
            <a:srgbClr val="1A2639"/>
          </a:solidFill>
          <a:ln w="19050">
            <a:solidFill>
              <a:srgbClr val="5B7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6492240" y="1554480"/>
            <a:ext cx="4754880" cy="457200"/>
          </a:xfrm>
          <a:prstGeom prst="rect">
            <a:avLst/>
          </a:prstGeom>
          <a:noFill/>
        </p:spPr>
        <p:txBody>
          <a:bodyPr wrap="none">
            <a:spAutoFit/>
          </a:bodyPr>
          <a:lstStyle/>
          <a:p>
            <a:pPr>
              <a:defRPr sz="1200" b="1">
                <a:solidFill>
                  <a:srgbClr val="FFFFFF"/>
                </a:solidFill>
              </a:defRPr>
            </a:pPr>
            <a:r>
              <a:t>⚡ TO-DO APP — LIVE CLUSTER DASHBOARD</a:t>
            </a:r>
          </a:p>
        </p:txBody>
      </p:sp>
      <p:sp>
        <p:nvSpPr>
          <p:cNvPr id="135" name="Rectangle 134"/>
          <p:cNvSpPr/>
          <p:nvPr/>
        </p:nvSpPr>
        <p:spPr>
          <a:xfrm>
            <a:off x="6492240" y="2103120"/>
            <a:ext cx="3474720" cy="411480"/>
          </a:xfrm>
          <a:prstGeom prst="rect">
            <a:avLst/>
          </a:prstGeom>
          <a:solidFill>
            <a:srgbClr val="0F172A"/>
          </a:solidFill>
          <a:ln>
            <a:solidFill>
              <a:srgbClr val="3E5A7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A0AEC0"/>
                </a:solidFill>
              </a:defRPr>
            </a:pPr>
            <a:r>
              <a:t> Deploy monitoring stack to K8s...</a:t>
            </a:r>
          </a:p>
        </p:txBody>
      </p:sp>
      <p:sp>
        <p:nvSpPr>
          <p:cNvPr id="136" name="Rectangle 135"/>
          <p:cNvSpPr/>
          <p:nvPr/>
        </p:nvSpPr>
        <p:spPr>
          <a:xfrm>
            <a:off x="10058400" y="2103120"/>
            <a:ext cx="1188720" cy="411480"/>
          </a:xfrm>
          <a:prstGeom prst="rect">
            <a:avLst/>
          </a:prstGeom>
          <a:solidFill>
            <a:srgbClr val="5B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 Add Task</a:t>
            </a:r>
          </a:p>
        </p:txBody>
      </p:sp>
      <p:sp>
        <p:nvSpPr>
          <p:cNvPr id="137" name="Rounded Rectangle 136"/>
          <p:cNvSpPr/>
          <p:nvPr/>
        </p:nvSpPr>
        <p:spPr>
          <a:xfrm>
            <a:off x="6492240" y="2697480"/>
            <a:ext cx="4754880" cy="502920"/>
          </a:xfrm>
          <a:prstGeom prst="roundRect">
            <a:avLst/>
          </a:prstGeom>
          <a:solidFill>
            <a:srgbClr val="141E30"/>
          </a:solidFill>
          <a:ln w="12700">
            <a:solidFill>
              <a:srgbClr val="2D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A169"/>
                </a:solidFill>
              </a:defRPr>
            </a:pPr>
            <a:r>
              <a:t> ✔  Provision Minikube Cluster with Terraform</a:t>
            </a:r>
          </a:p>
        </p:txBody>
      </p:sp>
      <p:sp>
        <p:nvSpPr>
          <p:cNvPr id="138" name="Rectangle 137"/>
          <p:cNvSpPr/>
          <p:nvPr/>
        </p:nvSpPr>
        <p:spPr>
          <a:xfrm>
            <a:off x="10332720" y="2807208"/>
            <a:ext cx="777240" cy="274320"/>
          </a:xfrm>
          <a:prstGeom prst="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High</a:t>
            </a:r>
          </a:p>
        </p:txBody>
      </p:sp>
      <p:sp>
        <p:nvSpPr>
          <p:cNvPr id="139" name="Rounded Rectangle 138"/>
          <p:cNvSpPr/>
          <p:nvPr/>
        </p:nvSpPr>
        <p:spPr>
          <a:xfrm>
            <a:off x="6492240" y="3264408"/>
            <a:ext cx="4754880" cy="502920"/>
          </a:xfrm>
          <a:prstGeom prst="roundRect">
            <a:avLst/>
          </a:prstGeom>
          <a:solidFill>
            <a:srgbClr val="141E30"/>
          </a:solidFill>
          <a:ln w="12700">
            <a:solidFill>
              <a:srgbClr val="2D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A169"/>
                </a:solidFill>
              </a:defRPr>
            </a:pPr>
            <a:r>
              <a:t> ✔  Install &amp; Configure Jenkins via Ansible</a:t>
            </a:r>
          </a:p>
        </p:txBody>
      </p:sp>
      <p:sp>
        <p:nvSpPr>
          <p:cNvPr id="140" name="Rectangle 139"/>
          <p:cNvSpPr/>
          <p:nvPr/>
        </p:nvSpPr>
        <p:spPr>
          <a:xfrm>
            <a:off x="10332720" y="3374136"/>
            <a:ext cx="777240" cy="274320"/>
          </a:xfrm>
          <a:prstGeom prst="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High</a:t>
            </a:r>
          </a:p>
        </p:txBody>
      </p:sp>
      <p:sp>
        <p:nvSpPr>
          <p:cNvPr id="141" name="Rounded Rectangle 140"/>
          <p:cNvSpPr/>
          <p:nvPr/>
        </p:nvSpPr>
        <p:spPr>
          <a:xfrm>
            <a:off x="6492240" y="3831336"/>
            <a:ext cx="4754880" cy="502920"/>
          </a:xfrm>
          <a:prstGeom prst="roundRect">
            <a:avLst/>
          </a:prstGeom>
          <a:solidFill>
            <a:srgbClr val="141E30"/>
          </a:solidFill>
          <a:ln w="12700">
            <a:solidFill>
              <a:srgbClr val="2D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A169"/>
                </a:solidFill>
              </a:defRPr>
            </a:pPr>
            <a:r>
              <a:t> ✔  Build &amp; Deploy To-Do Pods to Kubernetes</a:t>
            </a:r>
          </a:p>
        </p:txBody>
      </p:sp>
      <p:sp>
        <p:nvSpPr>
          <p:cNvPr id="142" name="Rectangle 141"/>
          <p:cNvSpPr/>
          <p:nvPr/>
        </p:nvSpPr>
        <p:spPr>
          <a:xfrm>
            <a:off x="10332720" y="3941064"/>
            <a:ext cx="777240" cy="274320"/>
          </a:xfrm>
          <a:prstGeom prst="rect">
            <a:avLst/>
          </a:prstGeom>
          <a:solidFill>
            <a:srgbClr val="D69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Medium</a:t>
            </a:r>
          </a:p>
        </p:txBody>
      </p:sp>
      <p:sp>
        <p:nvSpPr>
          <p:cNvPr id="143" name="Rounded Rectangle 142"/>
          <p:cNvSpPr/>
          <p:nvPr/>
        </p:nvSpPr>
        <p:spPr>
          <a:xfrm>
            <a:off x="6492240" y="4398264"/>
            <a:ext cx="4754880" cy="502920"/>
          </a:xfrm>
          <a:prstGeom prst="roundRect">
            <a:avLst/>
          </a:prstGeom>
          <a:solidFill>
            <a:srgbClr val="0F172A"/>
          </a:solidFill>
          <a:ln w="12700">
            <a:solidFill>
              <a:srgbClr val="2D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E2E8F0"/>
                </a:solidFill>
              </a:defRPr>
            </a:pPr>
            <a:r>
              <a:t> ○  Expose App via NodePort &amp; Validate Probes</a:t>
            </a:r>
          </a:p>
        </p:txBody>
      </p:sp>
      <p:sp>
        <p:nvSpPr>
          <p:cNvPr id="144" name="Rectangle 143"/>
          <p:cNvSpPr/>
          <p:nvPr/>
        </p:nvSpPr>
        <p:spPr>
          <a:xfrm>
            <a:off x="10332720" y="4507992"/>
            <a:ext cx="777240" cy="274320"/>
          </a:xfrm>
          <a:prstGeom prst="rect">
            <a:avLst/>
          </a:prstGeom>
          <a:solidFill>
            <a:srgbClr val="D69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Medium</a:t>
            </a:r>
          </a:p>
        </p:txBody>
      </p:sp>
      <p:sp>
        <p:nvSpPr>
          <p:cNvPr id="145" name="Rounded Rectangle 144"/>
          <p:cNvSpPr/>
          <p:nvPr/>
        </p:nvSpPr>
        <p:spPr>
          <a:xfrm>
            <a:off x="6492240" y="4965192"/>
            <a:ext cx="4754880" cy="502920"/>
          </a:xfrm>
          <a:prstGeom prst="roundRect">
            <a:avLst/>
          </a:prstGeom>
          <a:solidFill>
            <a:srgbClr val="0F172A"/>
          </a:solidFill>
          <a:ln w="12700">
            <a:solidFill>
              <a:srgbClr val="2D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A0AEC0"/>
                </a:solidFill>
              </a:defRPr>
            </a:pPr>
            <a:r>
              <a:t> ○  Add Automated Prometheus Metric Scraping</a:t>
            </a:r>
          </a:p>
        </p:txBody>
      </p:sp>
      <p:sp>
        <p:nvSpPr>
          <p:cNvPr id="146" name="Rectangle 145"/>
          <p:cNvSpPr/>
          <p:nvPr/>
        </p:nvSpPr>
        <p:spPr>
          <a:xfrm>
            <a:off x="10332720" y="5074920"/>
            <a:ext cx="777240" cy="27432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Low</a:t>
            </a:r>
          </a:p>
        </p:txBody>
      </p:sp>
      <p:sp>
        <p:nvSpPr>
          <p:cNvPr id="147" name="TextBox 146"/>
          <p:cNvSpPr txBox="1"/>
          <p:nvPr/>
        </p:nvSpPr>
        <p:spPr>
          <a:xfrm>
            <a:off x="6492240" y="5532120"/>
            <a:ext cx="4754880" cy="320040"/>
          </a:xfrm>
          <a:prstGeom prst="rect">
            <a:avLst/>
          </a:prstGeom>
          <a:noFill/>
        </p:spPr>
        <p:txBody>
          <a:bodyPr wrap="none">
            <a:spAutoFit/>
          </a:bodyPr>
          <a:lstStyle/>
          <a:p>
            <a:pPr>
              <a:defRPr sz="850">
                <a:solidFill>
                  <a:srgbClr val="A0AEC0"/>
                </a:solidFill>
              </a:defRPr>
            </a:pPr>
            <a:r>
              <a:t>📊 Total Tasks: 5   |   Completed: 3   |   Active: 2   |   LocalStorage: Synchronized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E3EAEE">
              <a:alpha val="40000"/>
            </a:srgbClr>
          </a:solidFill>
          <a:ln/>
        </p:spPr>
        <p:txBody>
          <a:bodyPr/>
          <a:p/>
        </p:txBody>
      </p:sp>
      <p:sp>
        <p:nvSpPr>
          <p:cNvPr id="3" name="Shape 1"/>
          <p:cNvSpPr/>
          <p:nvPr/>
        </p:nvSpPr>
        <p:spPr>
          <a:xfrm>
            <a:off x="548640" y="548640"/>
            <a:ext cx="2377440" cy="329184"/>
          </a:xfrm>
          <a:prstGeom prst="roundRect">
            <a:avLst>
              <a:gd name="adj" fmla="val 50000"/>
            </a:avLst>
          </a:prstGeom>
          <a:solidFill>
            <a:srgbClr val="3E5A72">
              <a:alpha val="40000"/>
            </a:srgbClr>
          </a:solidFill>
          <a:ln/>
        </p:spPr>
        <p:txBody>
          <a:bodyPr/>
          <a:p/>
        </p:txBody>
      </p:sp>
      <p:sp>
        <p:nvSpPr>
          <p:cNvPr id="4" name="Text 2"/>
          <p:cNvSpPr txBox="1"/>
          <p:nvPr/>
        </p:nvSpPr>
        <p:spPr>
          <a:xfrm>
            <a:off x="548640" y="548640"/>
            <a:ext cx="2377440" cy="329184"/>
          </a:xfrm>
          <a:prstGeom prst="rect">
            <a:avLst/>
          </a:prstGeom>
          <a:noFill/>
          <a:ln/>
        </p:spPr>
        <p:txBody>
          <a:bodyPr wrap="square" lIns="0" tIns="0" rIns="0" bIns="0" rtlCol="0" anchor="ctr"/>
          <a:lstStyle/>
          <a:p>
            <a:pPr marL="0" indent="0" algn="ctr">
              <a:buNone/>
            </a:pPr>
            <a:r>
              <a:rPr lang="en-US" sz="1100" b="1" kern="0" spc="120" dirty="0">
                <a:solidFill>
                  <a:srgbClr val="5B7C99"/>
                </a:solidFill>
                <a:latin typeface="Calibri" pitchFamily="34" charset="0"/>
                <a:ea typeface="Calibri" pitchFamily="34" charset="-122"/>
                <a:cs typeface="Calibri" pitchFamily="34" charset="-120"/>
              </a:rPr>
              <a:t>MAINTENANCE</a:t>
            </a:r>
            <a:endParaRPr lang="en-US" sz="1100" dirty="0"/>
          </a:p>
        </p:txBody>
      </p:sp>
      <p:sp>
        <p:nvSpPr>
          <p:cNvPr id="5" name="Text 3"/>
          <p:cNvSpPr txBox="1"/>
          <p:nvPr/>
        </p:nvSpPr>
        <p:spPr>
          <a:xfrm>
            <a:off x="548640" y="1051560"/>
            <a:ext cx="8229600" cy="548640"/>
          </a:xfrm>
          <a:prstGeom prst="rect">
            <a:avLst/>
          </a:prstGeom>
          <a:noFill/>
          <a:ln/>
        </p:spPr>
        <p:txBody>
          <a:bodyPr wrap="square" lIns="0" tIns="0" rIns="0" bIns="0" rtlCol="0" anchor="ctr"/>
          <a:lstStyle/>
          <a:p>
            <a:pPr marL="0" indent="0">
              <a:buNone/>
            </a:pPr>
            <a:r>
              <a:rPr lang="en-US" sz="3000" b="1" dirty="0">
                <a:solidFill>
                  <a:srgbClr val="3D2B1F"/>
                </a:solidFill>
                <a:latin typeface="Calibri" pitchFamily="34" charset="0"/>
                <a:ea typeface="Calibri" pitchFamily="34" charset="-122"/>
                <a:cs typeface="Calibri" pitchFamily="34" charset="-120"/>
              </a:rPr>
              <a:t>Teardown &amp; Cluster Cleanup</a:t>
            </a:r>
            <a:endParaRPr lang="en-US" sz="3000" dirty="0"/>
          </a:p>
        </p:txBody>
      </p:sp>
      <p:pic>
        <p:nvPicPr>
          <p:cNvPr id="6" name="Image 0" descr="ic_broom.png"/>
          <p:cNvPicPr>
            <a:picLocks noChangeAspect="1"/>
          </p:cNvPicPr>
          <p:nvPr/>
        </p:nvPicPr>
        <p:blipFill>
          <a:blip r:embed="rId3"/>
          <a:stretch>
            <a:fillRect/>
          </a:stretch>
        </p:blipFill>
        <p:spPr>
          <a:xfrm>
            <a:off x="10241280" y="822960"/>
            <a:ext cx="822960" cy="822960"/>
          </a:xfrm>
          <a:prstGeom prst="rect">
            <a:avLst/>
          </a:prstGeom>
        </p:spPr>
      </p:pic>
      <p:sp>
        <p:nvSpPr>
          <p:cNvPr id="7" name="Text 4"/>
          <p:cNvSpPr txBox="1"/>
          <p:nvPr/>
        </p:nvSpPr>
        <p:spPr>
          <a:xfrm>
            <a:off x="548640" y="1920240"/>
            <a:ext cx="4937760" cy="292608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450" dirty="0">
                <a:solidFill>
                  <a:srgbClr val="6B5643"/>
                </a:solidFill>
                <a:latin typeface="Calibri" pitchFamily="34" charset="0"/>
                <a:ea typeface="Calibri" pitchFamily="34" charset="-122"/>
                <a:cs typeface="Calibri" pitchFamily="34" charset="-120"/>
              </a:rPr>
              <a:t>Everything provisioned by Terraform can be torn down with a single command.</a:t>
            </a:r>
            <a:endParaRPr lang="en-US" sz="1450" dirty="0"/>
          </a:p>
          <a:p>
            <a:pPr marL="228600" indent="-228600">
              <a:lnSpc>
                <a:spcPct val="115000"/>
              </a:lnSpc>
              <a:spcAft>
                <a:spcPts val="1400"/>
              </a:spcAft>
              <a:buSzPct val="100000"/>
              <a:buChar char="•"/>
            </a:pPr>
            <a:r>
              <a:t>Destroys the Minikube cluster, its nodes, and every resource created inside it.</a:t>
            </a:r>
            <a:endParaRPr lang="en-US" sz="1450" dirty="0"/>
          </a:p>
          <a:p>
            <a:pPr marL="228600" indent="-228600">
              <a:lnSpc>
                <a:spcPct val="115000"/>
              </a:lnSpc>
              <a:spcAft>
                <a:spcPts val="1400"/>
              </a:spcAft>
              <a:buSzPct val="100000"/>
              <a:buChar char="•"/>
            </a:pPr>
            <a:r>
              <a:rPr lang="en-US" sz="1450" dirty="0">
                <a:solidFill>
                  <a:srgbClr val="6B5643"/>
                </a:solidFill>
                <a:latin typeface="Calibri" pitchFamily="34" charset="0"/>
                <a:ea typeface="Calibri" pitchFamily="34" charset="-122"/>
                <a:cs typeface="Calibri" pitchFamily="34" charset="-120"/>
              </a:rPr>
              <a:t>Guarantees no orphaned containers or dangling infrastructure are left behind.</a:t>
            </a:r>
            <a:endParaRPr lang="en-US" sz="1450" dirty="0"/>
          </a:p>
          <a:p>
            <a:pPr marL="228600" indent="-228600">
              <a:lnSpc>
                <a:spcPct val="115000"/>
              </a:lnSpc>
              <a:spcAft>
                <a:spcPts val="1400"/>
              </a:spcAft>
              <a:buSzPct val="100000"/>
              <a:buChar char="•"/>
            </a:pPr>
            <a:r>
              <a:rPr lang="en-US" sz="1450" dirty="0">
                <a:solidFill>
                  <a:srgbClr val="6B5643"/>
                </a:solidFill>
                <a:latin typeface="Calibri" pitchFamily="34" charset="0"/>
                <a:ea typeface="Calibri" pitchFamily="34" charset="-122"/>
                <a:cs typeface="Calibri" pitchFamily="34" charset="-120"/>
              </a:rPr>
              <a:t>Re-running terraform apply afterward rebuilds an identical environment from scratch.</a:t>
            </a:r>
            <a:endParaRPr lang="en-US" sz="1450" dirty="0"/>
          </a:p>
        </p:txBody>
      </p:sp>
      <p:sp>
        <p:nvSpPr>
          <p:cNvPr id="8" name="Text 5"/>
          <p:cNvSpPr txBox="1"/>
          <p:nvPr/>
        </p:nvSpPr>
        <p:spPr>
          <a:xfrm>
            <a:off x="6035040" y="1920240"/>
            <a:ext cx="5577840" cy="274320"/>
          </a:xfrm>
          <a:prstGeom prst="rect">
            <a:avLst/>
          </a:prstGeom>
          <a:noFill/>
          <a:ln/>
        </p:spPr>
        <p:txBody>
          <a:bodyPr wrap="square" lIns="0" tIns="0" rIns="0" bIns="0" rtlCol="0" anchor="ctr"/>
          <a:lstStyle/>
          <a:p>
            <a:pPr marL="0" indent="0">
              <a:buNone/>
            </a:pPr>
            <a:r>
              <a:rPr lang="en-US" sz="1100" b="1" kern="0" spc="100" dirty="0">
                <a:solidFill>
                  <a:srgbClr val="5B7C99"/>
                </a:solidFill>
                <a:latin typeface="Calibri" pitchFamily="34" charset="0"/>
                <a:ea typeface="Calibri" pitchFamily="34" charset="-122"/>
                <a:cs typeface="Calibri" pitchFamily="34" charset="-120"/>
              </a:rPr>
              <a:t>TERMINAL — DESTROY</a:t>
            </a:r>
            <a:endParaRPr lang="en-US" sz="1100" dirty="0"/>
          </a:p>
        </p:txBody>
      </p:sp>
      <p:sp>
        <p:nvSpPr>
          <p:cNvPr id="9" name="Shape 6"/>
          <p:cNvSpPr/>
          <p:nvPr/>
        </p:nvSpPr>
        <p:spPr>
          <a:xfrm>
            <a:off x="6035040" y="2240280"/>
            <a:ext cx="5577840" cy="1828800"/>
          </a:xfrm>
          <a:prstGeom prst="roundRect">
            <a:avLst>
              <a:gd name="adj" fmla="val 4000"/>
            </a:avLst>
          </a:prstGeom>
          <a:solidFill>
            <a:srgbClr val="F5EEE1"/>
          </a:solidFill>
          <a:ln w="12700">
            <a:solidFill>
              <a:srgbClr val="6B5643"/>
            </a:solidFill>
            <a:prstDash val="solid"/>
          </a:ln>
        </p:spPr>
        <p:txBody>
          <a:bodyPr/>
          <a:p/>
        </p:txBody>
      </p:sp>
      <p:sp>
        <p:nvSpPr>
          <p:cNvPr id="10" name="Shape 7"/>
          <p:cNvSpPr/>
          <p:nvPr/>
        </p:nvSpPr>
        <p:spPr>
          <a:xfrm>
            <a:off x="6199632" y="2368296"/>
            <a:ext cx="109728" cy="109728"/>
          </a:xfrm>
          <a:prstGeom prst="ellipse">
            <a:avLst/>
          </a:prstGeom>
          <a:solidFill>
            <a:srgbClr val="EF4444"/>
          </a:solidFill>
          <a:ln/>
        </p:spPr>
        <p:txBody>
          <a:bodyPr/>
          <a:p/>
        </p:txBody>
      </p:sp>
      <p:sp>
        <p:nvSpPr>
          <p:cNvPr id="11" name="Shape 8"/>
          <p:cNvSpPr/>
          <p:nvPr/>
        </p:nvSpPr>
        <p:spPr>
          <a:xfrm>
            <a:off x="6400800" y="2368296"/>
            <a:ext cx="109728" cy="109728"/>
          </a:xfrm>
          <a:prstGeom prst="ellipse">
            <a:avLst/>
          </a:prstGeom>
          <a:solidFill>
            <a:srgbClr val="F59E0B"/>
          </a:solidFill>
          <a:ln/>
        </p:spPr>
        <p:txBody>
          <a:bodyPr/>
          <a:p/>
        </p:txBody>
      </p:sp>
      <p:sp>
        <p:nvSpPr>
          <p:cNvPr id="12" name="Shape 9"/>
          <p:cNvSpPr/>
          <p:nvPr/>
        </p:nvSpPr>
        <p:spPr>
          <a:xfrm>
            <a:off x="6601968" y="2368296"/>
            <a:ext cx="109728" cy="109728"/>
          </a:xfrm>
          <a:prstGeom prst="ellipse">
            <a:avLst/>
          </a:prstGeom>
          <a:solidFill>
            <a:srgbClr val="22C55E"/>
          </a:solidFill>
          <a:ln/>
        </p:spPr>
        <p:txBody>
          <a:bodyPr/>
          <a:p/>
        </p:txBody>
      </p:sp>
      <p:sp>
        <p:nvSpPr>
          <p:cNvPr id="13" name="Text 10"/>
          <p:cNvSpPr txBox="1"/>
          <p:nvPr/>
        </p:nvSpPr>
        <p:spPr>
          <a:xfrm>
            <a:off x="6236208" y="2569464"/>
            <a:ext cx="5175504" cy="1371600"/>
          </a:xfrm>
          <a:prstGeom prst="rect">
            <a:avLst/>
          </a:prstGeom>
          <a:noFill/>
          <a:ln/>
        </p:spPr>
        <p:txBody>
          <a:bodyPr wrap="square" lIns="0" tIns="0" rIns="0" bIns="0" rtlCol="0" anchor="t"/>
          <a:lstStyle/>
          <a:p>
            <a:pPr marL="0" indent="0" algn="l">
              <a:lnSpc>
                <a:spcPct val="110000"/>
              </a:lnSpc>
              <a:buNone/>
            </a:pPr>
            <a:r>
              <a:t># Destroy Terraform-provisioned Minikube</a:t>
            </a:r>
            <a:endParaRPr lang="en-US" sz="1400" dirty="0"/>
          </a:p>
          <a:p>
            <a:pPr marL="0" indent="0" algn="l">
              <a:lnSpc>
                <a:spcPct val="110000"/>
              </a:lnSpc>
              <a:buNone/>
            </a:pPr>
            <a:r>
              <a:rPr lang="en-US" sz="1400" dirty="0">
                <a:solidFill>
                  <a:srgbClr val="3E5A72"/>
                </a:solidFill>
                <a:latin typeface="Consolas" pitchFamily="34" charset="0"/>
                <a:ea typeface="Consolas" pitchFamily="34" charset="-122"/>
                <a:cs typeface="Consolas" pitchFamily="34" charset="-120"/>
              </a:rPr>
              <a:t># cluster &amp; all resources</a:t>
            </a:r>
            <a:endParaRPr lang="en-US" sz="1400" dirty="0"/>
          </a:p>
          <a:p>
            <a:pPr marL="0" indent="0" algn="l">
              <a:lnSpc>
                <a:spcPct val="110000"/>
              </a:lnSpc>
              <a:buNone/>
            </a:pPr>
            <a:r>
              <a:rPr lang="en-US" sz="1400" dirty="0">
                <a:solidFill>
                  <a:srgbClr val="3E5A72"/>
                </a:solidFill>
                <a:latin typeface="Consolas" pitchFamily="34" charset="0"/>
                <a:ea typeface="Consolas" pitchFamily="34" charset="-122"/>
                <a:cs typeface="Consolas" pitchFamily="34" charset="-120"/>
              </a:rPr>
              <a:t>cd terraform</a:t>
            </a:r>
            <a:endParaRPr lang="en-US" sz="1400" dirty="0"/>
          </a:p>
          <a:p>
            <a:pPr marL="0" indent="0" algn="l">
              <a:lnSpc>
                <a:spcPct val="110000"/>
              </a:lnSpc>
              <a:buNone/>
            </a:pPr>
            <a:r>
              <a:rPr lang="en-US" sz="1400" dirty="0">
                <a:solidFill>
                  <a:srgbClr val="3E5A72"/>
                </a:solidFill>
                <a:latin typeface="Consolas" pitchFamily="34" charset="0"/>
                <a:ea typeface="Consolas" pitchFamily="34" charset="-122"/>
                <a:cs typeface="Consolas" pitchFamily="34" charset="-120"/>
              </a:rPr>
              <a:t>terraform destroy -auto-approve</a:t>
            </a:r>
            <a:endParaRPr lang="en-US" sz="1400" dirty="0"/>
          </a:p>
          <a:p>
            <a:pPr marL="0" indent="0" algn="l">
              <a:lnSpc>
                <a:spcPct val="110000"/>
              </a:lnSpc>
              <a:buNone/>
            </a:pPr>
            <a:r>
              <a:rPr lang="en-US" sz="1400" dirty="0">
                <a:solidFill>
                  <a:srgbClr val="3E5A72"/>
                </a:solidFill>
                <a:latin typeface="Consolas" pitchFamily="34" charset="0"/>
                <a:ea typeface="Consolas" pitchFamily="34" charset="-122"/>
                <a:cs typeface="Consolas" pitchFamily="34" charset="-120"/>
              </a:rPr>
              <a:t>cd ..</a:t>
            </a:r>
            <a:endParaRPr lang="en-US" sz="1400" dirty="0"/>
          </a:p>
        </p:txBody>
      </p:sp>
      <p:sp>
        <p:nvSpPr>
          <p:cNvPr id="14" name="Text 11"/>
          <p:cNvSpPr txBox="1"/>
          <p:nvPr/>
        </p:nvSpPr>
        <p:spPr>
          <a:xfrm>
            <a:off x="11002975" y="6400800"/>
            <a:ext cx="914400" cy="274320"/>
          </a:xfrm>
          <a:prstGeom prst="rect">
            <a:avLst/>
          </a:prstGeom>
          <a:noFill/>
          <a:ln/>
        </p:spPr>
        <p:txBody>
          <a:bodyPr wrap="square" lIns="0" tIns="0" rIns="0" bIns="0" rtlCol="0" anchor="ctr"/>
          <a:lstStyle/>
          <a:p>
            <a:pPr marL="0" indent="0" algn="r">
              <a:buNone/>
            </a:pPr>
            <a:r>
              <a:rPr lang="en-US" sz="1000" dirty="0">
                <a:solidFill>
                  <a:srgbClr val="6B5643"/>
                </a:solidFill>
                <a:latin typeface="Calibri" pitchFamily="34" charset="0"/>
                <a:ea typeface="Calibri" pitchFamily="34" charset="-122"/>
                <a:cs typeface="Calibri" pitchFamily="34" charset="-120"/>
              </a:rPr>
              <a:t>12 / 13</a:t>
            </a:r>
            <a:endParaRPr lang="en-US" sz="1000" dirty="0"/>
          </a:p>
        </p:txBody>
      </p:sp>
      <p:sp>
        <p:nvSpPr>
          <p:cNvPr id="15" name="Text 12"/>
          <p:cNvSpPr txBox="1"/>
          <p:nvPr/>
        </p:nvSpPr>
        <p:spPr>
          <a:xfrm>
            <a:off x="457200" y="6400800"/>
            <a:ext cx="5486400" cy="274320"/>
          </a:xfrm>
          <a:prstGeom prst="rect">
            <a:avLst/>
          </a:prstGeom>
          <a:noFill/>
          <a:ln/>
        </p:spPr>
        <p:txBody>
          <a:bodyPr wrap="square" lIns="0" tIns="0" rIns="0" bIns="0" rtlCol="0" anchor="ctr"/>
          <a:lstStyle/>
          <a:p>
            <a:pPr marL="0" indent="0" algn="l">
              <a:buNone/>
            </a:pPr>
            <a:r>
              <a:rPr lang="en-US" sz="1000" kern="0" spc="100" dirty="0">
                <a:solidFill>
                  <a:srgbClr val="6B5643"/>
                </a:solidFill>
                <a:latin typeface="Calibri" pitchFamily="34" charset="0"/>
                <a:ea typeface="Calibri" pitchFamily="34" charset="-122"/>
                <a:cs typeface="Calibri" pitchFamily="34" charset="-120"/>
              </a:rPr>
              <a:t>SUDOKU WEB APP · CI/CD PIPELINE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E3EAEE">
              <a:alpha val="45000"/>
            </a:srgbClr>
          </a:solidFill>
          <a:ln/>
        </p:spPr>
        <p:txBody>
          <a:bodyPr/>
          <a:p/>
        </p:txBody>
      </p:sp>
      <p:sp>
        <p:nvSpPr>
          <p:cNvPr id="3" name="Shape 1"/>
          <p:cNvSpPr/>
          <p:nvPr/>
        </p:nvSpPr>
        <p:spPr>
          <a:xfrm>
            <a:off x="548640" y="502920"/>
            <a:ext cx="2377440" cy="329184"/>
          </a:xfrm>
          <a:prstGeom prst="roundRect">
            <a:avLst>
              <a:gd name="adj" fmla="val 50000"/>
            </a:avLst>
          </a:prstGeom>
          <a:solidFill>
            <a:srgbClr val="3E5A72">
              <a:alpha val="40000"/>
            </a:srgbClr>
          </a:solidFill>
          <a:ln/>
        </p:spPr>
        <p:txBody>
          <a:bodyPr/>
          <a:p/>
        </p:txBody>
      </p:sp>
      <p:sp>
        <p:nvSpPr>
          <p:cNvPr id="4" name="Text 2"/>
          <p:cNvSpPr txBox="1"/>
          <p:nvPr/>
        </p:nvSpPr>
        <p:spPr>
          <a:xfrm>
            <a:off x="548640" y="502920"/>
            <a:ext cx="2377440" cy="329184"/>
          </a:xfrm>
          <a:prstGeom prst="rect">
            <a:avLst/>
          </a:prstGeom>
          <a:noFill/>
          <a:ln/>
        </p:spPr>
        <p:txBody>
          <a:bodyPr wrap="square" lIns="0" tIns="0" rIns="0" bIns="0" rtlCol="0" anchor="ctr"/>
          <a:lstStyle/>
          <a:p>
            <a:pPr marL="0" indent="0" algn="ctr">
              <a:buNone/>
            </a:pPr>
            <a:r>
              <a:rPr lang="en-US" sz="1100" b="1" kern="0" spc="120" dirty="0">
                <a:solidFill>
                  <a:srgbClr val="5B7C99"/>
                </a:solidFill>
                <a:latin typeface="Calibri" pitchFamily="34" charset="0"/>
                <a:ea typeface="Calibri" pitchFamily="34" charset="-122"/>
                <a:cs typeface="Calibri" pitchFamily="34" charset="-120"/>
              </a:rPr>
              <a:t>SUMMARY</a:t>
            </a:r>
            <a:endParaRPr lang="en-US" sz="1100" dirty="0"/>
          </a:p>
        </p:txBody>
      </p:sp>
      <p:sp>
        <p:nvSpPr>
          <p:cNvPr id="5" name="Text 3"/>
          <p:cNvSpPr txBox="1"/>
          <p:nvPr/>
        </p:nvSpPr>
        <p:spPr>
          <a:xfrm>
            <a:off x="548640" y="914400"/>
            <a:ext cx="9144000" cy="594360"/>
          </a:xfrm>
          <a:prstGeom prst="rect">
            <a:avLst/>
          </a:prstGeom>
          <a:noFill/>
          <a:ln/>
        </p:spPr>
        <p:txBody>
          <a:bodyPr wrap="square" lIns="0" tIns="0" rIns="0" bIns="0" rtlCol="0" anchor="ctr"/>
          <a:lstStyle/>
          <a:p>
            <a:pPr marL="0" indent="0">
              <a:buNone/>
            </a:pPr>
            <a:r>
              <a:rPr lang="en-US" sz="3200" b="1" dirty="0">
                <a:solidFill>
                  <a:srgbClr val="3D2B1F"/>
                </a:solidFill>
                <a:latin typeface="Calibri" pitchFamily="34" charset="0"/>
                <a:ea typeface="Calibri" pitchFamily="34" charset="-122"/>
                <a:cs typeface="Calibri" pitchFamily="34" charset="-120"/>
              </a:rPr>
              <a:t>Why This Architecture Excels</a:t>
            </a:r>
            <a:endParaRPr lang="en-US" sz="3200" dirty="0"/>
          </a:p>
        </p:txBody>
      </p:sp>
      <p:pic>
        <p:nvPicPr>
          <p:cNvPr id="6" name="Image 0" descr="ic_flag.png"/>
          <p:cNvPicPr>
            <a:picLocks noChangeAspect="1"/>
          </p:cNvPicPr>
          <p:nvPr/>
        </p:nvPicPr>
        <p:blipFill>
          <a:blip r:embed="rId3"/>
          <a:stretch>
            <a:fillRect/>
          </a:stretch>
        </p:blipFill>
        <p:spPr>
          <a:xfrm>
            <a:off x="10881360" y="685800"/>
            <a:ext cx="777240" cy="777240"/>
          </a:xfrm>
          <a:prstGeom prst="rect">
            <a:avLst/>
          </a:prstGeom>
        </p:spPr>
      </p:pic>
      <p:sp>
        <p:nvSpPr>
          <p:cNvPr id="7" name="Shape 4"/>
          <p:cNvSpPr/>
          <p:nvPr/>
        </p:nvSpPr>
        <p:spPr>
          <a:xfrm>
            <a:off x="548640" y="1965960"/>
            <a:ext cx="5349240" cy="1920240"/>
          </a:xfrm>
          <a:prstGeom prst="roundRect">
            <a:avLst>
              <a:gd name="adj" fmla="val 4762"/>
            </a:avLst>
          </a:prstGeom>
          <a:solidFill>
            <a:srgbClr val="EDE2CC"/>
          </a:solidFill>
          <a:ln w="12700">
            <a:solidFill>
              <a:srgbClr val="EDE2CC"/>
            </a:solidFill>
            <a:prstDash val="solid"/>
          </a:ln>
        </p:spPr>
        <p:txBody>
          <a:bodyPr/>
          <a:p/>
        </p:txBody>
      </p:sp>
      <p:sp>
        <p:nvSpPr>
          <p:cNvPr id="8" name="Text 5"/>
          <p:cNvSpPr txBox="1"/>
          <p:nvPr/>
        </p:nvSpPr>
        <p:spPr>
          <a:xfrm>
            <a:off x="822960" y="2148840"/>
            <a:ext cx="1097280" cy="822960"/>
          </a:xfrm>
          <a:prstGeom prst="rect">
            <a:avLst/>
          </a:prstGeom>
          <a:noFill/>
          <a:ln/>
        </p:spPr>
        <p:txBody>
          <a:bodyPr wrap="square" lIns="0" tIns="0" rIns="0" bIns="0" rtlCol="0" anchor="ctr"/>
          <a:lstStyle/>
          <a:p>
            <a:pPr marL="0" indent="0">
              <a:buNone/>
            </a:pPr>
            <a:r>
              <a:rPr lang="en-US" sz="3400" b="1" dirty="0">
                <a:solidFill>
                  <a:srgbClr val="3E5A72"/>
                </a:solidFill>
                <a:latin typeface="Calibri" pitchFamily="34" charset="0"/>
                <a:ea typeface="Calibri" pitchFamily="34" charset="-122"/>
                <a:cs typeface="Calibri" pitchFamily="34" charset="-120"/>
              </a:rPr>
              <a:t>01</a:t>
            </a:r>
            <a:endParaRPr lang="en-US" sz="3400" dirty="0"/>
          </a:p>
        </p:txBody>
      </p:sp>
      <p:sp>
        <p:nvSpPr>
          <p:cNvPr id="9" name="Text 6"/>
          <p:cNvSpPr txBox="1"/>
          <p:nvPr/>
        </p:nvSpPr>
        <p:spPr>
          <a:xfrm>
            <a:off x="1920240" y="2194560"/>
            <a:ext cx="3703320" cy="457200"/>
          </a:xfrm>
          <a:prstGeom prst="rect">
            <a:avLst/>
          </a:prstGeom>
          <a:noFill/>
          <a:ln/>
        </p:spPr>
        <p:txBody>
          <a:bodyPr wrap="square" lIns="0" tIns="0" rIns="0" bIns="0" rtlCol="0" anchor="ctr"/>
          <a:lstStyle/>
          <a:p>
            <a:pPr marL="0" indent="0">
              <a:buNone/>
            </a:pPr>
            <a:r>
              <a:rPr lang="en-US" sz="1600" b="1" dirty="0">
                <a:solidFill>
                  <a:srgbClr val="5B7C99"/>
                </a:solidFill>
                <a:latin typeface="Calibri" pitchFamily="34" charset="0"/>
                <a:ea typeface="Calibri" pitchFamily="34" charset="-122"/>
                <a:cs typeface="Calibri" pitchFamily="34" charset="-120"/>
              </a:rPr>
              <a:t>Infrastructure as Code</a:t>
            </a:r>
            <a:endParaRPr lang="en-US" sz="1600" dirty="0"/>
          </a:p>
        </p:txBody>
      </p:sp>
      <p:sp>
        <p:nvSpPr>
          <p:cNvPr id="10" name="Text 7"/>
          <p:cNvSpPr txBox="1"/>
          <p:nvPr/>
        </p:nvSpPr>
        <p:spPr>
          <a:xfrm>
            <a:off x="1920240" y="2679192"/>
            <a:ext cx="3703320" cy="1051560"/>
          </a:xfrm>
          <a:prstGeom prst="rect">
            <a:avLst/>
          </a:prstGeom>
          <a:noFill/>
          <a:ln/>
        </p:spPr>
        <p:txBody>
          <a:bodyPr wrap="square" lIns="0" tIns="0" rIns="0" bIns="0" rtlCol="0" anchor="ctr"/>
          <a:lstStyle/>
          <a:p>
            <a:pPr marL="0" indent="0">
              <a:lnSpc>
                <a:spcPct val="120000"/>
              </a:lnSpc>
              <a:buNone/>
            </a:pPr>
            <a:r>
              <a:rPr lang="en-US" sz="1250" dirty="0">
                <a:solidFill>
                  <a:srgbClr val="6B5643"/>
                </a:solidFill>
                <a:latin typeface="Calibri" pitchFamily="34" charset="0"/>
                <a:ea typeface="Calibri" pitchFamily="34" charset="-122"/>
                <a:cs typeface="Calibri" pitchFamily="34" charset="-120"/>
              </a:rPr>
              <a:t>Rapid, reproducible cluster setup via Terraform — the same cluster, every time.</a:t>
            </a:r>
            <a:endParaRPr lang="en-US" sz="1250" dirty="0"/>
          </a:p>
        </p:txBody>
      </p:sp>
      <p:sp>
        <p:nvSpPr>
          <p:cNvPr id="11" name="Shape 8"/>
          <p:cNvSpPr/>
          <p:nvPr/>
        </p:nvSpPr>
        <p:spPr>
          <a:xfrm>
            <a:off x="6263640" y="1965960"/>
            <a:ext cx="5349240" cy="1920240"/>
          </a:xfrm>
          <a:prstGeom prst="roundRect">
            <a:avLst>
              <a:gd name="adj" fmla="val 4762"/>
            </a:avLst>
          </a:prstGeom>
          <a:solidFill>
            <a:srgbClr val="EDE2CC"/>
          </a:solidFill>
          <a:ln w="12700">
            <a:solidFill>
              <a:srgbClr val="EDE2CC"/>
            </a:solidFill>
            <a:prstDash val="solid"/>
          </a:ln>
        </p:spPr>
        <p:txBody>
          <a:bodyPr/>
          <a:p/>
        </p:txBody>
      </p:sp>
      <p:sp>
        <p:nvSpPr>
          <p:cNvPr id="12" name="Text 9"/>
          <p:cNvSpPr txBox="1"/>
          <p:nvPr/>
        </p:nvSpPr>
        <p:spPr>
          <a:xfrm>
            <a:off x="6537960" y="2148840"/>
            <a:ext cx="1097280" cy="822960"/>
          </a:xfrm>
          <a:prstGeom prst="rect">
            <a:avLst/>
          </a:prstGeom>
          <a:noFill/>
          <a:ln/>
        </p:spPr>
        <p:txBody>
          <a:bodyPr wrap="square" lIns="0" tIns="0" rIns="0" bIns="0" rtlCol="0" anchor="ctr"/>
          <a:lstStyle/>
          <a:p>
            <a:pPr marL="0" indent="0">
              <a:buNone/>
            </a:pPr>
            <a:r>
              <a:rPr lang="en-US" sz="3400" b="1" dirty="0">
                <a:solidFill>
                  <a:srgbClr val="3E5A72"/>
                </a:solidFill>
                <a:latin typeface="Calibri" pitchFamily="34" charset="0"/>
                <a:ea typeface="Calibri" pitchFamily="34" charset="-122"/>
                <a:cs typeface="Calibri" pitchFamily="34" charset="-120"/>
              </a:rPr>
              <a:t>02</a:t>
            </a:r>
            <a:endParaRPr lang="en-US" sz="3400" dirty="0"/>
          </a:p>
        </p:txBody>
      </p:sp>
      <p:sp>
        <p:nvSpPr>
          <p:cNvPr id="13" name="Text 10"/>
          <p:cNvSpPr txBox="1"/>
          <p:nvPr/>
        </p:nvSpPr>
        <p:spPr>
          <a:xfrm>
            <a:off x="7635240" y="2194560"/>
            <a:ext cx="3703320" cy="457200"/>
          </a:xfrm>
          <a:prstGeom prst="rect">
            <a:avLst/>
          </a:prstGeom>
          <a:noFill/>
          <a:ln/>
        </p:spPr>
        <p:txBody>
          <a:bodyPr wrap="square" lIns="0" tIns="0" rIns="0" bIns="0" rtlCol="0" anchor="ctr"/>
          <a:lstStyle/>
          <a:p>
            <a:pPr marL="0" indent="0">
              <a:buNone/>
            </a:pPr>
            <a:r>
              <a:rPr lang="en-US" sz="1600" b="1" dirty="0">
                <a:solidFill>
                  <a:srgbClr val="5B7C99"/>
                </a:solidFill>
                <a:latin typeface="Calibri" pitchFamily="34" charset="0"/>
                <a:ea typeface="Calibri" pitchFamily="34" charset="-122"/>
                <a:cs typeface="Calibri" pitchFamily="34" charset="-120"/>
              </a:rPr>
              <a:t>Decoupled Configuration</a:t>
            </a:r>
            <a:endParaRPr lang="en-US" sz="1600" dirty="0"/>
          </a:p>
        </p:txBody>
      </p:sp>
      <p:sp>
        <p:nvSpPr>
          <p:cNvPr id="14" name="Text 11"/>
          <p:cNvSpPr txBox="1"/>
          <p:nvPr/>
        </p:nvSpPr>
        <p:spPr>
          <a:xfrm>
            <a:off x="7635240" y="2679192"/>
            <a:ext cx="3703320" cy="1051560"/>
          </a:xfrm>
          <a:prstGeom prst="rect">
            <a:avLst/>
          </a:prstGeom>
          <a:noFill/>
          <a:ln/>
        </p:spPr>
        <p:txBody>
          <a:bodyPr wrap="square" lIns="0" tIns="0" rIns="0" bIns="0" rtlCol="0" anchor="ctr"/>
          <a:lstStyle/>
          <a:p>
            <a:pPr marL="0" indent="0">
              <a:lnSpc>
                <a:spcPct val="120000"/>
              </a:lnSpc>
              <a:buNone/>
            </a:pPr>
            <a:r>
              <a:rPr lang="en-US" sz="1250" dirty="0">
                <a:solidFill>
                  <a:srgbClr val="6B5643"/>
                </a:solidFill>
                <a:latin typeface="Calibri" pitchFamily="34" charset="0"/>
                <a:ea typeface="Calibri" pitchFamily="34" charset="-122"/>
                <a:cs typeface="Calibri" pitchFamily="34" charset="-120"/>
              </a:rPr>
              <a:t>Ansible handles environment settings independently from application container builds.</a:t>
            </a:r>
            <a:endParaRPr lang="en-US" sz="1250" dirty="0"/>
          </a:p>
        </p:txBody>
      </p:sp>
      <p:sp>
        <p:nvSpPr>
          <p:cNvPr id="15" name="Shape 12"/>
          <p:cNvSpPr/>
          <p:nvPr/>
        </p:nvSpPr>
        <p:spPr>
          <a:xfrm>
            <a:off x="548640" y="4206240"/>
            <a:ext cx="5349240" cy="1920240"/>
          </a:xfrm>
          <a:prstGeom prst="roundRect">
            <a:avLst>
              <a:gd name="adj" fmla="val 4762"/>
            </a:avLst>
          </a:prstGeom>
          <a:solidFill>
            <a:srgbClr val="EDE2CC"/>
          </a:solidFill>
          <a:ln w="12700">
            <a:solidFill>
              <a:srgbClr val="EDE2CC"/>
            </a:solidFill>
            <a:prstDash val="solid"/>
          </a:ln>
        </p:spPr>
        <p:txBody>
          <a:bodyPr/>
          <a:p/>
        </p:txBody>
      </p:sp>
      <p:sp>
        <p:nvSpPr>
          <p:cNvPr id="16" name="Text 13"/>
          <p:cNvSpPr txBox="1"/>
          <p:nvPr/>
        </p:nvSpPr>
        <p:spPr>
          <a:xfrm>
            <a:off x="822960" y="4389120"/>
            <a:ext cx="1097280" cy="822960"/>
          </a:xfrm>
          <a:prstGeom prst="rect">
            <a:avLst/>
          </a:prstGeom>
          <a:noFill/>
          <a:ln/>
        </p:spPr>
        <p:txBody>
          <a:bodyPr wrap="square" lIns="0" tIns="0" rIns="0" bIns="0" rtlCol="0" anchor="ctr"/>
          <a:lstStyle/>
          <a:p>
            <a:pPr marL="0" indent="0">
              <a:buNone/>
            </a:pPr>
            <a:r>
              <a:rPr lang="en-US" sz="3400" b="1" dirty="0">
                <a:solidFill>
                  <a:srgbClr val="3E5A72"/>
                </a:solidFill>
                <a:latin typeface="Calibri" pitchFamily="34" charset="0"/>
                <a:ea typeface="Calibri" pitchFamily="34" charset="-122"/>
                <a:cs typeface="Calibri" pitchFamily="34" charset="-120"/>
              </a:rPr>
              <a:t>03</a:t>
            </a:r>
            <a:endParaRPr lang="en-US" sz="3400" dirty="0"/>
          </a:p>
        </p:txBody>
      </p:sp>
      <p:sp>
        <p:nvSpPr>
          <p:cNvPr id="17" name="Text 14"/>
          <p:cNvSpPr txBox="1"/>
          <p:nvPr/>
        </p:nvSpPr>
        <p:spPr>
          <a:xfrm>
            <a:off x="1920240" y="4434840"/>
            <a:ext cx="3703320" cy="457200"/>
          </a:xfrm>
          <a:prstGeom prst="rect">
            <a:avLst/>
          </a:prstGeom>
          <a:noFill/>
          <a:ln/>
        </p:spPr>
        <p:txBody>
          <a:bodyPr wrap="square" lIns="0" tIns="0" rIns="0" bIns="0" rtlCol="0" anchor="ctr"/>
          <a:lstStyle/>
          <a:p>
            <a:pPr marL="0" indent="0">
              <a:buNone/>
            </a:pPr>
            <a:r>
              <a:rPr lang="en-US" sz="1600" b="1" dirty="0">
                <a:solidFill>
                  <a:srgbClr val="5B7C99"/>
                </a:solidFill>
                <a:latin typeface="Calibri" pitchFamily="34" charset="0"/>
                <a:ea typeface="Calibri" pitchFamily="34" charset="-122"/>
                <a:cs typeface="Calibri" pitchFamily="34" charset="-120"/>
              </a:rPr>
              <a:t>Automated CI/CD</a:t>
            </a:r>
            <a:endParaRPr lang="en-US" sz="1600" dirty="0"/>
          </a:p>
        </p:txBody>
      </p:sp>
      <p:sp>
        <p:nvSpPr>
          <p:cNvPr id="18" name="Text 15"/>
          <p:cNvSpPr txBox="1"/>
          <p:nvPr/>
        </p:nvSpPr>
        <p:spPr>
          <a:xfrm>
            <a:off x="1920240" y="4919472"/>
            <a:ext cx="3703320" cy="1051560"/>
          </a:xfrm>
          <a:prstGeom prst="rect">
            <a:avLst/>
          </a:prstGeom>
          <a:noFill/>
          <a:ln/>
        </p:spPr>
        <p:txBody>
          <a:bodyPr wrap="square" lIns="0" tIns="0" rIns="0" bIns="0" rtlCol="0" anchor="ctr"/>
          <a:lstStyle/>
          <a:p>
            <a:pPr marL="0" indent="0">
              <a:lnSpc>
                <a:spcPct val="120000"/>
              </a:lnSpc>
              <a:buNone/>
            </a:pPr>
            <a:r>
              <a:rPr lang="en-US" sz="1250" dirty="0">
                <a:solidFill>
                  <a:srgbClr val="6B5643"/>
                </a:solidFill>
                <a:latin typeface="Calibri" pitchFamily="34" charset="0"/>
                <a:ea typeface="Calibri" pitchFamily="34" charset="-122"/>
                <a:cs typeface="Calibri" pitchFamily="34" charset="-120"/>
              </a:rPr>
              <a:t>1-click deployment using the Jenkins pipeline, from git push to live application.</a:t>
            </a:r>
            <a:endParaRPr lang="en-US" sz="1250" dirty="0"/>
          </a:p>
        </p:txBody>
      </p:sp>
      <p:sp>
        <p:nvSpPr>
          <p:cNvPr id="19" name="Shape 16"/>
          <p:cNvSpPr/>
          <p:nvPr/>
        </p:nvSpPr>
        <p:spPr>
          <a:xfrm>
            <a:off x="6263640" y="4206240"/>
            <a:ext cx="5349240" cy="1920240"/>
          </a:xfrm>
          <a:prstGeom prst="roundRect">
            <a:avLst>
              <a:gd name="adj" fmla="val 4762"/>
            </a:avLst>
          </a:prstGeom>
          <a:solidFill>
            <a:srgbClr val="EDE2CC"/>
          </a:solidFill>
          <a:ln w="12700">
            <a:solidFill>
              <a:srgbClr val="EDE2CC"/>
            </a:solidFill>
            <a:prstDash val="solid"/>
          </a:ln>
        </p:spPr>
        <p:txBody>
          <a:bodyPr/>
          <a:p/>
        </p:txBody>
      </p:sp>
      <p:sp>
        <p:nvSpPr>
          <p:cNvPr id="20" name="Text 17"/>
          <p:cNvSpPr txBox="1"/>
          <p:nvPr/>
        </p:nvSpPr>
        <p:spPr>
          <a:xfrm>
            <a:off x="6537960" y="4389120"/>
            <a:ext cx="1097280" cy="822960"/>
          </a:xfrm>
          <a:prstGeom prst="rect">
            <a:avLst/>
          </a:prstGeom>
          <a:noFill/>
          <a:ln/>
        </p:spPr>
        <p:txBody>
          <a:bodyPr wrap="square" lIns="0" tIns="0" rIns="0" bIns="0" rtlCol="0" anchor="ctr"/>
          <a:lstStyle/>
          <a:p>
            <a:pPr marL="0" indent="0">
              <a:buNone/>
            </a:pPr>
            <a:r>
              <a:rPr lang="en-US" sz="3400" b="1" dirty="0">
                <a:solidFill>
                  <a:srgbClr val="3E5A72"/>
                </a:solidFill>
                <a:latin typeface="Calibri" pitchFamily="34" charset="0"/>
                <a:ea typeface="Calibri" pitchFamily="34" charset="-122"/>
                <a:cs typeface="Calibri" pitchFamily="34" charset="-120"/>
              </a:rPr>
              <a:t>04</a:t>
            </a:r>
            <a:endParaRPr lang="en-US" sz="3400" dirty="0"/>
          </a:p>
        </p:txBody>
      </p:sp>
      <p:sp>
        <p:nvSpPr>
          <p:cNvPr id="21" name="Text 18"/>
          <p:cNvSpPr txBox="1"/>
          <p:nvPr/>
        </p:nvSpPr>
        <p:spPr>
          <a:xfrm>
            <a:off x="7635240" y="4434840"/>
            <a:ext cx="3703320" cy="457200"/>
          </a:xfrm>
          <a:prstGeom prst="rect">
            <a:avLst/>
          </a:prstGeom>
          <a:noFill/>
          <a:ln/>
        </p:spPr>
        <p:txBody>
          <a:bodyPr wrap="square" lIns="0" tIns="0" rIns="0" bIns="0" rtlCol="0" anchor="ctr"/>
          <a:lstStyle/>
          <a:p>
            <a:pPr marL="0" indent="0">
              <a:buNone/>
            </a:pPr>
            <a:r>
              <a:rPr lang="en-US" sz="1600" b="1" dirty="0">
                <a:solidFill>
                  <a:srgbClr val="5B7C99"/>
                </a:solidFill>
                <a:latin typeface="Calibri" pitchFamily="34" charset="0"/>
                <a:ea typeface="Calibri" pitchFamily="34" charset="-122"/>
                <a:cs typeface="Calibri" pitchFamily="34" charset="-120"/>
              </a:rPr>
              <a:t>Cloud-Native Standards</a:t>
            </a:r>
            <a:endParaRPr lang="en-US" sz="1600" dirty="0"/>
          </a:p>
        </p:txBody>
      </p:sp>
      <p:sp>
        <p:nvSpPr>
          <p:cNvPr id="22" name="Text 19"/>
          <p:cNvSpPr txBox="1"/>
          <p:nvPr/>
        </p:nvSpPr>
        <p:spPr>
          <a:xfrm>
            <a:off x="7635240" y="4919472"/>
            <a:ext cx="3703320" cy="1051560"/>
          </a:xfrm>
          <a:prstGeom prst="rect">
            <a:avLst/>
          </a:prstGeom>
          <a:noFill/>
          <a:ln/>
        </p:spPr>
        <p:txBody>
          <a:bodyPr wrap="square" lIns="0" tIns="0" rIns="0" bIns="0" rtlCol="0" anchor="ctr"/>
          <a:lstStyle/>
          <a:p>
            <a:pPr marL="0" indent="0">
              <a:lnSpc>
                <a:spcPct val="120000"/>
              </a:lnSpc>
              <a:buNone/>
            </a:pPr>
            <a:r>
              <a:rPr lang="en-US" sz="1250" dirty="0">
                <a:solidFill>
                  <a:srgbClr val="6B5643"/>
                </a:solidFill>
                <a:latin typeface="Calibri" pitchFamily="34" charset="0"/>
                <a:ea typeface="Calibri" pitchFamily="34" charset="-122"/>
                <a:cs typeface="Calibri" pitchFamily="34" charset="-120"/>
              </a:rPr>
              <a:t>Fully aligned with standard Kubernetes deployment practices and tooling.</a:t>
            </a:r>
            <a:endParaRPr lang="en-US" sz="1250" dirty="0"/>
          </a:p>
        </p:txBody>
      </p:sp>
      <p:sp>
        <p:nvSpPr>
          <p:cNvPr id="23" name="Text 20"/>
          <p:cNvSpPr txBox="1"/>
          <p:nvPr/>
        </p:nvSpPr>
        <p:spPr>
          <a:xfrm>
            <a:off x="11002975" y="6400800"/>
            <a:ext cx="914400" cy="274320"/>
          </a:xfrm>
          <a:prstGeom prst="rect">
            <a:avLst/>
          </a:prstGeom>
          <a:noFill/>
          <a:ln/>
        </p:spPr>
        <p:txBody>
          <a:bodyPr wrap="square" lIns="0" tIns="0" rIns="0" bIns="0" rtlCol="0" anchor="ctr"/>
          <a:lstStyle/>
          <a:p>
            <a:pPr marL="0" indent="0" algn="r">
              <a:buNone/>
            </a:pPr>
            <a:r>
              <a:rPr lang="en-US" sz="1000" dirty="0">
                <a:solidFill>
                  <a:srgbClr val="6B5643"/>
                </a:solidFill>
                <a:latin typeface="Calibri" pitchFamily="34" charset="0"/>
                <a:ea typeface="Calibri" pitchFamily="34" charset="-122"/>
                <a:cs typeface="Calibri" pitchFamily="34" charset="-120"/>
              </a:rPr>
              <a:t>13 / 13</a:t>
            </a:r>
            <a:endParaRPr lang="en-US" sz="1000" dirty="0"/>
          </a:p>
        </p:txBody>
      </p:sp>
      <p:sp>
        <p:nvSpPr>
          <p:cNvPr id="24" name="Text 21"/>
          <p:cNvSpPr txBox="1"/>
          <p:nvPr/>
        </p:nvSpPr>
        <p:spPr>
          <a:xfrm>
            <a:off x="457200" y="6400800"/>
            <a:ext cx="5486400" cy="274320"/>
          </a:xfrm>
          <a:prstGeom prst="rect">
            <a:avLst/>
          </a:prstGeom>
          <a:noFill/>
          <a:ln/>
        </p:spPr>
        <p:txBody>
          <a:bodyPr wrap="square" lIns="0" tIns="0" rIns="0" bIns="0" rtlCol="0" anchor="ctr"/>
          <a:lstStyle/>
          <a:p>
            <a:pPr marL="0" indent="0" algn="l">
              <a:buNone/>
            </a:pPr>
            <a:r>
              <a:rPr lang="en-US" sz="1000" kern="0" spc="100" dirty="0">
                <a:solidFill>
                  <a:srgbClr val="6B5643"/>
                </a:solidFill>
                <a:latin typeface="Calibri" pitchFamily="34" charset="0"/>
                <a:ea typeface="Calibri" pitchFamily="34" charset="-122"/>
                <a:cs typeface="Calibri" pitchFamily="34" charset="-120"/>
              </a:rPr>
              <a:t>SUDOKU WEB APP · CI/CD PIPELINE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2394</Words>
  <Application>Microsoft Office PowerPoint</Application>
  <PresentationFormat>Widescreen</PresentationFormat>
  <Paragraphs>347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Sakthi prani</cp:lastModifiedBy>
  <cp:revision>2</cp:revision>
  <dcterms:created xsi:type="dcterms:W3CDTF">2026-09-16T06:05:10Z</dcterms:created>
  <dcterms:modified xsi:type="dcterms:W3CDTF">2026-09-16T06:10:31Z</dcterms:modified>
</cp:coreProperties>
</file>